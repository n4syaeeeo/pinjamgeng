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 INTRODUCTION]
Assalamu'alaikum and a very pleasant morning/afternoon to the respected evaluation panel, examiners, and my supervisor, Madam Jihadah Binti Ahmad.
My name is Nursyafiqah Zulaikha Binti Zilkamal, student ID AM2412018113 from the Diploma in Computer Science program (CC101), Faculty of Computing and Multimedia, Universiti Poly-Tech Malaysia.
Today, I am proud to present my Final Year Project entitled "PinjamGeng: Smart Event Equipment Booking and Inventory Management System".
This system is fully completed and actively deployed live on the cloud. It was conceived to eliminate the longstanding logistical bottlenecks faced by campus event organizers and administrative officers at UPTM through automated conflict detection, bundled packages, and digitized damage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 AGENDA]
To provide a clear roadmap of this presentation, I have structured my talk into 8 key segments:
We will first explore the operational problem background at UPTM, followed by our formal project objectives and scope.
Next, I will present the empirical survey findings from 30 campus respondents that validated our project requirements, followed by our Agile development methodology.
In the technical segment, I will walk you through the system architecture, UML use cases, activity flowcharts, and 3NF database schema.
We will then examine the three core innovations of PinjamGeng—namely our conflict detection engine, event package bundling, and return damage accountability engine.
Finally, we will proceed to the live cloud system demonstration, followed by our testing verification, UAT evaluation results,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3: PROBLEM STATEMENT]
To understand why PinjamGeng was built, we must examine the four persistent problems currently faced by UPTM.
First, the booking process relies on manual paper forms and physical logbooks. A student organizer must walk to the facilities office, fill out a paper chit, and wait 2 to 3 days for approvals. Forms frequently get misplaced.
Second is the severe issue of double booking. Because there is no centralized live calendar, two clubs can be promised the same PA system on the same Saturday morning. The collision is only discovered when both turn up at the store.
Third, static paperwork cannot reflect live inventory. Broken or previously booked items remain listed as available, giving false hope to students.
Fourth, and most critically for the university administration: lack of return accountability. Equipment is returned in cardboard boxes without systematic inspection. If a cable is severed or a microphone capsule dented, there is no digital trail to establish who caused the damage or recover repair costs. The university ends up absorbing preventable expenses.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4: SURVEY FINDINGS]
Rather than relying on anecdotal assumptions, our requirements were grounded in an empirical study. We administered a pre-development questionnaire to 30 active student leaders, club executive committees, and event coordinators at UPTM.
The survey revealed striking results:
90% of respondents reported experiencing significant delays with manual paperwork, where forms take days to process and are prone to being lost.
86.7% reported facing double-booking conflicts or finding that equipment promised to them was missing or malfunctioning.
Furthermore, 93.3% expressed urgent demand for an online 24/7 web-based booking portal.
Finally, 96.7% agreed that an automated damage inspection system and digital receipts are vital to ensure fair accountability.
This empirical evidence provided a solid foundation to formulate our four project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5: OBJECTIVES]
To resolve the identified challenges, this project formulated four SMART objectives:
Objective 1 was to design and develop a responsive web-based booking portal. This allows students to check catalog availability and book equipment 24/7 without having to visit the counter.
Objective 2 was to implement an intelligent booking engine with automated conflict detection. This mathematically eliminates double booking by evaluating date ranges, and introduces 1-click Event Package Bundling.
Objective 3 was to build a comprehensive return inspection and damage accountability engine. When equipment is returned, administrators can record condition grades, compute repair fines, and issue digital return slips.
Objective 4 was to validate system usability and reliability through formal User Acceptance Testing (UAT) with 30 campus users.
I am pleased to report that all four objectives have been 100% achieved in the completed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6: PROJECT SCOPE]
Looking at the project scope, PinjamGeng establishes strict separation of concerns between two distinct user personas:
For the Student Persona: Students can register, browse equipment with high-resolution imagery and live stock counts, book individual items or 1-click event packages, receive instant conflict notifications, monitor their booking lifecycle, and download receipts.
For the Admin Persona: Staff at HEP or facilities offices access a real-time analytics dashboard. They can perform full CRUD operations on inventory and packages, approve or reject applications in one click, and execute return check-in inspections where damages can be recorded and penalties computed.
The system is fully responsive, operating seamlessly across desktop monitors, iPads, and mobile smartphones.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7: METHODOLOGY]
For our system development lifecycle, we adopted the Agile Scrum methodology. Agile was chosen over the traditional Waterfall model because it embraces iterative development, frequent testing, and fast integration of feedback.
Our development was divided into five distinct two-week sprints:
Sprint 1 focused on domain analysis, questionnaire evaluation, and 3NF database modeling.
Sprint 2 delivered core infrastructure: authentication, role-based session protection, and inventory CRUD.
Sprint 3 was the heart of the booking engine: building real-time date overlap calculations and package bundling.
Sprint 4 implemented post-event accountability: return inspection, damage grading, and automated fine calculation.
Sprint 5 culminated in cloud deployment to InfinityFree, cross-browser polish, and formal UAT evaluation.
Regular sprint reviews with my supervisor ensured the project remained strictly aligned with UPTM academic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8: USE CASE DIAGRAM]
This slide illustrates our system architecture through the UML Use Case Diagram (Figure 3.112 in our FYP Report).
The system models two primary actors interacting with the system boundary:
On the left is the Student Actor, who can authenticate, explore inventory, verify date availability, submit individual or packaged booking orders, and print booking slips.
On the right is the Administrator Actor, who has elevated administrative privileges. Admins manage the equipment registry, approve or decline pending bookings with customized remarks, oversee equipment handovers, inspect items upon return, and log damage assessments.
Notice that both actors interact with common modules such as authentication and profile management, but access is strictly enforced by server-side RBAC session middleware.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9: ACTIVITY FLOWCHARTS]
Here we examine the detailed operational flowcharts of the system.
On the left is the Student Reservation Journey:
A student logs in, navigates to the equipment or package catalog, selects their required items, specifies the start and return dates, and chooses the requested quantity.
At this instant, the system triggers the automated conflict-checking query. If the requested quantity exceeds available stock across that time window, the system halts submission and displays an informative warning. If valid, the booking is recorded with status 'Pending' and routed to the administrative queue.
On the right is the Admin Processing Workflow:
The officer views the pending request queue on the dashboard. Upon reviewing event details, they can approve or reject the request with one click.
When the event concludes, the student returns the equipment. The officer opens the Return Inspection drawer. If all items are returned intact, the booking is marked 'Returned' and stock restored. If damage is discovered, the officer logs the damage severity and description, which calculates the repair compensation and updates equipment status to 'Under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10: DATABASE ARCHITECTURE]
Moving into the data persistence layer, this slide displays the Entity Relationship Diagram normalized to Third Normal Form (3NF).
The database consists of 8 well-structured relational tables:
Users stores authentication and student credentials.
Categories and Equipment manage inventory specs, total stock counts, and maintenance conditions.
Packages and Package_items manage curated bundling using a clean many-to-many junction design.
Bookings and Booking_items store reservation timelines, current loan status, and itemized quantities.
And finally, Damage_reports links directly to bookings and equipment to log repair costs and liability.
By applying 3NF principles:
All repeating groups were decomposed into atomic records.
Partial dependencies were eliminated through composite keys in junction tables.
And transitive dependencies were completely decoupled.
This guarantees high data integrity, eliminates redundancy, and enables microsecond query performance on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11: CONFLICT DETECTION]
One of the headline innovations in PinjamGeng is our Automated Conflict Detection Engine.
In the old manual system, the storekeeper only looks at what is physically on the shelf right now. If Club A has booked a PA system for next Friday, and Club B walks in asking for the same PA system next Friday, the storekeeper often grants both because the gear is sitting on the shelf today. This creates disaster on event day.
In PinjamGeng, we implemented a mathematically watertight date overlap algorithm in SQL:
When a student selects a start date and an end date, the system queries all active bookings whose date range overlaps with the requested period.
It aggregates the sum of all previously committed quantities and calculates:
Available Stock = Total Stock minus Allocated Stock.
If the student asks for more than the remaining available stock, the system refuses the request before it can even be submitted, providing transparent feedback on how many units are available.
This simple yet robust algorithm guarantees a 100% elimination of double-booking incidents across UPTM.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12: PACKAGE BUNDLING]
Our second major innovation is the Event Package Bundling System.
In campus events, organizers rarely need just one piece of equipment. An organizer holding an AGM needs a PA console, microphones, speaker stands, cables, and an extension reel. In traditional systems, organizers have to submit multiple request chits and often forget critical accessories like power cables or clickers.
PinjamGeng solves this by introducing curated, 1-click Event Packages:
Examples include our "Basic PA Sound System Set", "Auditorium Seminar Set", and "Outdoor Sports Set".
Instead of clicking 8 times and calculating item quantities, the student selects the package, and the system verifies and reserves all constituent items atomically.
This feature reduces booking submission time from 15 minutes on paper to less than 60 seconds online—an 85% time-saving improvement that received universal praise during our 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13: DAMAGE TRACKING]
The third pillar of PinjamGeng is the Return Inspection and Damage Tracking Engine.
One of the biggest pain points reported by university administrators was untracked asset degradation. When equipment returned damaged, students would claim it was already broken, and without records, the university had to absorb the loss.
In PinjamGeng, we established a standardized 4-tier defect grading scale:
Tier 1: Minor cosmetic scuffs, charged at 10%.
Tier 2: Moderate damage like damaged cables or connectors, charged at 30%.
Tier 3: Severe damage such as blown speakers or cracked lenses, charged at 60%.
Tier 4: Total loss or unreturned items, charged at 100% replacement cost.
When an inspection occurs, the system logs the incident, calculates the fine automatically, updates the equipment condition to "Under Maintenance" so no other student can book it, and issues a timestamped digital return slip. This restores full accountability to campus asset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14: SYSTEM DEMONSTRATION]
Now, respected panel, we transition to our live system demonstration.
Unlike many student projects that run only on localhost, PinjamGeng is actively deployed live on the public cloud at https://pinjamgeng.infinityfreeapp.com.
Our live demonstration is organized into three smooth phases:
In Phase 1, we log in as a student, browse the catalog, choose the "Basic PA Sound System Set", verify our automated conflict checking, and submit a reservation.
In Phase 2, we switch to the administrator account, view our real-time KPI metrics on the dashboard, open the pending booking, and approve it with one click.
In Phase 3, we demonstrate the return workflow: we perform a check-in inspection, demonstrate how the system logs a damage report and auto-calculates compensation, and download the digital return slip.
Allow me to demonstrate this live on the screen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15: TECH STACK &amp; SECURITY]
Behind the user interface lies a robust, production-grade technical architecture.
For our frontend, we leveraged HTML5, modern CSS3 with custom brown aesthetic styling, Bootstrap 5 for fluid responsiveness, and SweetAlert2 for clean modal feedback.
Our backend is powered by PHP 8.2, utilizing clean modular separation of concerns.
Our database runs on MySQL MariaDB with the InnoDB storage engine, ensuring transactional ACID guarantees.
Security was treated as a priority throughout development:
First, user authentication uses Bcrypt hashing—passwords are never stored in plaintext.
Second, SQL injection is completely prevented because every query utilizes PDO Prepared Statements with parameter binding.
Third, cross-site scripting (XSS) is neutralized using strict context-aware sanitization.
And finally, role-based session middleware ensures students cannot bypass permissions or access administrative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16: TESTING &amp; QA]
To guarantee software reliability, PinjamGeng was subjected to a comprehensive four-tier testing strategy.
Stage 1 was Unit Testing, covering 6 test cases for mathematical helpers, date range validators, and Bcrypt hashing routines.
Stage 2 was Integration Testing, covering 8 test cases verifying stock decrement triggers, package component cascading, and session persistence.
Stage 3 was System &amp; End-to-End Testing, executing 10 black-box walkthroughs of real campus booking scenarios.
Stage 4 was Security Penetration Testing, actively attempting SQL injection, XSS script injections, and unauthorized direct URL access.
All 28 formal test cases documented in Chapter 4 of our FYP report achieved a 100% pass rate with zero critical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17: UAT RESULTS]
Following development, we conducted a formal User Acceptance Testing (UAT) session with 30 real target users, including student society presidents, event planners, and campus facility staff.
The results decisively validated our work:
On Usability and UI Design, 96.7% expressed high satisfaction with the interface layout and warm brown branding.
On Functionality and Accuracy, 93.3% confirmed the system functioned seamlessly without errors.
On Operational Efficiency, 96.7% agreed the system dramatically reduces booking turnaround time.
And most importantly, 100% of all 30 evaluators affirmed they would recommend PinjamGeng for official university-wide rollout at UPTM.
These empirical metrics prove that PinjamGeng is not just an academic exercise, but a viable, high-impact enterprise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18: COMPARATIVE ANALYSIS]
Respected panel, this comparative matrix crystalizes the tangible impact of our project.
Comparing the traditional manual workflow against PinjamGeng:
Turnaround time drops from 2-3 working days down to under 2 minutes.
Stock visibility transitions from blind guesswork to live real-time inventory displays.
Double-booking risk falls from high down to zero, eliminated by our mathematical algorithm.
Equipment selection is simplified by curated 1-click event bundles.
Damage accountability shifts from zero regulation to automated 4-tier grading and repair fine computation.
Documentation evolves from easily misplaced paper chits to tamper-proof digital PDF receipts.
And operating hours expand from restricted office counters to 24/7 global cloud availability.
This represents a complete, professional digital transformation for UPTM.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19: LIMITATIONS &amp; FUTURE WORK]
In the spirit of academic rigor, we acknowledge our current system boundaries and outline our Phase 2 development roadmap.
Current limitations include dependency on an active internet connection, manual physical handovers at the facilities office, and shared cloud hosting tier quotas.
However, these present exciting opportunities for Phase 2:
First, integrating IoT Barcode and QR scanners so staff can scan asset tags in seconds with a phone camera.
Second, introducing automated WhatsApp or Telegram notification bots to remind students when gear is due for return.
Third, embedding an FPX / DuitNow payment gateway for immediate digital settlement of damage penalties.
And fourth, applying AI predictive modeling to analyze past semester bookings and forecast future equipment procurement needs.
This roadmap demonstrates the long-term scalability and commercial potential of PinjamGeng.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20: CONCLUSION &amp; Q&amp;A]
In conclusion, the PinjamGeng system has successfully fulfilled all four project objectives set out at the beginning of this semester.
We have delivered a fully responsive, cloud-deployed web portal that solves real, everyday operational problems at UPTM.
Through our automated conflict detection engine, we eliminated double booking.
Through our Event Package Bundling, we slashed reservation time by 85%.
Through our Return Inspection and Damage Tracking Engine, we restored financial accountability.
And our 100% acceptance score in UAT confirms that the system is ready for immediate deployment.
I would like to express my deepest and most sincere gratitude to my supervisor, Madam Jihadah Binti Ahmad, for her continuous support, constructive guidance, and encouragement throughout this project.
With that, I conclude my presentation. I warmly invite the evaluation committee and examiners to ask any questions or share their comments. Thank you very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8B5E3C"/>
          </a:solidFill>
          <a:ln w="12700">
            <a:solidFill>
              <a:srgbClr val="8B5E3C"/>
            </a:solidFill>
            <a:prstDash val="solid"/>
          </a:ln>
        </p:spPr>
      </p:sp>
      <p:pic>
        <p:nvPicPr>
          <p:cNvPr id="3" name="Image 0" descr="C:\Users\User\.gemini\antigravity\scratch\smart_event_equipment\documentation\images\uptm_logo.jpg">    </p:cNvPr>
          <p:cNvPicPr>
            <a:picLocks noChangeAspect="1"/>
          </p:cNvPicPr>
          <p:nvPr/>
        </p:nvPicPr>
        <p:blipFill>
          <a:blip r:embed="rId1"/>
          <a:srcRect l="0" r="0" t="0" b="0"/>
          <a:stretch/>
        </p:blipFill>
        <p:spPr>
          <a:xfrm>
            <a:off x="731520" y="457200"/>
            <a:ext cx="1463040" cy="1005840"/>
          </a:xfrm>
          <a:prstGeom prst="rect">
            <a:avLst/>
          </a:prstGeom>
        </p:spPr>
      </p:pic>
      <p:sp>
        <p:nvSpPr>
          <p:cNvPr id="4" name="Text 1"/>
          <p:cNvSpPr/>
          <p:nvPr/>
        </p:nvSpPr>
        <p:spPr>
          <a:xfrm>
            <a:off x="2377440" y="502920"/>
            <a:ext cx="8686800" cy="320040"/>
          </a:xfrm>
          <a:prstGeom prst="rect">
            <a:avLst/>
          </a:prstGeom>
          <a:noFill/>
          <a:ln/>
        </p:spPr>
        <p:txBody>
          <a:bodyPr wrap="square" rtlCol="0" anchor="ctr"/>
          <a:lstStyle/>
          <a:p>
            <a:pPr indent="0" marL="0">
              <a:buNone/>
            </a:pPr>
            <a:r>
              <a:rPr lang="en-US" sz="1300" b="1" dirty="0">
                <a:solidFill>
                  <a:srgbClr val="5C3D28"/>
                </a:solidFill>
                <a:latin typeface="Arial" pitchFamily="34" charset="0"/>
                <a:ea typeface="Arial" pitchFamily="34" charset="-122"/>
                <a:cs typeface="Arial" pitchFamily="34" charset="-120"/>
              </a:rPr>
              <a:t>UNIVERSITI POLY-TECH MALAYSIA (UPTM)</a:t>
            </a:r>
            <a:endParaRPr lang="en-US" sz="1300" dirty="0"/>
          </a:p>
        </p:txBody>
      </p:sp>
      <p:sp>
        <p:nvSpPr>
          <p:cNvPr id="5" name="Text 2"/>
          <p:cNvSpPr/>
          <p:nvPr/>
        </p:nvSpPr>
        <p:spPr>
          <a:xfrm>
            <a:off x="2377440" y="804672"/>
            <a:ext cx="8686800" cy="256032"/>
          </a:xfrm>
          <a:prstGeom prst="rect">
            <a:avLst/>
          </a:prstGeom>
          <a:noFill/>
          <a:ln/>
        </p:spPr>
        <p:txBody>
          <a:bodyPr wrap="square" rtlCol="0" anchor="ctr"/>
          <a:lstStyle/>
          <a:p>
            <a:pPr indent="0" marL="0">
              <a:buNone/>
            </a:pPr>
            <a:r>
              <a:rPr lang="en-US" sz="1000" b="1" dirty="0">
                <a:solidFill>
                  <a:srgbClr val="8B5E3C"/>
                </a:solidFill>
              </a:rPr>
              <a:t>FACULTY OF COMPUTING &amp; MULTIMEDIA (FCOM) | DIPLOMA IN COMPUTER SCIENCE (CC101)</a:t>
            </a:r>
            <a:endParaRPr lang="en-US" sz="1000" dirty="0"/>
          </a:p>
        </p:txBody>
      </p:sp>
      <p:sp>
        <p:nvSpPr>
          <p:cNvPr id="6" name="Text 3"/>
          <p:cNvSpPr/>
          <p:nvPr/>
        </p:nvSpPr>
        <p:spPr>
          <a:xfrm>
            <a:off x="2377440" y="1060704"/>
            <a:ext cx="8686800" cy="228600"/>
          </a:xfrm>
          <a:prstGeom prst="rect">
            <a:avLst/>
          </a:prstGeom>
          <a:noFill/>
          <a:ln/>
        </p:spPr>
        <p:txBody>
          <a:bodyPr wrap="square" rtlCol="0" anchor="ctr"/>
          <a:lstStyle/>
          <a:p>
            <a:pPr indent="0" marL="0">
              <a:buNone/>
            </a:pPr>
            <a:r>
              <a:rPr lang="en-US" sz="900" dirty="0">
                <a:solidFill>
                  <a:srgbClr val="6C757D"/>
                </a:solidFill>
              </a:rPr>
              <a:t>FINAL YEAR PROJECT PRESENTATION (FYP3024)</a:t>
            </a:r>
            <a:endParaRPr lang="en-US" sz="900" dirty="0"/>
          </a:p>
        </p:txBody>
      </p:sp>
      <p:sp>
        <p:nvSpPr>
          <p:cNvPr id="7" name="Shape 4"/>
          <p:cNvSpPr/>
          <p:nvPr/>
        </p:nvSpPr>
        <p:spPr>
          <a:xfrm>
            <a:off x="731520" y="1645920"/>
            <a:ext cx="10725912" cy="2926080"/>
          </a:xfrm>
          <a:prstGeom prst="roundRect">
            <a:avLst>
              <a:gd name="adj" fmla="val 4688"/>
            </a:avLst>
          </a:prstGeom>
          <a:solidFill>
            <a:srgbClr val="3D2B1F"/>
          </a:solidFill>
          <a:ln w="12700">
            <a:solidFill>
              <a:srgbClr val="3D2B1F"/>
            </a:solidFill>
            <a:prstDash val="solid"/>
          </a:ln>
        </p:spPr>
      </p:sp>
      <p:sp>
        <p:nvSpPr>
          <p:cNvPr id="8" name="Shape 5"/>
          <p:cNvSpPr/>
          <p:nvPr/>
        </p:nvSpPr>
        <p:spPr>
          <a:xfrm>
            <a:off x="1188720" y="1965960"/>
            <a:ext cx="3108960" cy="320040"/>
          </a:xfrm>
          <a:prstGeom prst="roundRect">
            <a:avLst>
              <a:gd name="adj" fmla="val 28571"/>
            </a:avLst>
          </a:prstGeom>
          <a:solidFill>
            <a:srgbClr val="8B5E3C"/>
          </a:solidFill>
          <a:ln w="12700">
            <a:solidFill>
              <a:srgbClr val="8B5E3C"/>
            </a:solidFill>
            <a:prstDash val="solid"/>
          </a:ln>
        </p:spPr>
      </p:sp>
      <p:sp>
        <p:nvSpPr>
          <p:cNvPr id="9" name="Text 6"/>
          <p:cNvSpPr/>
          <p:nvPr/>
        </p:nvSpPr>
        <p:spPr>
          <a:xfrm>
            <a:off x="1188720" y="1965960"/>
            <a:ext cx="3108960" cy="320040"/>
          </a:xfrm>
          <a:prstGeom prst="rect">
            <a:avLst/>
          </a:prstGeom>
          <a:noFill/>
          <a:ln/>
        </p:spPr>
        <p:txBody>
          <a:bodyPr wrap="square" rtlCol="0" anchor="ctr"/>
          <a:lstStyle/>
          <a:p>
            <a:pPr algn="ctr" indent="0" marL="0">
              <a:buNone/>
            </a:pPr>
            <a:r>
              <a:rPr lang="en-US" sz="900" b="1" dirty="0">
                <a:solidFill>
                  <a:srgbClr val="FFFFFF"/>
                </a:solidFill>
              </a:rPr>
              <a:t>CAMPUS EQUIPMENT MANAGEMENT SYSTEM</a:t>
            </a:r>
            <a:endParaRPr lang="en-US" sz="900" dirty="0"/>
          </a:p>
        </p:txBody>
      </p:sp>
      <p:sp>
        <p:nvSpPr>
          <p:cNvPr id="10" name="Text 7"/>
          <p:cNvSpPr/>
          <p:nvPr/>
        </p:nvSpPr>
        <p:spPr>
          <a:xfrm>
            <a:off x="1188720" y="2423160"/>
            <a:ext cx="9784080" cy="123444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PinjamGeng: Smart Event Equipment Booking</a:t>
            </a:r>
            <a:endParaRPr lang="en-US" sz="2700" dirty="0"/>
          </a:p>
          <a:p>
            <a:pPr indent="0" marL="0">
              <a:buNone/>
            </a:pPr>
            <a:r>
              <a:rPr lang="en-US" sz="2700" b="1" dirty="0">
                <a:solidFill>
                  <a:srgbClr val="FFFFFF"/>
                </a:solidFill>
                <a:latin typeface="Arial" pitchFamily="34" charset="0"/>
                <a:ea typeface="Arial" pitchFamily="34" charset="-122"/>
                <a:cs typeface="Arial" pitchFamily="34" charset="-120"/>
              </a:rPr>
              <a:t>&amp; Inventory Management System</a:t>
            </a:r>
            <a:endParaRPr lang="en-US" sz="2700" dirty="0"/>
          </a:p>
        </p:txBody>
      </p:sp>
      <p:sp>
        <p:nvSpPr>
          <p:cNvPr id="11" name="Text 8"/>
          <p:cNvSpPr/>
          <p:nvPr/>
        </p:nvSpPr>
        <p:spPr>
          <a:xfrm>
            <a:off x="1188720" y="3749040"/>
            <a:ext cx="9784080" cy="411480"/>
          </a:xfrm>
          <a:prstGeom prst="rect">
            <a:avLst/>
          </a:prstGeom>
          <a:noFill/>
          <a:ln/>
        </p:spPr>
        <p:txBody>
          <a:bodyPr wrap="square" rtlCol="0" anchor="ctr"/>
          <a:lstStyle/>
          <a:p>
            <a:pPr indent="0" marL="0">
              <a:buNone/>
            </a:pPr>
            <a:r>
              <a:rPr lang="en-US" sz="1200" dirty="0">
                <a:solidFill>
                  <a:srgbClr val="FAEDCD"/>
                </a:solidFill>
                <a:latin typeface="Calibri" pitchFamily="34" charset="0"/>
                <a:ea typeface="Calibri" pitchFamily="34" charset="-122"/>
                <a:cs typeface="Calibri" pitchFamily="34" charset="-120"/>
              </a:rPr>
              <a:t>A Responsive Web-Based Platform with Automated Conflict Detection, Bundled Event Packages &amp; Real-Time Accountability</a:t>
            </a:r>
            <a:endParaRPr lang="en-US" sz="1200" dirty="0"/>
          </a:p>
        </p:txBody>
      </p:sp>
      <p:sp>
        <p:nvSpPr>
          <p:cNvPr id="12" name="Shape 9"/>
          <p:cNvSpPr/>
          <p:nvPr/>
        </p:nvSpPr>
        <p:spPr>
          <a:xfrm>
            <a:off x="1188720" y="4114800"/>
            <a:ext cx="4206240" cy="292608"/>
          </a:xfrm>
          <a:prstGeom prst="roundRect">
            <a:avLst>
              <a:gd name="adj" fmla="val 25000"/>
            </a:avLst>
          </a:prstGeom>
          <a:solidFill>
            <a:srgbClr val="FFFFFF"/>
          </a:solidFill>
          <a:ln w="12700">
            <a:solidFill>
              <a:srgbClr val="FAEDCD"/>
            </a:solidFill>
            <a:prstDash val="solid"/>
          </a:ln>
        </p:spPr>
      </p:sp>
      <p:sp>
        <p:nvSpPr>
          <p:cNvPr id="13" name="Text 10"/>
          <p:cNvSpPr/>
          <p:nvPr/>
        </p:nvSpPr>
        <p:spPr>
          <a:xfrm>
            <a:off x="1188720" y="4114800"/>
            <a:ext cx="4206240" cy="292608"/>
          </a:xfrm>
          <a:prstGeom prst="rect">
            <a:avLst/>
          </a:prstGeom>
          <a:noFill/>
          <a:ln/>
        </p:spPr>
        <p:txBody>
          <a:bodyPr wrap="square" rtlCol="0" anchor="ctr"/>
          <a:lstStyle/>
          <a:p>
            <a:pPr algn="ctr" indent="0" marL="0">
              <a:buNone/>
            </a:pPr>
            <a:r>
              <a:rPr lang="en-US" sz="900" b="1" dirty="0">
                <a:solidFill>
                  <a:srgbClr val="8B5E3C"/>
                </a:solidFill>
              </a:rPr>
              <a:t>LIVE DEMO: https://pinjamgeng.infinityfreeapp.com</a:t>
            </a:r>
            <a:endParaRPr lang="en-US" sz="900" dirty="0"/>
          </a:p>
        </p:txBody>
      </p:sp>
      <p:sp>
        <p:nvSpPr>
          <p:cNvPr id="14" name="Shape 11"/>
          <p:cNvSpPr/>
          <p:nvPr/>
        </p:nvSpPr>
        <p:spPr>
          <a:xfrm>
            <a:off x="731520" y="4754880"/>
            <a:ext cx="5212080" cy="1417320"/>
          </a:xfrm>
          <a:prstGeom prst="roundRect">
            <a:avLst>
              <a:gd name="adj" fmla="val 7742"/>
            </a:avLst>
          </a:prstGeom>
          <a:solidFill>
            <a:srgbClr val="FFFFFF"/>
          </a:solidFill>
          <a:ln w="15240">
            <a:solidFill>
              <a:srgbClr val="E8DFD5"/>
            </a:solidFill>
            <a:prstDash val="solid"/>
          </a:ln>
        </p:spPr>
      </p:sp>
      <p:sp>
        <p:nvSpPr>
          <p:cNvPr id="15" name="Text 12"/>
          <p:cNvSpPr/>
          <p:nvPr/>
        </p:nvSpPr>
        <p:spPr>
          <a:xfrm>
            <a:off x="1005840" y="4892040"/>
            <a:ext cx="4663440" cy="228600"/>
          </a:xfrm>
          <a:prstGeom prst="rect">
            <a:avLst/>
          </a:prstGeom>
          <a:noFill/>
          <a:ln/>
        </p:spPr>
        <p:txBody>
          <a:bodyPr wrap="square" rtlCol="0" anchor="ctr"/>
          <a:lstStyle/>
          <a:p>
            <a:pPr indent="0" marL="0">
              <a:buNone/>
            </a:pPr>
            <a:r>
              <a:rPr lang="en-US" sz="850" b="1" dirty="0">
                <a:solidFill>
                  <a:srgbClr val="8B5E3C"/>
                </a:solidFill>
              </a:rPr>
              <a:t>PREPARED BY (CANDIDATE)</a:t>
            </a:r>
            <a:endParaRPr lang="en-US" sz="850" dirty="0"/>
          </a:p>
        </p:txBody>
      </p:sp>
      <p:sp>
        <p:nvSpPr>
          <p:cNvPr id="16" name="Text 13"/>
          <p:cNvSpPr/>
          <p:nvPr/>
        </p:nvSpPr>
        <p:spPr>
          <a:xfrm>
            <a:off x="1005840" y="5138928"/>
            <a:ext cx="4663440" cy="347472"/>
          </a:xfrm>
          <a:prstGeom prst="rect">
            <a:avLst/>
          </a:prstGeom>
          <a:noFill/>
          <a:ln/>
        </p:spPr>
        <p:txBody>
          <a:bodyPr wrap="square" rtlCol="0" anchor="ctr"/>
          <a:lstStyle/>
          <a:p>
            <a:pPr indent="0" marL="0">
              <a:buNone/>
            </a:pPr>
            <a:r>
              <a:rPr lang="en-US" sz="1400" b="1" dirty="0">
                <a:solidFill>
                  <a:srgbClr val="3D2B1F"/>
                </a:solidFill>
                <a:latin typeface="Arial" pitchFamily="34" charset="0"/>
                <a:ea typeface="Arial" pitchFamily="34" charset="-122"/>
                <a:cs typeface="Arial" pitchFamily="34" charset="-120"/>
              </a:rPr>
              <a:t>Nursyafiqah Zulaikha Binti Zilkamal</a:t>
            </a:r>
            <a:endParaRPr lang="en-US" sz="1400" dirty="0"/>
          </a:p>
        </p:txBody>
      </p:sp>
      <p:sp>
        <p:nvSpPr>
          <p:cNvPr id="17" name="Text 14"/>
          <p:cNvSpPr/>
          <p:nvPr/>
        </p:nvSpPr>
        <p:spPr>
          <a:xfrm>
            <a:off x="1005840" y="5504688"/>
            <a:ext cx="4663440" cy="502920"/>
          </a:xfrm>
          <a:prstGeom prst="rect">
            <a:avLst/>
          </a:prstGeom>
          <a:noFill/>
          <a:ln/>
        </p:spPr>
        <p:txBody>
          <a:bodyPr wrap="square" rtlCol="0" anchor="ctr"/>
          <a:lstStyle/>
          <a:p>
            <a:pPr indent="0" marL="0">
              <a:buNone/>
            </a:pPr>
            <a:r>
              <a:rPr lang="en-US" sz="1000" dirty="0">
                <a:solidFill>
                  <a:srgbClr val="2B2D42"/>
                </a:solidFill>
                <a:latin typeface="Calibri" pitchFamily="34" charset="0"/>
                <a:ea typeface="Calibri" pitchFamily="34" charset="-122"/>
                <a:cs typeface="Calibri" pitchFamily="34" charset="-120"/>
              </a:rPr>
              <a:t>Student ID: AM2412018113</a:t>
            </a:r>
            <a:endParaRPr lang="en-US" sz="1000" dirty="0"/>
          </a:p>
          <a:p>
            <a:pPr indent="0" marL="0">
              <a:buNone/>
            </a:pPr>
            <a:r>
              <a:rPr lang="en-US" sz="1000" dirty="0">
                <a:solidFill>
                  <a:srgbClr val="2B2D42"/>
                </a:solidFill>
                <a:latin typeface="Calibri" pitchFamily="34" charset="0"/>
                <a:ea typeface="Calibri" pitchFamily="34" charset="-122"/>
                <a:cs typeface="Calibri" pitchFamily="34" charset="-120"/>
              </a:rPr>
              <a:t>Diploma in Computer Science (CC101)</a:t>
            </a:r>
            <a:endParaRPr lang="en-US" sz="1000" dirty="0"/>
          </a:p>
        </p:txBody>
      </p:sp>
      <p:sp>
        <p:nvSpPr>
          <p:cNvPr id="18" name="Shape 15"/>
          <p:cNvSpPr/>
          <p:nvPr/>
        </p:nvSpPr>
        <p:spPr>
          <a:xfrm>
            <a:off x="6245352" y="4754880"/>
            <a:ext cx="5212080" cy="1417320"/>
          </a:xfrm>
          <a:prstGeom prst="roundRect">
            <a:avLst>
              <a:gd name="adj" fmla="val 7742"/>
            </a:avLst>
          </a:prstGeom>
          <a:solidFill>
            <a:srgbClr val="FFFFFF"/>
          </a:solidFill>
          <a:ln w="15240">
            <a:solidFill>
              <a:srgbClr val="E8DFD5"/>
            </a:solidFill>
            <a:prstDash val="solid"/>
          </a:ln>
        </p:spPr>
      </p:sp>
      <p:sp>
        <p:nvSpPr>
          <p:cNvPr id="19" name="Text 16"/>
          <p:cNvSpPr/>
          <p:nvPr/>
        </p:nvSpPr>
        <p:spPr>
          <a:xfrm>
            <a:off x="6519672" y="4892040"/>
            <a:ext cx="4663440" cy="228600"/>
          </a:xfrm>
          <a:prstGeom prst="rect">
            <a:avLst/>
          </a:prstGeom>
          <a:noFill/>
          <a:ln/>
        </p:spPr>
        <p:txBody>
          <a:bodyPr wrap="square" rtlCol="0" anchor="ctr"/>
          <a:lstStyle/>
          <a:p>
            <a:pPr indent="0" marL="0">
              <a:buNone/>
            </a:pPr>
            <a:r>
              <a:rPr lang="en-US" sz="850" b="1" dirty="0">
                <a:solidFill>
                  <a:srgbClr val="8B5E3C"/>
                </a:solidFill>
              </a:rPr>
              <a:t>PROJECT SUPERVISOR</a:t>
            </a:r>
            <a:endParaRPr lang="en-US" sz="850" dirty="0"/>
          </a:p>
        </p:txBody>
      </p:sp>
      <p:sp>
        <p:nvSpPr>
          <p:cNvPr id="20" name="Text 17"/>
          <p:cNvSpPr/>
          <p:nvPr/>
        </p:nvSpPr>
        <p:spPr>
          <a:xfrm>
            <a:off x="6519672" y="5138928"/>
            <a:ext cx="4663440" cy="347472"/>
          </a:xfrm>
          <a:prstGeom prst="rect">
            <a:avLst/>
          </a:prstGeom>
          <a:noFill/>
          <a:ln/>
        </p:spPr>
        <p:txBody>
          <a:bodyPr wrap="square" rtlCol="0" anchor="ctr"/>
          <a:lstStyle/>
          <a:p>
            <a:pPr indent="0" marL="0">
              <a:buNone/>
            </a:pPr>
            <a:r>
              <a:rPr lang="en-US" sz="1400" b="1" dirty="0">
                <a:solidFill>
                  <a:srgbClr val="3D2B1F"/>
                </a:solidFill>
                <a:latin typeface="Arial" pitchFamily="34" charset="0"/>
                <a:ea typeface="Arial" pitchFamily="34" charset="-122"/>
                <a:cs typeface="Arial" pitchFamily="34" charset="-120"/>
              </a:rPr>
              <a:t>Madam Jihadah Binti Ahmad</a:t>
            </a:r>
            <a:endParaRPr lang="en-US" sz="1400" dirty="0"/>
          </a:p>
        </p:txBody>
      </p:sp>
      <p:sp>
        <p:nvSpPr>
          <p:cNvPr id="21" name="Text 18"/>
          <p:cNvSpPr/>
          <p:nvPr/>
        </p:nvSpPr>
        <p:spPr>
          <a:xfrm>
            <a:off x="6519672" y="5504688"/>
            <a:ext cx="4663440" cy="502920"/>
          </a:xfrm>
          <a:prstGeom prst="rect">
            <a:avLst/>
          </a:prstGeom>
          <a:noFill/>
          <a:ln/>
        </p:spPr>
        <p:txBody>
          <a:bodyPr wrap="square" rtlCol="0" anchor="ctr"/>
          <a:lstStyle/>
          <a:p>
            <a:pPr indent="0" marL="0">
              <a:buNone/>
            </a:pPr>
            <a:r>
              <a:rPr lang="en-US" sz="1000" dirty="0">
                <a:solidFill>
                  <a:srgbClr val="2B2D42"/>
                </a:solidFill>
                <a:latin typeface="Calibri" pitchFamily="34" charset="0"/>
                <a:ea typeface="Calibri" pitchFamily="34" charset="-122"/>
                <a:cs typeface="Calibri" pitchFamily="34" charset="-120"/>
              </a:rPr>
              <a:t>Faculty of Computing &amp; Multimedia (FCOM)</a:t>
            </a:r>
            <a:endParaRPr lang="en-US" sz="1000" dirty="0"/>
          </a:p>
          <a:p>
            <a:pPr indent="0" marL="0">
              <a:buNone/>
            </a:pPr>
            <a:r>
              <a:rPr lang="en-US" sz="1000" dirty="0">
                <a:solidFill>
                  <a:srgbClr val="2B2D42"/>
                </a:solidFill>
                <a:latin typeface="Calibri" pitchFamily="34" charset="0"/>
                <a:ea typeface="Calibri" pitchFamily="34" charset="-122"/>
                <a:cs typeface="Calibri" pitchFamily="34" charset="-120"/>
              </a:rPr>
              <a:t>Universiti Poly-Tech Malaysia (UPTM)</a:t>
            </a:r>
            <a:endParaRPr lang="en-US" sz="1000" dirty="0"/>
          </a:p>
        </p:txBody>
      </p:sp>
      <p:sp>
        <p:nvSpPr>
          <p:cNvPr id="22" name="Shape 19"/>
          <p:cNvSpPr/>
          <p:nvPr/>
        </p:nvSpPr>
        <p:spPr>
          <a:xfrm>
            <a:off x="731520" y="6355080"/>
            <a:ext cx="10725912" cy="0"/>
          </a:xfrm>
          <a:prstGeom prst="line">
            <a:avLst/>
          </a:prstGeom>
          <a:noFill/>
          <a:ln w="12700">
            <a:solidFill>
              <a:srgbClr val="E8DFD5"/>
            </a:solidFill>
            <a:prstDash val="solid"/>
          </a:ln>
        </p:spPr>
      </p:sp>
      <p:sp>
        <p:nvSpPr>
          <p:cNvPr id="23" name="Text 20"/>
          <p:cNvSpPr/>
          <p:nvPr/>
        </p:nvSpPr>
        <p:spPr>
          <a:xfrm>
            <a:off x="731520" y="6419088"/>
            <a:ext cx="10725912" cy="274320"/>
          </a:xfrm>
          <a:prstGeom prst="rect">
            <a:avLst/>
          </a:prstGeom>
          <a:noFill/>
          <a:ln/>
        </p:spPr>
        <p:txBody>
          <a:bodyPr wrap="square" rtlCol="0" anchor="ctr"/>
          <a:lstStyle/>
          <a:p>
            <a:pPr algn="ctr" indent="0" marL="0">
              <a:buNone/>
            </a:pPr>
            <a:r>
              <a:rPr lang="en-US" sz="800" dirty="0">
                <a:solidFill>
                  <a:srgbClr val="6C757D"/>
                </a:solidFill>
              </a:rPr>
              <a:t>Session: 2026/2027 | Evaluated under Academic Course Code FYP3024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OVERVIEW</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Presentation Agenda &amp; Roadmap</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Structured breakdown of today's FYP evaluation presentation</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2 of 20 | Nursyafiqah Zulaikha</a:t>
            </a:r>
            <a:endParaRPr lang="en-US" sz="800" dirty="0"/>
          </a:p>
        </p:txBody>
      </p:sp>
      <p:sp>
        <p:nvSpPr>
          <p:cNvPr id="12" name="Shape 9"/>
          <p:cNvSpPr/>
          <p:nvPr/>
        </p:nvSpPr>
        <p:spPr>
          <a:xfrm>
            <a:off x="731520" y="1463040"/>
            <a:ext cx="5212080" cy="1005840"/>
          </a:xfrm>
          <a:prstGeom prst="roundRect">
            <a:avLst>
              <a:gd name="adj" fmla="val 9091"/>
            </a:avLst>
          </a:prstGeom>
          <a:solidFill>
            <a:srgbClr val="FFFFFF"/>
          </a:solidFill>
          <a:ln w="15240">
            <a:solidFill>
              <a:srgbClr val="E8DFD5"/>
            </a:solidFill>
            <a:prstDash val="solid"/>
          </a:ln>
        </p:spPr>
      </p:sp>
      <p:sp>
        <p:nvSpPr>
          <p:cNvPr id="13" name="Shape 10"/>
          <p:cNvSpPr/>
          <p:nvPr/>
        </p:nvSpPr>
        <p:spPr>
          <a:xfrm>
            <a:off x="914400" y="1645920"/>
            <a:ext cx="640080" cy="640080"/>
          </a:xfrm>
          <a:prstGeom prst="roundRect">
            <a:avLst>
              <a:gd name="adj" fmla="val 11429"/>
            </a:avLst>
          </a:prstGeom>
          <a:solidFill>
            <a:srgbClr val="3D2B1F"/>
          </a:solidFill>
          <a:ln w="12700">
            <a:solidFill>
              <a:srgbClr val="3D2B1F"/>
            </a:solidFill>
            <a:prstDash val="solid"/>
          </a:ln>
        </p:spPr>
      </p:sp>
      <p:sp>
        <p:nvSpPr>
          <p:cNvPr id="14" name="Text 11"/>
          <p:cNvSpPr/>
          <p:nvPr/>
        </p:nvSpPr>
        <p:spPr>
          <a:xfrm>
            <a:off x="914400" y="1645920"/>
            <a:ext cx="640080" cy="640080"/>
          </a:xfrm>
          <a:prstGeom prst="rect">
            <a:avLst/>
          </a:prstGeom>
          <a:noFill/>
          <a:ln/>
        </p:spPr>
        <p:txBody>
          <a:bodyPr wrap="square" rtlCol="0" anchor="ctr"/>
          <a:lstStyle/>
          <a:p>
            <a:pPr algn="ctr" indent="0" marL="0">
              <a:buNone/>
            </a:pPr>
            <a:r>
              <a:rPr lang="en-US" sz="1400" b="1" dirty="0">
                <a:solidFill>
                  <a:srgbClr val="FFFFFF"/>
                </a:solidFill>
              </a:rPr>
              <a:t>01</a:t>
            </a:r>
            <a:endParaRPr lang="en-US" sz="1400" dirty="0"/>
          </a:p>
        </p:txBody>
      </p:sp>
      <p:sp>
        <p:nvSpPr>
          <p:cNvPr id="15" name="Text 12"/>
          <p:cNvSpPr/>
          <p:nvPr/>
        </p:nvSpPr>
        <p:spPr>
          <a:xfrm>
            <a:off x="1691640" y="1627632"/>
            <a:ext cx="402336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Problem Background &amp; Motivation</a:t>
            </a:r>
            <a:endParaRPr lang="en-US" sz="1200" dirty="0"/>
          </a:p>
        </p:txBody>
      </p:sp>
      <p:sp>
        <p:nvSpPr>
          <p:cNvPr id="16" name="Text 13"/>
          <p:cNvSpPr/>
          <p:nvPr/>
        </p:nvSpPr>
        <p:spPr>
          <a:xfrm>
            <a:off x="1691640" y="1938528"/>
            <a:ext cx="4023360" cy="411480"/>
          </a:xfrm>
          <a:prstGeom prst="rect">
            <a:avLst/>
          </a:prstGeom>
          <a:noFill/>
          <a:ln/>
        </p:spPr>
        <p:txBody>
          <a:bodyPr wrap="square" rtlCol="0" anchor="ctr"/>
          <a:lstStyle/>
          <a:p>
            <a:pPr indent="0" marL="0">
              <a:buNone/>
            </a:pPr>
            <a:r>
              <a:rPr lang="en-US" sz="950" dirty="0">
                <a:solidFill>
                  <a:srgbClr val="2B2D42"/>
                </a:solidFill>
                <a:latin typeface="Calibri" pitchFamily="34" charset="0"/>
                <a:ea typeface="Calibri" pitchFamily="34" charset="-122"/>
                <a:cs typeface="Calibri" pitchFamily="34" charset="-120"/>
              </a:rPr>
              <a:t>Challenges of manual campus equipment booking and pain points.</a:t>
            </a:r>
            <a:endParaRPr lang="en-US" sz="950" dirty="0"/>
          </a:p>
        </p:txBody>
      </p:sp>
      <p:sp>
        <p:nvSpPr>
          <p:cNvPr id="17" name="Shape 14"/>
          <p:cNvSpPr/>
          <p:nvPr/>
        </p:nvSpPr>
        <p:spPr>
          <a:xfrm>
            <a:off x="731520" y="2606040"/>
            <a:ext cx="5212080" cy="1005840"/>
          </a:xfrm>
          <a:prstGeom prst="roundRect">
            <a:avLst>
              <a:gd name="adj" fmla="val 9091"/>
            </a:avLst>
          </a:prstGeom>
          <a:solidFill>
            <a:srgbClr val="FFFFFF"/>
          </a:solidFill>
          <a:ln w="15240">
            <a:solidFill>
              <a:srgbClr val="E8DFD5"/>
            </a:solidFill>
            <a:prstDash val="solid"/>
          </a:ln>
        </p:spPr>
      </p:sp>
      <p:sp>
        <p:nvSpPr>
          <p:cNvPr id="18" name="Shape 15"/>
          <p:cNvSpPr/>
          <p:nvPr/>
        </p:nvSpPr>
        <p:spPr>
          <a:xfrm>
            <a:off x="914400" y="2788920"/>
            <a:ext cx="640080" cy="640080"/>
          </a:xfrm>
          <a:prstGeom prst="roundRect">
            <a:avLst>
              <a:gd name="adj" fmla="val 11429"/>
            </a:avLst>
          </a:prstGeom>
          <a:solidFill>
            <a:srgbClr val="3D2B1F"/>
          </a:solidFill>
          <a:ln w="12700">
            <a:solidFill>
              <a:srgbClr val="3D2B1F"/>
            </a:solidFill>
            <a:prstDash val="solid"/>
          </a:ln>
        </p:spPr>
      </p:sp>
      <p:sp>
        <p:nvSpPr>
          <p:cNvPr id="19" name="Text 16"/>
          <p:cNvSpPr/>
          <p:nvPr/>
        </p:nvSpPr>
        <p:spPr>
          <a:xfrm>
            <a:off x="914400" y="2788920"/>
            <a:ext cx="640080" cy="640080"/>
          </a:xfrm>
          <a:prstGeom prst="rect">
            <a:avLst/>
          </a:prstGeom>
          <a:noFill/>
          <a:ln/>
        </p:spPr>
        <p:txBody>
          <a:bodyPr wrap="square" rtlCol="0" anchor="ctr"/>
          <a:lstStyle/>
          <a:p>
            <a:pPr algn="ctr" indent="0" marL="0">
              <a:buNone/>
            </a:pPr>
            <a:r>
              <a:rPr lang="en-US" sz="1400" b="1" dirty="0">
                <a:solidFill>
                  <a:srgbClr val="FFFFFF"/>
                </a:solidFill>
              </a:rPr>
              <a:t>02</a:t>
            </a:r>
            <a:endParaRPr lang="en-US" sz="1400" dirty="0"/>
          </a:p>
        </p:txBody>
      </p:sp>
      <p:sp>
        <p:nvSpPr>
          <p:cNvPr id="20" name="Text 17"/>
          <p:cNvSpPr/>
          <p:nvPr/>
        </p:nvSpPr>
        <p:spPr>
          <a:xfrm>
            <a:off x="1691640" y="2770632"/>
            <a:ext cx="402336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Project Objectives &amp; Scope</a:t>
            </a:r>
            <a:endParaRPr lang="en-US" sz="1200" dirty="0"/>
          </a:p>
        </p:txBody>
      </p:sp>
      <p:sp>
        <p:nvSpPr>
          <p:cNvPr id="21" name="Text 18"/>
          <p:cNvSpPr/>
          <p:nvPr/>
        </p:nvSpPr>
        <p:spPr>
          <a:xfrm>
            <a:off x="1691640" y="3081528"/>
            <a:ext cx="4023360" cy="411480"/>
          </a:xfrm>
          <a:prstGeom prst="rect">
            <a:avLst/>
          </a:prstGeom>
          <a:noFill/>
          <a:ln/>
        </p:spPr>
        <p:txBody>
          <a:bodyPr wrap="square" rtlCol="0" anchor="ctr"/>
          <a:lstStyle/>
          <a:p>
            <a:pPr indent="0" marL="0">
              <a:buNone/>
            </a:pPr>
            <a:r>
              <a:rPr lang="en-US" sz="950" dirty="0">
                <a:solidFill>
                  <a:srgbClr val="2B2D42"/>
                </a:solidFill>
                <a:latin typeface="Calibri" pitchFamily="34" charset="0"/>
                <a:ea typeface="Calibri" pitchFamily="34" charset="-122"/>
                <a:cs typeface="Calibri" pitchFamily="34" charset="-120"/>
              </a:rPr>
              <a:t>Core goals, user personas (Student vs Admin), and boundaries.</a:t>
            </a:r>
            <a:endParaRPr lang="en-US" sz="950" dirty="0"/>
          </a:p>
        </p:txBody>
      </p:sp>
      <p:sp>
        <p:nvSpPr>
          <p:cNvPr id="22" name="Shape 19"/>
          <p:cNvSpPr/>
          <p:nvPr/>
        </p:nvSpPr>
        <p:spPr>
          <a:xfrm>
            <a:off x="731520" y="3749040"/>
            <a:ext cx="5212080" cy="1005840"/>
          </a:xfrm>
          <a:prstGeom prst="roundRect">
            <a:avLst>
              <a:gd name="adj" fmla="val 9091"/>
            </a:avLst>
          </a:prstGeom>
          <a:solidFill>
            <a:srgbClr val="FFFFFF"/>
          </a:solidFill>
          <a:ln w="15240">
            <a:solidFill>
              <a:srgbClr val="E8DFD5"/>
            </a:solidFill>
            <a:prstDash val="solid"/>
          </a:ln>
        </p:spPr>
      </p:sp>
      <p:sp>
        <p:nvSpPr>
          <p:cNvPr id="23" name="Shape 20"/>
          <p:cNvSpPr/>
          <p:nvPr/>
        </p:nvSpPr>
        <p:spPr>
          <a:xfrm>
            <a:off x="914400" y="3931920"/>
            <a:ext cx="640080" cy="640080"/>
          </a:xfrm>
          <a:prstGeom prst="roundRect">
            <a:avLst>
              <a:gd name="adj" fmla="val 11429"/>
            </a:avLst>
          </a:prstGeom>
          <a:solidFill>
            <a:srgbClr val="3D2B1F"/>
          </a:solidFill>
          <a:ln w="12700">
            <a:solidFill>
              <a:srgbClr val="3D2B1F"/>
            </a:solidFill>
            <a:prstDash val="solid"/>
          </a:ln>
        </p:spPr>
      </p:sp>
      <p:sp>
        <p:nvSpPr>
          <p:cNvPr id="24" name="Text 21"/>
          <p:cNvSpPr/>
          <p:nvPr/>
        </p:nvSpPr>
        <p:spPr>
          <a:xfrm>
            <a:off x="914400" y="3931920"/>
            <a:ext cx="640080" cy="640080"/>
          </a:xfrm>
          <a:prstGeom prst="rect">
            <a:avLst/>
          </a:prstGeom>
          <a:noFill/>
          <a:ln/>
        </p:spPr>
        <p:txBody>
          <a:bodyPr wrap="square" rtlCol="0" anchor="ctr"/>
          <a:lstStyle/>
          <a:p>
            <a:pPr algn="ctr" indent="0" marL="0">
              <a:buNone/>
            </a:pPr>
            <a:r>
              <a:rPr lang="en-US" sz="1400" b="1" dirty="0">
                <a:solidFill>
                  <a:srgbClr val="FFFFFF"/>
                </a:solidFill>
              </a:rPr>
              <a:t>03</a:t>
            </a:r>
            <a:endParaRPr lang="en-US" sz="1400" dirty="0"/>
          </a:p>
        </p:txBody>
      </p:sp>
      <p:sp>
        <p:nvSpPr>
          <p:cNvPr id="25" name="Text 22"/>
          <p:cNvSpPr/>
          <p:nvPr/>
        </p:nvSpPr>
        <p:spPr>
          <a:xfrm>
            <a:off x="1691640" y="3913632"/>
            <a:ext cx="402336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Requirements Survey Findings</a:t>
            </a:r>
            <a:endParaRPr lang="en-US" sz="1200" dirty="0"/>
          </a:p>
        </p:txBody>
      </p:sp>
      <p:sp>
        <p:nvSpPr>
          <p:cNvPr id="26" name="Text 23"/>
          <p:cNvSpPr/>
          <p:nvPr/>
        </p:nvSpPr>
        <p:spPr>
          <a:xfrm>
            <a:off x="1691640" y="4224528"/>
            <a:ext cx="4023360" cy="411480"/>
          </a:xfrm>
          <a:prstGeom prst="rect">
            <a:avLst/>
          </a:prstGeom>
          <a:noFill/>
          <a:ln/>
        </p:spPr>
        <p:txBody>
          <a:bodyPr wrap="square" rtlCol="0" anchor="ctr"/>
          <a:lstStyle/>
          <a:p>
            <a:pPr indent="0" marL="0">
              <a:buNone/>
            </a:pPr>
            <a:r>
              <a:rPr lang="en-US" sz="950" dirty="0">
                <a:solidFill>
                  <a:srgbClr val="2B2D42"/>
                </a:solidFill>
                <a:latin typeface="Calibri" pitchFamily="34" charset="0"/>
                <a:ea typeface="Calibri" pitchFamily="34" charset="-122"/>
                <a:cs typeface="Calibri" pitchFamily="34" charset="-120"/>
              </a:rPr>
              <a:t>Quantitative justification based on 30 UPTM respondents.</a:t>
            </a:r>
            <a:endParaRPr lang="en-US" sz="950" dirty="0"/>
          </a:p>
        </p:txBody>
      </p:sp>
      <p:sp>
        <p:nvSpPr>
          <p:cNvPr id="27" name="Shape 24"/>
          <p:cNvSpPr/>
          <p:nvPr/>
        </p:nvSpPr>
        <p:spPr>
          <a:xfrm>
            <a:off x="731520" y="4892040"/>
            <a:ext cx="5212080" cy="1005840"/>
          </a:xfrm>
          <a:prstGeom prst="roundRect">
            <a:avLst>
              <a:gd name="adj" fmla="val 9091"/>
            </a:avLst>
          </a:prstGeom>
          <a:solidFill>
            <a:srgbClr val="FFFFFF"/>
          </a:solidFill>
          <a:ln w="15240">
            <a:solidFill>
              <a:srgbClr val="E8DFD5"/>
            </a:solidFill>
            <a:prstDash val="solid"/>
          </a:ln>
        </p:spPr>
      </p:sp>
      <p:sp>
        <p:nvSpPr>
          <p:cNvPr id="28" name="Shape 25"/>
          <p:cNvSpPr/>
          <p:nvPr/>
        </p:nvSpPr>
        <p:spPr>
          <a:xfrm>
            <a:off x="914400" y="5074920"/>
            <a:ext cx="640080" cy="640080"/>
          </a:xfrm>
          <a:prstGeom prst="roundRect">
            <a:avLst>
              <a:gd name="adj" fmla="val 11429"/>
            </a:avLst>
          </a:prstGeom>
          <a:solidFill>
            <a:srgbClr val="3D2B1F"/>
          </a:solidFill>
          <a:ln w="12700">
            <a:solidFill>
              <a:srgbClr val="3D2B1F"/>
            </a:solidFill>
            <a:prstDash val="solid"/>
          </a:ln>
        </p:spPr>
      </p:sp>
      <p:sp>
        <p:nvSpPr>
          <p:cNvPr id="29" name="Text 26"/>
          <p:cNvSpPr/>
          <p:nvPr/>
        </p:nvSpPr>
        <p:spPr>
          <a:xfrm>
            <a:off x="914400" y="5074920"/>
            <a:ext cx="640080" cy="640080"/>
          </a:xfrm>
          <a:prstGeom prst="rect">
            <a:avLst/>
          </a:prstGeom>
          <a:noFill/>
          <a:ln/>
        </p:spPr>
        <p:txBody>
          <a:bodyPr wrap="square" rtlCol="0" anchor="ctr"/>
          <a:lstStyle/>
          <a:p>
            <a:pPr algn="ctr" indent="0" marL="0">
              <a:buNone/>
            </a:pPr>
            <a:r>
              <a:rPr lang="en-US" sz="1400" b="1" dirty="0">
                <a:solidFill>
                  <a:srgbClr val="FFFFFF"/>
                </a:solidFill>
              </a:rPr>
              <a:t>04</a:t>
            </a:r>
            <a:endParaRPr lang="en-US" sz="1400" dirty="0"/>
          </a:p>
        </p:txBody>
      </p:sp>
      <p:sp>
        <p:nvSpPr>
          <p:cNvPr id="30" name="Text 27"/>
          <p:cNvSpPr/>
          <p:nvPr/>
        </p:nvSpPr>
        <p:spPr>
          <a:xfrm>
            <a:off x="1691640" y="5056632"/>
            <a:ext cx="402336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Development Methodology</a:t>
            </a:r>
            <a:endParaRPr lang="en-US" sz="1200" dirty="0"/>
          </a:p>
        </p:txBody>
      </p:sp>
      <p:sp>
        <p:nvSpPr>
          <p:cNvPr id="31" name="Text 28"/>
          <p:cNvSpPr/>
          <p:nvPr/>
        </p:nvSpPr>
        <p:spPr>
          <a:xfrm>
            <a:off x="1691640" y="5367528"/>
            <a:ext cx="4023360" cy="411480"/>
          </a:xfrm>
          <a:prstGeom prst="rect">
            <a:avLst/>
          </a:prstGeom>
          <a:noFill/>
          <a:ln/>
        </p:spPr>
        <p:txBody>
          <a:bodyPr wrap="square" rtlCol="0" anchor="ctr"/>
          <a:lstStyle/>
          <a:p>
            <a:pPr indent="0" marL="0">
              <a:buNone/>
            </a:pPr>
            <a:r>
              <a:rPr lang="en-US" sz="950" dirty="0">
                <a:solidFill>
                  <a:srgbClr val="2B2D42"/>
                </a:solidFill>
                <a:latin typeface="Calibri" pitchFamily="34" charset="0"/>
                <a:ea typeface="Calibri" pitchFamily="34" charset="-122"/>
                <a:cs typeface="Calibri" pitchFamily="34" charset="-120"/>
              </a:rPr>
              <a:t>Agile framework and 5-sprint incremental delivery cycle.</a:t>
            </a:r>
            <a:endParaRPr lang="en-US" sz="950" dirty="0"/>
          </a:p>
        </p:txBody>
      </p:sp>
      <p:sp>
        <p:nvSpPr>
          <p:cNvPr id="32" name="Shape 29"/>
          <p:cNvSpPr/>
          <p:nvPr/>
        </p:nvSpPr>
        <p:spPr>
          <a:xfrm>
            <a:off x="6245352" y="1463040"/>
            <a:ext cx="5212080" cy="1005840"/>
          </a:xfrm>
          <a:prstGeom prst="roundRect">
            <a:avLst>
              <a:gd name="adj" fmla="val 9091"/>
            </a:avLst>
          </a:prstGeom>
          <a:solidFill>
            <a:srgbClr val="FFFFFF"/>
          </a:solidFill>
          <a:ln w="15240">
            <a:solidFill>
              <a:srgbClr val="E8DFD5"/>
            </a:solidFill>
            <a:prstDash val="solid"/>
          </a:ln>
        </p:spPr>
      </p:sp>
      <p:sp>
        <p:nvSpPr>
          <p:cNvPr id="33" name="Shape 30"/>
          <p:cNvSpPr/>
          <p:nvPr/>
        </p:nvSpPr>
        <p:spPr>
          <a:xfrm>
            <a:off x="6428232" y="1645920"/>
            <a:ext cx="640080" cy="640080"/>
          </a:xfrm>
          <a:prstGeom prst="roundRect">
            <a:avLst>
              <a:gd name="adj" fmla="val 11429"/>
            </a:avLst>
          </a:prstGeom>
          <a:solidFill>
            <a:srgbClr val="3D2B1F"/>
          </a:solidFill>
          <a:ln w="12700">
            <a:solidFill>
              <a:srgbClr val="3D2B1F"/>
            </a:solidFill>
            <a:prstDash val="solid"/>
          </a:ln>
        </p:spPr>
      </p:sp>
      <p:sp>
        <p:nvSpPr>
          <p:cNvPr id="34" name="Text 31"/>
          <p:cNvSpPr/>
          <p:nvPr/>
        </p:nvSpPr>
        <p:spPr>
          <a:xfrm>
            <a:off x="6428232" y="1645920"/>
            <a:ext cx="640080" cy="640080"/>
          </a:xfrm>
          <a:prstGeom prst="rect">
            <a:avLst/>
          </a:prstGeom>
          <a:noFill/>
          <a:ln/>
        </p:spPr>
        <p:txBody>
          <a:bodyPr wrap="square" rtlCol="0" anchor="ctr"/>
          <a:lstStyle/>
          <a:p>
            <a:pPr algn="ctr" indent="0" marL="0">
              <a:buNone/>
            </a:pPr>
            <a:r>
              <a:rPr lang="en-US" sz="1400" b="1" dirty="0">
                <a:solidFill>
                  <a:srgbClr val="FFFFFF"/>
                </a:solidFill>
              </a:rPr>
              <a:t>05</a:t>
            </a:r>
            <a:endParaRPr lang="en-US" sz="1400" dirty="0"/>
          </a:p>
        </p:txBody>
      </p:sp>
      <p:sp>
        <p:nvSpPr>
          <p:cNvPr id="35" name="Text 32"/>
          <p:cNvSpPr/>
          <p:nvPr/>
        </p:nvSpPr>
        <p:spPr>
          <a:xfrm>
            <a:off x="7205472" y="1627632"/>
            <a:ext cx="402336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System Architecture &amp; Database</a:t>
            </a:r>
            <a:endParaRPr lang="en-US" sz="1200" dirty="0"/>
          </a:p>
        </p:txBody>
      </p:sp>
      <p:sp>
        <p:nvSpPr>
          <p:cNvPr id="36" name="Text 33"/>
          <p:cNvSpPr/>
          <p:nvPr/>
        </p:nvSpPr>
        <p:spPr>
          <a:xfrm>
            <a:off x="7205472" y="1938528"/>
            <a:ext cx="4023360" cy="411480"/>
          </a:xfrm>
          <a:prstGeom prst="rect">
            <a:avLst/>
          </a:prstGeom>
          <a:noFill/>
          <a:ln/>
        </p:spPr>
        <p:txBody>
          <a:bodyPr wrap="square" rtlCol="0" anchor="ctr"/>
          <a:lstStyle/>
          <a:p>
            <a:pPr indent="0" marL="0">
              <a:buNone/>
            </a:pPr>
            <a:r>
              <a:rPr lang="en-US" sz="950" dirty="0">
                <a:solidFill>
                  <a:srgbClr val="2B2D42"/>
                </a:solidFill>
                <a:latin typeface="Calibri" pitchFamily="34" charset="0"/>
                <a:ea typeface="Calibri" pitchFamily="34" charset="-122"/>
                <a:cs typeface="Calibri" pitchFamily="34" charset="-120"/>
              </a:rPr>
              <a:t>UML Use Case, process flowcharts, and 3NF Relational ERD.</a:t>
            </a:r>
            <a:endParaRPr lang="en-US" sz="950" dirty="0"/>
          </a:p>
        </p:txBody>
      </p:sp>
      <p:sp>
        <p:nvSpPr>
          <p:cNvPr id="37" name="Shape 34"/>
          <p:cNvSpPr/>
          <p:nvPr/>
        </p:nvSpPr>
        <p:spPr>
          <a:xfrm>
            <a:off x="6245352" y="2606040"/>
            <a:ext cx="5212080" cy="1005840"/>
          </a:xfrm>
          <a:prstGeom prst="roundRect">
            <a:avLst>
              <a:gd name="adj" fmla="val 9091"/>
            </a:avLst>
          </a:prstGeom>
          <a:solidFill>
            <a:srgbClr val="FFFFFF"/>
          </a:solidFill>
          <a:ln w="15240">
            <a:solidFill>
              <a:srgbClr val="E8DFD5"/>
            </a:solidFill>
            <a:prstDash val="solid"/>
          </a:ln>
        </p:spPr>
      </p:sp>
      <p:sp>
        <p:nvSpPr>
          <p:cNvPr id="38" name="Shape 35"/>
          <p:cNvSpPr/>
          <p:nvPr/>
        </p:nvSpPr>
        <p:spPr>
          <a:xfrm>
            <a:off x="6428232" y="2788920"/>
            <a:ext cx="640080" cy="640080"/>
          </a:xfrm>
          <a:prstGeom prst="roundRect">
            <a:avLst>
              <a:gd name="adj" fmla="val 11429"/>
            </a:avLst>
          </a:prstGeom>
          <a:solidFill>
            <a:srgbClr val="3D2B1F"/>
          </a:solidFill>
          <a:ln w="12700">
            <a:solidFill>
              <a:srgbClr val="3D2B1F"/>
            </a:solidFill>
            <a:prstDash val="solid"/>
          </a:ln>
        </p:spPr>
      </p:sp>
      <p:sp>
        <p:nvSpPr>
          <p:cNvPr id="39" name="Text 36"/>
          <p:cNvSpPr/>
          <p:nvPr/>
        </p:nvSpPr>
        <p:spPr>
          <a:xfrm>
            <a:off x="6428232" y="2788920"/>
            <a:ext cx="640080" cy="640080"/>
          </a:xfrm>
          <a:prstGeom prst="rect">
            <a:avLst/>
          </a:prstGeom>
          <a:noFill/>
          <a:ln/>
        </p:spPr>
        <p:txBody>
          <a:bodyPr wrap="square" rtlCol="0" anchor="ctr"/>
          <a:lstStyle/>
          <a:p>
            <a:pPr algn="ctr" indent="0" marL="0">
              <a:buNone/>
            </a:pPr>
            <a:r>
              <a:rPr lang="en-US" sz="1400" b="1" dirty="0">
                <a:solidFill>
                  <a:srgbClr val="FFFFFF"/>
                </a:solidFill>
              </a:rPr>
              <a:t>06</a:t>
            </a:r>
            <a:endParaRPr lang="en-US" sz="1400" dirty="0"/>
          </a:p>
        </p:txBody>
      </p:sp>
      <p:sp>
        <p:nvSpPr>
          <p:cNvPr id="40" name="Text 37"/>
          <p:cNvSpPr/>
          <p:nvPr/>
        </p:nvSpPr>
        <p:spPr>
          <a:xfrm>
            <a:off x="7205472" y="2770632"/>
            <a:ext cx="402336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Key System Innovations</a:t>
            </a:r>
            <a:endParaRPr lang="en-US" sz="1200" dirty="0"/>
          </a:p>
        </p:txBody>
      </p:sp>
      <p:sp>
        <p:nvSpPr>
          <p:cNvPr id="41" name="Text 38"/>
          <p:cNvSpPr/>
          <p:nvPr/>
        </p:nvSpPr>
        <p:spPr>
          <a:xfrm>
            <a:off x="7205472" y="3081528"/>
            <a:ext cx="4023360" cy="411480"/>
          </a:xfrm>
          <a:prstGeom prst="rect">
            <a:avLst/>
          </a:prstGeom>
          <a:noFill/>
          <a:ln/>
        </p:spPr>
        <p:txBody>
          <a:bodyPr wrap="square" rtlCol="0" anchor="ctr"/>
          <a:lstStyle/>
          <a:p>
            <a:pPr indent="0" marL="0">
              <a:buNone/>
            </a:pPr>
            <a:r>
              <a:rPr lang="en-US" sz="950" dirty="0">
                <a:solidFill>
                  <a:srgbClr val="2B2D42"/>
                </a:solidFill>
                <a:latin typeface="Calibri" pitchFamily="34" charset="0"/>
                <a:ea typeface="Calibri" pitchFamily="34" charset="-122"/>
                <a:cs typeface="Calibri" pitchFamily="34" charset="-120"/>
              </a:rPr>
              <a:t>Smart conflict detection, package bundling &amp; damage tracking.</a:t>
            </a:r>
            <a:endParaRPr lang="en-US" sz="950" dirty="0"/>
          </a:p>
        </p:txBody>
      </p:sp>
      <p:sp>
        <p:nvSpPr>
          <p:cNvPr id="42" name="Shape 39"/>
          <p:cNvSpPr/>
          <p:nvPr/>
        </p:nvSpPr>
        <p:spPr>
          <a:xfrm>
            <a:off x="6245352" y="3749040"/>
            <a:ext cx="5212080" cy="1005840"/>
          </a:xfrm>
          <a:prstGeom prst="roundRect">
            <a:avLst>
              <a:gd name="adj" fmla="val 9091"/>
            </a:avLst>
          </a:prstGeom>
          <a:solidFill>
            <a:srgbClr val="FFFFFF"/>
          </a:solidFill>
          <a:ln w="15240">
            <a:solidFill>
              <a:srgbClr val="E8DFD5"/>
            </a:solidFill>
            <a:prstDash val="solid"/>
          </a:ln>
        </p:spPr>
      </p:sp>
      <p:sp>
        <p:nvSpPr>
          <p:cNvPr id="43" name="Shape 40"/>
          <p:cNvSpPr/>
          <p:nvPr/>
        </p:nvSpPr>
        <p:spPr>
          <a:xfrm>
            <a:off x="6428232" y="3931920"/>
            <a:ext cx="640080" cy="640080"/>
          </a:xfrm>
          <a:prstGeom prst="roundRect">
            <a:avLst>
              <a:gd name="adj" fmla="val 11429"/>
            </a:avLst>
          </a:prstGeom>
          <a:solidFill>
            <a:srgbClr val="3D2B1F"/>
          </a:solidFill>
          <a:ln w="12700">
            <a:solidFill>
              <a:srgbClr val="3D2B1F"/>
            </a:solidFill>
            <a:prstDash val="solid"/>
          </a:ln>
        </p:spPr>
      </p:sp>
      <p:sp>
        <p:nvSpPr>
          <p:cNvPr id="44" name="Text 41"/>
          <p:cNvSpPr/>
          <p:nvPr/>
        </p:nvSpPr>
        <p:spPr>
          <a:xfrm>
            <a:off x="6428232" y="3931920"/>
            <a:ext cx="640080" cy="640080"/>
          </a:xfrm>
          <a:prstGeom prst="rect">
            <a:avLst/>
          </a:prstGeom>
          <a:noFill/>
          <a:ln/>
        </p:spPr>
        <p:txBody>
          <a:bodyPr wrap="square" rtlCol="0" anchor="ctr"/>
          <a:lstStyle/>
          <a:p>
            <a:pPr algn="ctr" indent="0" marL="0">
              <a:buNone/>
            </a:pPr>
            <a:r>
              <a:rPr lang="en-US" sz="1400" b="1" dirty="0">
                <a:solidFill>
                  <a:srgbClr val="FFFFFF"/>
                </a:solidFill>
              </a:rPr>
              <a:t>07</a:t>
            </a:r>
            <a:endParaRPr lang="en-US" sz="1400" dirty="0"/>
          </a:p>
        </p:txBody>
      </p:sp>
      <p:sp>
        <p:nvSpPr>
          <p:cNvPr id="45" name="Text 42"/>
          <p:cNvSpPr/>
          <p:nvPr/>
        </p:nvSpPr>
        <p:spPr>
          <a:xfrm>
            <a:off x="7205472" y="3913632"/>
            <a:ext cx="402336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Live System Demonstration</a:t>
            </a:r>
            <a:endParaRPr lang="en-US" sz="1200" dirty="0"/>
          </a:p>
        </p:txBody>
      </p:sp>
      <p:sp>
        <p:nvSpPr>
          <p:cNvPr id="46" name="Text 43"/>
          <p:cNvSpPr/>
          <p:nvPr/>
        </p:nvSpPr>
        <p:spPr>
          <a:xfrm>
            <a:off x="7205472" y="4224528"/>
            <a:ext cx="4023360" cy="411480"/>
          </a:xfrm>
          <a:prstGeom prst="rect">
            <a:avLst/>
          </a:prstGeom>
          <a:noFill/>
          <a:ln/>
        </p:spPr>
        <p:txBody>
          <a:bodyPr wrap="square" rtlCol="0" anchor="ctr"/>
          <a:lstStyle/>
          <a:p>
            <a:pPr indent="0" marL="0">
              <a:buNone/>
            </a:pPr>
            <a:r>
              <a:rPr lang="en-US" sz="950" dirty="0">
                <a:solidFill>
                  <a:srgbClr val="2B2D42"/>
                </a:solidFill>
                <a:latin typeface="Calibri" pitchFamily="34" charset="0"/>
                <a:ea typeface="Calibri" pitchFamily="34" charset="-122"/>
                <a:cs typeface="Calibri" pitchFamily="34" charset="-120"/>
              </a:rPr>
              <a:t>Cloud deployment walkthrough on InfinityFree server.</a:t>
            </a:r>
            <a:endParaRPr lang="en-US" sz="950" dirty="0"/>
          </a:p>
        </p:txBody>
      </p:sp>
      <p:sp>
        <p:nvSpPr>
          <p:cNvPr id="47" name="Shape 44"/>
          <p:cNvSpPr/>
          <p:nvPr/>
        </p:nvSpPr>
        <p:spPr>
          <a:xfrm>
            <a:off x="6245352" y="4892040"/>
            <a:ext cx="5212080" cy="1005840"/>
          </a:xfrm>
          <a:prstGeom prst="roundRect">
            <a:avLst>
              <a:gd name="adj" fmla="val 9091"/>
            </a:avLst>
          </a:prstGeom>
          <a:solidFill>
            <a:srgbClr val="FFFFFF"/>
          </a:solidFill>
          <a:ln w="15240">
            <a:solidFill>
              <a:srgbClr val="E8DFD5"/>
            </a:solidFill>
            <a:prstDash val="solid"/>
          </a:ln>
        </p:spPr>
      </p:sp>
      <p:sp>
        <p:nvSpPr>
          <p:cNvPr id="48" name="Shape 45"/>
          <p:cNvSpPr/>
          <p:nvPr/>
        </p:nvSpPr>
        <p:spPr>
          <a:xfrm>
            <a:off x="6428232" y="5074920"/>
            <a:ext cx="640080" cy="640080"/>
          </a:xfrm>
          <a:prstGeom prst="roundRect">
            <a:avLst>
              <a:gd name="adj" fmla="val 11429"/>
            </a:avLst>
          </a:prstGeom>
          <a:solidFill>
            <a:srgbClr val="3D2B1F"/>
          </a:solidFill>
          <a:ln w="12700">
            <a:solidFill>
              <a:srgbClr val="3D2B1F"/>
            </a:solidFill>
            <a:prstDash val="solid"/>
          </a:ln>
        </p:spPr>
      </p:sp>
      <p:sp>
        <p:nvSpPr>
          <p:cNvPr id="49" name="Text 46"/>
          <p:cNvSpPr/>
          <p:nvPr/>
        </p:nvSpPr>
        <p:spPr>
          <a:xfrm>
            <a:off x="6428232" y="5074920"/>
            <a:ext cx="640080" cy="640080"/>
          </a:xfrm>
          <a:prstGeom prst="rect">
            <a:avLst/>
          </a:prstGeom>
          <a:noFill/>
          <a:ln/>
        </p:spPr>
        <p:txBody>
          <a:bodyPr wrap="square" rtlCol="0" anchor="ctr"/>
          <a:lstStyle/>
          <a:p>
            <a:pPr algn="ctr" indent="0" marL="0">
              <a:buNone/>
            </a:pPr>
            <a:r>
              <a:rPr lang="en-US" sz="1400" b="1" dirty="0">
                <a:solidFill>
                  <a:srgbClr val="FFFFFF"/>
                </a:solidFill>
              </a:rPr>
              <a:t>08</a:t>
            </a:r>
            <a:endParaRPr lang="en-US" sz="1400" dirty="0"/>
          </a:p>
        </p:txBody>
      </p:sp>
      <p:sp>
        <p:nvSpPr>
          <p:cNvPr id="50" name="Text 47"/>
          <p:cNvSpPr/>
          <p:nvPr/>
        </p:nvSpPr>
        <p:spPr>
          <a:xfrm>
            <a:off x="7205472" y="5056632"/>
            <a:ext cx="402336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Testing, UAT &amp; Future Roadmap</a:t>
            </a:r>
            <a:endParaRPr lang="en-US" sz="1200" dirty="0"/>
          </a:p>
        </p:txBody>
      </p:sp>
      <p:sp>
        <p:nvSpPr>
          <p:cNvPr id="51" name="Text 48"/>
          <p:cNvSpPr/>
          <p:nvPr/>
        </p:nvSpPr>
        <p:spPr>
          <a:xfrm>
            <a:off x="7205472" y="5367528"/>
            <a:ext cx="4023360" cy="411480"/>
          </a:xfrm>
          <a:prstGeom prst="rect">
            <a:avLst/>
          </a:prstGeom>
          <a:noFill/>
          <a:ln/>
        </p:spPr>
        <p:txBody>
          <a:bodyPr wrap="square" rtlCol="0" anchor="ctr"/>
          <a:lstStyle/>
          <a:p>
            <a:pPr indent="0" marL="0">
              <a:buNone/>
            </a:pPr>
            <a:r>
              <a:rPr lang="en-US" sz="950" dirty="0">
                <a:solidFill>
                  <a:srgbClr val="2B2D42"/>
                </a:solidFill>
                <a:latin typeface="Calibri" pitchFamily="34" charset="0"/>
                <a:ea typeface="Calibri" pitchFamily="34" charset="-122"/>
                <a:cs typeface="Calibri" pitchFamily="34" charset="-120"/>
              </a:rPr>
              <a:t>Verification, 100% UAT satisfaction, and Phase 2 enhancements.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BACKGROUND</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Problem Background &amp; Problem Statements</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Identifying the core operational bottlenecks in campus equipment management at UPTM</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3 of 20 | Nursyafiqah Zulaikha</a:t>
            </a:r>
            <a:endParaRPr lang="en-US" sz="800" dirty="0"/>
          </a:p>
        </p:txBody>
      </p:sp>
      <p:sp>
        <p:nvSpPr>
          <p:cNvPr id="12" name="Shape 9"/>
          <p:cNvSpPr/>
          <p:nvPr/>
        </p:nvSpPr>
        <p:spPr>
          <a:xfrm>
            <a:off x="731520" y="1463040"/>
            <a:ext cx="5212080" cy="2148840"/>
          </a:xfrm>
          <a:prstGeom prst="roundRect">
            <a:avLst>
              <a:gd name="adj" fmla="val 5106"/>
            </a:avLst>
          </a:prstGeom>
          <a:solidFill>
            <a:srgbClr val="FFFFFF"/>
          </a:solidFill>
          <a:ln w="15240">
            <a:solidFill>
              <a:srgbClr val="E8DFD5"/>
            </a:solidFill>
            <a:prstDash val="solid"/>
          </a:ln>
        </p:spPr>
      </p:sp>
      <p:sp>
        <p:nvSpPr>
          <p:cNvPr id="13" name="Shape 10"/>
          <p:cNvSpPr/>
          <p:nvPr/>
        </p:nvSpPr>
        <p:spPr>
          <a:xfrm>
            <a:off x="1005840" y="1645920"/>
            <a:ext cx="548640" cy="502920"/>
          </a:xfrm>
          <a:prstGeom prst="roundRect">
            <a:avLst>
              <a:gd name="adj" fmla="val 14545"/>
            </a:avLst>
          </a:prstGeom>
          <a:solidFill>
            <a:srgbClr val="8B5E3C"/>
          </a:solidFill>
          <a:ln w="12700">
            <a:solidFill>
              <a:srgbClr val="8B5E3C"/>
            </a:solidFill>
            <a:prstDash val="solid"/>
          </a:ln>
        </p:spPr>
      </p:sp>
      <p:sp>
        <p:nvSpPr>
          <p:cNvPr id="14" name="Text 11"/>
          <p:cNvSpPr/>
          <p:nvPr/>
        </p:nvSpPr>
        <p:spPr>
          <a:xfrm>
            <a:off x="1005840" y="1645920"/>
            <a:ext cx="548640" cy="502920"/>
          </a:xfrm>
          <a:prstGeom prst="rect">
            <a:avLst/>
          </a:prstGeom>
          <a:noFill/>
          <a:ln/>
        </p:spPr>
        <p:txBody>
          <a:bodyPr wrap="square" rtlCol="0" anchor="ctr"/>
          <a:lstStyle/>
          <a:p>
            <a:pPr algn="ctr" indent="0" marL="0">
              <a:buNone/>
            </a:pPr>
            <a:r>
              <a:rPr lang="en-US" sz="1200" b="1" dirty="0">
                <a:solidFill>
                  <a:srgbClr val="FFFFFF"/>
                </a:solidFill>
              </a:rPr>
              <a:t>01</a:t>
            </a:r>
            <a:endParaRPr lang="en-US" sz="1200" dirty="0"/>
          </a:p>
        </p:txBody>
      </p:sp>
      <p:sp>
        <p:nvSpPr>
          <p:cNvPr id="15" name="Text 12"/>
          <p:cNvSpPr/>
          <p:nvPr/>
        </p:nvSpPr>
        <p:spPr>
          <a:xfrm>
            <a:off x="1691640" y="1627632"/>
            <a:ext cx="402336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Inefficient Manual Paperwork &amp; Logbooks</a:t>
            </a:r>
            <a:endParaRPr lang="en-US" sz="1200" dirty="0"/>
          </a:p>
        </p:txBody>
      </p:sp>
      <p:sp>
        <p:nvSpPr>
          <p:cNvPr id="16" name="Shape 13"/>
          <p:cNvSpPr/>
          <p:nvPr/>
        </p:nvSpPr>
        <p:spPr>
          <a:xfrm>
            <a:off x="1691640" y="1938528"/>
            <a:ext cx="1645920" cy="201168"/>
          </a:xfrm>
          <a:prstGeom prst="roundRect">
            <a:avLst>
              <a:gd name="adj" fmla="val 27273"/>
            </a:avLst>
          </a:prstGeom>
          <a:solidFill>
            <a:srgbClr val="FAEDCD"/>
          </a:solidFill>
          <a:ln w="12700">
            <a:solidFill>
              <a:srgbClr val="FAEDCD"/>
            </a:solidFill>
            <a:prstDash val="solid"/>
          </a:ln>
        </p:spPr>
      </p:sp>
      <p:sp>
        <p:nvSpPr>
          <p:cNvPr id="17" name="Text 14"/>
          <p:cNvSpPr/>
          <p:nvPr/>
        </p:nvSpPr>
        <p:spPr>
          <a:xfrm>
            <a:off x="1691640" y="1938528"/>
            <a:ext cx="1645920" cy="201168"/>
          </a:xfrm>
          <a:prstGeom prst="rect">
            <a:avLst/>
          </a:prstGeom>
          <a:noFill/>
          <a:ln/>
        </p:spPr>
        <p:txBody>
          <a:bodyPr wrap="square" rtlCol="0" anchor="ctr"/>
          <a:lstStyle/>
          <a:p>
            <a:pPr algn="ctr" indent="0" marL="0">
              <a:buNone/>
            </a:pPr>
            <a:r>
              <a:rPr lang="en-US" sz="750" b="1" dirty="0">
                <a:solidFill>
                  <a:srgbClr val="7F5539"/>
                </a:solidFill>
              </a:rPr>
              <a:t>TIME DELAY</a:t>
            </a:r>
            <a:endParaRPr lang="en-US" sz="750" dirty="0"/>
          </a:p>
        </p:txBody>
      </p:sp>
      <p:sp>
        <p:nvSpPr>
          <p:cNvPr id="18" name="Text 15"/>
          <p:cNvSpPr/>
          <p:nvPr/>
        </p:nvSpPr>
        <p:spPr>
          <a:xfrm>
            <a:off x="1051560" y="2240280"/>
            <a:ext cx="457200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Organizers must physically travel to the HEP / Facility office to submit paper reservation forms.</a:t>
            </a:r>
            <a:endParaRPr lang="en-US" sz="900" dirty="0"/>
          </a:p>
        </p:txBody>
      </p:sp>
      <p:sp>
        <p:nvSpPr>
          <p:cNvPr id="19" name="Text 16"/>
          <p:cNvSpPr/>
          <p:nvPr/>
        </p:nvSpPr>
        <p:spPr>
          <a:xfrm>
            <a:off x="1051560" y="2651760"/>
            <a:ext cx="457200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Manual signature routing takes 2 to 3 working days, causing severe delays for urgent student club events.</a:t>
            </a:r>
            <a:endParaRPr lang="en-US" sz="900" dirty="0"/>
          </a:p>
        </p:txBody>
      </p:sp>
      <p:sp>
        <p:nvSpPr>
          <p:cNvPr id="20" name="Text 17"/>
          <p:cNvSpPr/>
          <p:nvPr/>
        </p:nvSpPr>
        <p:spPr>
          <a:xfrm>
            <a:off x="1051560" y="3063240"/>
            <a:ext cx="457200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Physical paper forms and chits are easily misplaced, discarded, or lost without duplicate backup records.</a:t>
            </a:r>
            <a:endParaRPr lang="en-US" sz="900" dirty="0"/>
          </a:p>
        </p:txBody>
      </p:sp>
      <p:sp>
        <p:nvSpPr>
          <p:cNvPr id="21" name="Shape 18"/>
          <p:cNvSpPr/>
          <p:nvPr/>
        </p:nvSpPr>
        <p:spPr>
          <a:xfrm>
            <a:off x="6245352" y="1463040"/>
            <a:ext cx="5212080" cy="2148840"/>
          </a:xfrm>
          <a:prstGeom prst="roundRect">
            <a:avLst>
              <a:gd name="adj" fmla="val 5106"/>
            </a:avLst>
          </a:prstGeom>
          <a:solidFill>
            <a:srgbClr val="FFFFFF"/>
          </a:solidFill>
          <a:ln w="15240">
            <a:solidFill>
              <a:srgbClr val="E8DFD5"/>
            </a:solidFill>
            <a:prstDash val="solid"/>
          </a:ln>
        </p:spPr>
      </p:sp>
      <p:sp>
        <p:nvSpPr>
          <p:cNvPr id="22" name="Shape 19"/>
          <p:cNvSpPr/>
          <p:nvPr/>
        </p:nvSpPr>
        <p:spPr>
          <a:xfrm>
            <a:off x="6519672" y="1645920"/>
            <a:ext cx="548640" cy="502920"/>
          </a:xfrm>
          <a:prstGeom prst="roundRect">
            <a:avLst>
              <a:gd name="adj" fmla="val 14545"/>
            </a:avLst>
          </a:prstGeom>
          <a:solidFill>
            <a:srgbClr val="8B5E3C"/>
          </a:solidFill>
          <a:ln w="12700">
            <a:solidFill>
              <a:srgbClr val="8B5E3C"/>
            </a:solidFill>
            <a:prstDash val="solid"/>
          </a:ln>
        </p:spPr>
      </p:sp>
      <p:sp>
        <p:nvSpPr>
          <p:cNvPr id="23" name="Text 20"/>
          <p:cNvSpPr/>
          <p:nvPr/>
        </p:nvSpPr>
        <p:spPr>
          <a:xfrm>
            <a:off x="6519672" y="1645920"/>
            <a:ext cx="548640" cy="502920"/>
          </a:xfrm>
          <a:prstGeom prst="rect">
            <a:avLst/>
          </a:prstGeom>
          <a:noFill/>
          <a:ln/>
        </p:spPr>
        <p:txBody>
          <a:bodyPr wrap="square" rtlCol="0" anchor="ctr"/>
          <a:lstStyle/>
          <a:p>
            <a:pPr algn="ctr" indent="0" marL="0">
              <a:buNone/>
            </a:pPr>
            <a:r>
              <a:rPr lang="en-US" sz="1200" b="1" dirty="0">
                <a:solidFill>
                  <a:srgbClr val="FFFFFF"/>
                </a:solidFill>
              </a:rPr>
              <a:t>02</a:t>
            </a:r>
            <a:endParaRPr lang="en-US" sz="1200" dirty="0"/>
          </a:p>
        </p:txBody>
      </p:sp>
      <p:sp>
        <p:nvSpPr>
          <p:cNvPr id="24" name="Text 21"/>
          <p:cNvSpPr/>
          <p:nvPr/>
        </p:nvSpPr>
        <p:spPr>
          <a:xfrm>
            <a:off x="7205472" y="1627632"/>
            <a:ext cx="402336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Double-Booking &amp; Schedule Collisions</a:t>
            </a:r>
            <a:endParaRPr lang="en-US" sz="1200" dirty="0"/>
          </a:p>
        </p:txBody>
      </p:sp>
      <p:sp>
        <p:nvSpPr>
          <p:cNvPr id="25" name="Shape 22"/>
          <p:cNvSpPr/>
          <p:nvPr/>
        </p:nvSpPr>
        <p:spPr>
          <a:xfrm>
            <a:off x="7205472" y="1938528"/>
            <a:ext cx="1645920" cy="201168"/>
          </a:xfrm>
          <a:prstGeom prst="roundRect">
            <a:avLst>
              <a:gd name="adj" fmla="val 27273"/>
            </a:avLst>
          </a:prstGeom>
          <a:solidFill>
            <a:srgbClr val="FAEDCD"/>
          </a:solidFill>
          <a:ln w="12700">
            <a:solidFill>
              <a:srgbClr val="FAEDCD"/>
            </a:solidFill>
            <a:prstDash val="solid"/>
          </a:ln>
        </p:spPr>
      </p:sp>
      <p:sp>
        <p:nvSpPr>
          <p:cNvPr id="26" name="Text 23"/>
          <p:cNvSpPr/>
          <p:nvPr/>
        </p:nvSpPr>
        <p:spPr>
          <a:xfrm>
            <a:off x="7205472" y="1938528"/>
            <a:ext cx="1645920" cy="201168"/>
          </a:xfrm>
          <a:prstGeom prst="rect">
            <a:avLst/>
          </a:prstGeom>
          <a:noFill/>
          <a:ln/>
        </p:spPr>
        <p:txBody>
          <a:bodyPr wrap="square" rtlCol="0" anchor="ctr"/>
          <a:lstStyle/>
          <a:p>
            <a:pPr algn="ctr" indent="0" marL="0">
              <a:buNone/>
            </a:pPr>
            <a:r>
              <a:rPr lang="en-US" sz="750" b="1" dirty="0">
                <a:solidFill>
                  <a:srgbClr val="7F5539"/>
                </a:solidFill>
              </a:rPr>
              <a:t>SCHEDULE CONFLICT</a:t>
            </a:r>
            <a:endParaRPr lang="en-US" sz="750" dirty="0"/>
          </a:p>
        </p:txBody>
      </p:sp>
      <p:sp>
        <p:nvSpPr>
          <p:cNvPr id="27" name="Text 24"/>
          <p:cNvSpPr/>
          <p:nvPr/>
        </p:nvSpPr>
        <p:spPr>
          <a:xfrm>
            <a:off x="6565392" y="2240280"/>
            <a:ext cx="457200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Absence of a synchronized central calendar results in overlapping reservations.</a:t>
            </a:r>
            <a:endParaRPr lang="en-US" sz="900" dirty="0"/>
          </a:p>
        </p:txBody>
      </p:sp>
      <p:sp>
        <p:nvSpPr>
          <p:cNvPr id="28" name="Text 25"/>
          <p:cNvSpPr/>
          <p:nvPr/>
        </p:nvSpPr>
        <p:spPr>
          <a:xfrm>
            <a:off x="6565392" y="2651760"/>
            <a:ext cx="457200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High-demand equipment (PA sound systems, wireless microphones, projectors) frequently double-booked.</a:t>
            </a:r>
            <a:endParaRPr lang="en-US" sz="900" dirty="0"/>
          </a:p>
        </p:txBody>
      </p:sp>
      <p:sp>
        <p:nvSpPr>
          <p:cNvPr id="29" name="Text 26"/>
          <p:cNvSpPr/>
          <p:nvPr/>
        </p:nvSpPr>
        <p:spPr>
          <a:xfrm>
            <a:off x="6565392" y="3063240"/>
            <a:ext cx="457200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Clubs only discover shortages during event setup, resulting in compromised campus activities.</a:t>
            </a:r>
            <a:endParaRPr lang="en-US" sz="900" dirty="0"/>
          </a:p>
        </p:txBody>
      </p:sp>
      <p:sp>
        <p:nvSpPr>
          <p:cNvPr id="30" name="Shape 27"/>
          <p:cNvSpPr/>
          <p:nvPr/>
        </p:nvSpPr>
        <p:spPr>
          <a:xfrm>
            <a:off x="731520" y="3749040"/>
            <a:ext cx="5212080" cy="2148840"/>
          </a:xfrm>
          <a:prstGeom prst="roundRect">
            <a:avLst>
              <a:gd name="adj" fmla="val 5106"/>
            </a:avLst>
          </a:prstGeom>
          <a:solidFill>
            <a:srgbClr val="FFFFFF"/>
          </a:solidFill>
          <a:ln w="15240">
            <a:solidFill>
              <a:srgbClr val="E8DFD5"/>
            </a:solidFill>
            <a:prstDash val="solid"/>
          </a:ln>
        </p:spPr>
      </p:sp>
      <p:sp>
        <p:nvSpPr>
          <p:cNvPr id="31" name="Shape 28"/>
          <p:cNvSpPr/>
          <p:nvPr/>
        </p:nvSpPr>
        <p:spPr>
          <a:xfrm>
            <a:off x="1005840" y="3931920"/>
            <a:ext cx="548640" cy="502920"/>
          </a:xfrm>
          <a:prstGeom prst="roundRect">
            <a:avLst>
              <a:gd name="adj" fmla="val 14545"/>
            </a:avLst>
          </a:prstGeom>
          <a:solidFill>
            <a:srgbClr val="8B5E3C"/>
          </a:solidFill>
          <a:ln w="12700">
            <a:solidFill>
              <a:srgbClr val="8B5E3C"/>
            </a:solidFill>
            <a:prstDash val="solid"/>
          </a:ln>
        </p:spPr>
      </p:sp>
      <p:sp>
        <p:nvSpPr>
          <p:cNvPr id="32" name="Text 29"/>
          <p:cNvSpPr/>
          <p:nvPr/>
        </p:nvSpPr>
        <p:spPr>
          <a:xfrm>
            <a:off x="1005840" y="3931920"/>
            <a:ext cx="548640" cy="502920"/>
          </a:xfrm>
          <a:prstGeom prst="rect">
            <a:avLst/>
          </a:prstGeom>
          <a:noFill/>
          <a:ln/>
        </p:spPr>
        <p:txBody>
          <a:bodyPr wrap="square" rtlCol="0" anchor="ctr"/>
          <a:lstStyle/>
          <a:p>
            <a:pPr algn="ctr" indent="0" marL="0">
              <a:buNone/>
            </a:pPr>
            <a:r>
              <a:rPr lang="en-US" sz="1200" b="1" dirty="0">
                <a:solidFill>
                  <a:srgbClr val="FFFFFF"/>
                </a:solidFill>
              </a:rPr>
              <a:t>03</a:t>
            </a:r>
            <a:endParaRPr lang="en-US" sz="1200" dirty="0"/>
          </a:p>
        </p:txBody>
      </p:sp>
      <p:sp>
        <p:nvSpPr>
          <p:cNvPr id="33" name="Text 30"/>
          <p:cNvSpPr/>
          <p:nvPr/>
        </p:nvSpPr>
        <p:spPr>
          <a:xfrm>
            <a:off x="1691640" y="3913632"/>
            <a:ext cx="402336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Inaccurate Inventory &amp; Stock Mismatches</a:t>
            </a:r>
            <a:endParaRPr lang="en-US" sz="1200" dirty="0"/>
          </a:p>
        </p:txBody>
      </p:sp>
      <p:sp>
        <p:nvSpPr>
          <p:cNvPr id="34" name="Shape 31"/>
          <p:cNvSpPr/>
          <p:nvPr/>
        </p:nvSpPr>
        <p:spPr>
          <a:xfrm>
            <a:off x="1691640" y="4224528"/>
            <a:ext cx="1645920" cy="201168"/>
          </a:xfrm>
          <a:prstGeom prst="roundRect">
            <a:avLst>
              <a:gd name="adj" fmla="val 27273"/>
            </a:avLst>
          </a:prstGeom>
          <a:solidFill>
            <a:srgbClr val="FAEDCD"/>
          </a:solidFill>
          <a:ln w="12700">
            <a:solidFill>
              <a:srgbClr val="FAEDCD"/>
            </a:solidFill>
            <a:prstDash val="solid"/>
          </a:ln>
        </p:spPr>
      </p:sp>
      <p:sp>
        <p:nvSpPr>
          <p:cNvPr id="35" name="Text 32"/>
          <p:cNvSpPr/>
          <p:nvPr/>
        </p:nvSpPr>
        <p:spPr>
          <a:xfrm>
            <a:off x="1691640" y="4224528"/>
            <a:ext cx="1645920" cy="201168"/>
          </a:xfrm>
          <a:prstGeom prst="rect">
            <a:avLst/>
          </a:prstGeom>
          <a:noFill/>
          <a:ln/>
        </p:spPr>
        <p:txBody>
          <a:bodyPr wrap="square" rtlCol="0" anchor="ctr"/>
          <a:lstStyle/>
          <a:p>
            <a:pPr algn="ctr" indent="0" marL="0">
              <a:buNone/>
            </a:pPr>
            <a:r>
              <a:rPr lang="en-US" sz="750" b="1" dirty="0">
                <a:solidFill>
                  <a:srgbClr val="7F5539"/>
                </a:solidFill>
              </a:rPr>
              <a:t>LACK OF VISIBILITY</a:t>
            </a:r>
            <a:endParaRPr lang="en-US" sz="750" dirty="0"/>
          </a:p>
        </p:txBody>
      </p:sp>
      <p:sp>
        <p:nvSpPr>
          <p:cNvPr id="36" name="Text 33"/>
          <p:cNvSpPr/>
          <p:nvPr/>
        </p:nvSpPr>
        <p:spPr>
          <a:xfrm>
            <a:off x="1051560" y="4526280"/>
            <a:ext cx="457200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Stock levels recorded on paper or static sheets become instantly outdated upon loan.</a:t>
            </a:r>
            <a:endParaRPr lang="en-US" sz="900" dirty="0"/>
          </a:p>
        </p:txBody>
      </p:sp>
      <p:sp>
        <p:nvSpPr>
          <p:cNvPr id="37" name="Text 34"/>
          <p:cNvSpPr/>
          <p:nvPr/>
        </p:nvSpPr>
        <p:spPr>
          <a:xfrm>
            <a:off x="1051560" y="4937760"/>
            <a:ext cx="457200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Damaged or missing assets are not deducted in real-time, displaying ghost availability.</a:t>
            </a:r>
            <a:endParaRPr lang="en-US" sz="900" dirty="0"/>
          </a:p>
        </p:txBody>
      </p:sp>
      <p:sp>
        <p:nvSpPr>
          <p:cNvPr id="38" name="Text 35"/>
          <p:cNvSpPr/>
          <p:nvPr/>
        </p:nvSpPr>
        <p:spPr>
          <a:xfrm>
            <a:off x="1051560" y="5349240"/>
            <a:ext cx="457200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Students make commitments assuming items are available, only to be rejected at the counter.</a:t>
            </a:r>
            <a:endParaRPr lang="en-US" sz="900" dirty="0"/>
          </a:p>
        </p:txBody>
      </p:sp>
      <p:sp>
        <p:nvSpPr>
          <p:cNvPr id="39" name="Shape 36"/>
          <p:cNvSpPr/>
          <p:nvPr/>
        </p:nvSpPr>
        <p:spPr>
          <a:xfrm>
            <a:off x="6245352" y="3749040"/>
            <a:ext cx="5212080" cy="2148840"/>
          </a:xfrm>
          <a:prstGeom prst="roundRect">
            <a:avLst>
              <a:gd name="adj" fmla="val 5106"/>
            </a:avLst>
          </a:prstGeom>
          <a:solidFill>
            <a:srgbClr val="FFFFFF"/>
          </a:solidFill>
          <a:ln w="15240">
            <a:solidFill>
              <a:srgbClr val="E8DFD5"/>
            </a:solidFill>
            <a:prstDash val="solid"/>
          </a:ln>
        </p:spPr>
      </p:sp>
      <p:sp>
        <p:nvSpPr>
          <p:cNvPr id="40" name="Shape 37"/>
          <p:cNvSpPr/>
          <p:nvPr/>
        </p:nvSpPr>
        <p:spPr>
          <a:xfrm>
            <a:off x="6519672" y="3931920"/>
            <a:ext cx="548640" cy="502920"/>
          </a:xfrm>
          <a:prstGeom prst="roundRect">
            <a:avLst>
              <a:gd name="adj" fmla="val 14545"/>
            </a:avLst>
          </a:prstGeom>
          <a:solidFill>
            <a:srgbClr val="8B5E3C"/>
          </a:solidFill>
          <a:ln w="12700">
            <a:solidFill>
              <a:srgbClr val="8B5E3C"/>
            </a:solidFill>
            <a:prstDash val="solid"/>
          </a:ln>
        </p:spPr>
      </p:sp>
      <p:sp>
        <p:nvSpPr>
          <p:cNvPr id="41" name="Text 38"/>
          <p:cNvSpPr/>
          <p:nvPr/>
        </p:nvSpPr>
        <p:spPr>
          <a:xfrm>
            <a:off x="6519672" y="3931920"/>
            <a:ext cx="548640" cy="502920"/>
          </a:xfrm>
          <a:prstGeom prst="rect">
            <a:avLst/>
          </a:prstGeom>
          <a:noFill/>
          <a:ln/>
        </p:spPr>
        <p:txBody>
          <a:bodyPr wrap="square" rtlCol="0" anchor="ctr"/>
          <a:lstStyle/>
          <a:p>
            <a:pPr algn="ctr" indent="0" marL="0">
              <a:buNone/>
            </a:pPr>
            <a:r>
              <a:rPr lang="en-US" sz="1200" b="1" dirty="0">
                <a:solidFill>
                  <a:srgbClr val="FFFFFF"/>
                </a:solidFill>
              </a:rPr>
              <a:t>04</a:t>
            </a:r>
            <a:endParaRPr lang="en-US" sz="1200" dirty="0"/>
          </a:p>
        </p:txBody>
      </p:sp>
      <p:sp>
        <p:nvSpPr>
          <p:cNvPr id="42" name="Text 39"/>
          <p:cNvSpPr/>
          <p:nvPr/>
        </p:nvSpPr>
        <p:spPr>
          <a:xfrm>
            <a:off x="7205472" y="3913632"/>
            <a:ext cx="402336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Lack of Damage Tracking &amp; Accountability</a:t>
            </a:r>
            <a:endParaRPr lang="en-US" sz="1200" dirty="0"/>
          </a:p>
        </p:txBody>
      </p:sp>
      <p:sp>
        <p:nvSpPr>
          <p:cNvPr id="43" name="Shape 40"/>
          <p:cNvSpPr/>
          <p:nvPr/>
        </p:nvSpPr>
        <p:spPr>
          <a:xfrm>
            <a:off x="7205472" y="4224528"/>
            <a:ext cx="1645920" cy="201168"/>
          </a:xfrm>
          <a:prstGeom prst="roundRect">
            <a:avLst>
              <a:gd name="adj" fmla="val 27273"/>
            </a:avLst>
          </a:prstGeom>
          <a:solidFill>
            <a:srgbClr val="FAEDCD"/>
          </a:solidFill>
          <a:ln w="12700">
            <a:solidFill>
              <a:srgbClr val="FAEDCD"/>
            </a:solidFill>
            <a:prstDash val="solid"/>
          </a:ln>
        </p:spPr>
      </p:sp>
      <p:sp>
        <p:nvSpPr>
          <p:cNvPr id="44" name="Text 41"/>
          <p:cNvSpPr/>
          <p:nvPr/>
        </p:nvSpPr>
        <p:spPr>
          <a:xfrm>
            <a:off x="7205472" y="4224528"/>
            <a:ext cx="1645920" cy="201168"/>
          </a:xfrm>
          <a:prstGeom prst="rect">
            <a:avLst/>
          </a:prstGeom>
          <a:noFill/>
          <a:ln/>
        </p:spPr>
        <p:txBody>
          <a:bodyPr wrap="square" rtlCol="0" anchor="ctr"/>
          <a:lstStyle/>
          <a:p>
            <a:pPr algn="ctr" indent="0" marL="0">
              <a:buNone/>
            </a:pPr>
            <a:r>
              <a:rPr lang="en-US" sz="750" b="1" dirty="0">
                <a:solidFill>
                  <a:srgbClr val="7F5539"/>
                </a:solidFill>
              </a:rPr>
              <a:t>UNTRACKED LOSS</a:t>
            </a:r>
            <a:endParaRPr lang="en-US" sz="750" dirty="0"/>
          </a:p>
        </p:txBody>
      </p:sp>
      <p:sp>
        <p:nvSpPr>
          <p:cNvPr id="45" name="Text 42"/>
          <p:cNvSpPr/>
          <p:nvPr/>
        </p:nvSpPr>
        <p:spPr>
          <a:xfrm>
            <a:off x="6565392" y="4526280"/>
            <a:ext cx="457200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Post-event returns lack formal inspection; damaged items returned unnoticed without penalty.</a:t>
            </a:r>
            <a:endParaRPr lang="en-US" sz="900" dirty="0"/>
          </a:p>
        </p:txBody>
      </p:sp>
      <p:sp>
        <p:nvSpPr>
          <p:cNvPr id="46" name="Text 43"/>
          <p:cNvSpPr/>
          <p:nvPr/>
        </p:nvSpPr>
        <p:spPr>
          <a:xfrm>
            <a:off x="6565392" y="4937760"/>
            <a:ext cx="457200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No standardized grading for equipment defect severity or compensation calculation.</a:t>
            </a:r>
            <a:endParaRPr lang="en-US" sz="900" dirty="0"/>
          </a:p>
        </p:txBody>
      </p:sp>
      <p:sp>
        <p:nvSpPr>
          <p:cNvPr id="47" name="Text 44"/>
          <p:cNvSpPr/>
          <p:nvPr/>
        </p:nvSpPr>
        <p:spPr>
          <a:xfrm>
            <a:off x="6565392" y="5349240"/>
            <a:ext cx="457200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University bears recurring replacement costs due to unassigned responsibility on student borrowers.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ANALYSIS</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Empirical Requirements Analysis (Survey)</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Quantitative survey conducted across 30 UPTM student leaders &amp; club organizers</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4 of 20 | Nursyafiqah Zulaikha</a:t>
            </a:r>
            <a:endParaRPr lang="en-US" sz="800" dirty="0"/>
          </a:p>
        </p:txBody>
      </p:sp>
      <p:sp>
        <p:nvSpPr>
          <p:cNvPr id="12" name="Shape 9"/>
          <p:cNvSpPr/>
          <p:nvPr/>
        </p:nvSpPr>
        <p:spPr>
          <a:xfrm>
            <a:off x="731520" y="1463040"/>
            <a:ext cx="5029200" cy="1005840"/>
          </a:xfrm>
          <a:prstGeom prst="roundRect">
            <a:avLst>
              <a:gd name="adj" fmla="val 9091"/>
            </a:avLst>
          </a:prstGeom>
          <a:solidFill>
            <a:srgbClr val="FFFFFF"/>
          </a:solidFill>
          <a:ln w="15240">
            <a:solidFill>
              <a:srgbClr val="E8DFD5"/>
            </a:solidFill>
            <a:prstDash val="solid"/>
          </a:ln>
        </p:spPr>
      </p:sp>
      <p:sp>
        <p:nvSpPr>
          <p:cNvPr id="13" name="Text 10"/>
          <p:cNvSpPr/>
          <p:nvPr/>
        </p:nvSpPr>
        <p:spPr>
          <a:xfrm>
            <a:off x="914400" y="1600200"/>
            <a:ext cx="1280160" cy="731520"/>
          </a:xfrm>
          <a:prstGeom prst="rect">
            <a:avLst/>
          </a:prstGeom>
          <a:noFill/>
          <a:ln/>
        </p:spPr>
        <p:txBody>
          <a:bodyPr wrap="square" rtlCol="0" anchor="ctr"/>
          <a:lstStyle/>
          <a:p>
            <a:pPr indent="0" marL="0">
              <a:buNone/>
            </a:pPr>
            <a:r>
              <a:rPr lang="en-US" sz="2200" b="1" dirty="0">
                <a:solidFill>
                  <a:srgbClr val="8B5E3C"/>
                </a:solidFill>
                <a:latin typeface="Arial" pitchFamily="34" charset="0"/>
                <a:ea typeface="Arial" pitchFamily="34" charset="-122"/>
                <a:cs typeface="Arial" pitchFamily="34" charset="-120"/>
              </a:rPr>
              <a:t>90.0%</a:t>
            </a:r>
            <a:endParaRPr lang="en-US" sz="2200" dirty="0"/>
          </a:p>
        </p:txBody>
      </p:sp>
      <p:sp>
        <p:nvSpPr>
          <p:cNvPr id="14" name="Text 11"/>
          <p:cNvSpPr/>
          <p:nvPr/>
        </p:nvSpPr>
        <p:spPr>
          <a:xfrm>
            <a:off x="2286000" y="1627632"/>
            <a:ext cx="3291840" cy="274320"/>
          </a:xfrm>
          <a:prstGeom prst="rect">
            <a:avLst/>
          </a:prstGeom>
          <a:noFill/>
          <a:ln/>
        </p:spPr>
        <p:txBody>
          <a:bodyPr wrap="square" rtlCol="0" anchor="ctr"/>
          <a:lstStyle/>
          <a:p>
            <a:pPr indent="0" marL="0">
              <a:buNone/>
            </a:pPr>
            <a:r>
              <a:rPr lang="en-US" sz="1150" b="1" dirty="0">
                <a:solidFill>
                  <a:srgbClr val="5C3D28"/>
                </a:solidFill>
                <a:latin typeface="Arial" pitchFamily="34" charset="0"/>
                <a:ea typeface="Arial" pitchFamily="34" charset="-122"/>
                <a:cs typeface="Arial" pitchFamily="34" charset="-120"/>
              </a:rPr>
              <a:t>Manual Form Delay</a:t>
            </a:r>
            <a:endParaRPr lang="en-US" sz="1150" dirty="0"/>
          </a:p>
        </p:txBody>
      </p:sp>
      <p:sp>
        <p:nvSpPr>
          <p:cNvPr id="15" name="Text 12"/>
          <p:cNvSpPr/>
          <p:nvPr/>
        </p:nvSpPr>
        <p:spPr>
          <a:xfrm>
            <a:off x="2286000" y="1901952"/>
            <a:ext cx="3291840" cy="4572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Respondents confirmed manual forms take &gt;2 days and are prone to getting lost.</a:t>
            </a:r>
            <a:endParaRPr lang="en-US" sz="850" dirty="0"/>
          </a:p>
        </p:txBody>
      </p:sp>
      <p:sp>
        <p:nvSpPr>
          <p:cNvPr id="16" name="Shape 13"/>
          <p:cNvSpPr/>
          <p:nvPr/>
        </p:nvSpPr>
        <p:spPr>
          <a:xfrm>
            <a:off x="731520" y="2606040"/>
            <a:ext cx="5029200" cy="1005840"/>
          </a:xfrm>
          <a:prstGeom prst="roundRect">
            <a:avLst>
              <a:gd name="adj" fmla="val 9091"/>
            </a:avLst>
          </a:prstGeom>
          <a:solidFill>
            <a:srgbClr val="FFFFFF"/>
          </a:solidFill>
          <a:ln w="15240">
            <a:solidFill>
              <a:srgbClr val="E8DFD5"/>
            </a:solidFill>
            <a:prstDash val="solid"/>
          </a:ln>
        </p:spPr>
      </p:sp>
      <p:sp>
        <p:nvSpPr>
          <p:cNvPr id="17" name="Text 14"/>
          <p:cNvSpPr/>
          <p:nvPr/>
        </p:nvSpPr>
        <p:spPr>
          <a:xfrm>
            <a:off x="914400" y="2743200"/>
            <a:ext cx="1280160" cy="731520"/>
          </a:xfrm>
          <a:prstGeom prst="rect">
            <a:avLst/>
          </a:prstGeom>
          <a:noFill/>
          <a:ln/>
        </p:spPr>
        <p:txBody>
          <a:bodyPr wrap="square" rtlCol="0" anchor="ctr"/>
          <a:lstStyle/>
          <a:p>
            <a:pPr indent="0" marL="0">
              <a:buNone/>
            </a:pPr>
            <a:r>
              <a:rPr lang="en-US" sz="2200" b="1" dirty="0">
                <a:solidFill>
                  <a:srgbClr val="8B5E3C"/>
                </a:solidFill>
                <a:latin typeface="Arial" pitchFamily="34" charset="0"/>
                <a:ea typeface="Arial" pitchFamily="34" charset="-122"/>
                <a:cs typeface="Arial" pitchFamily="34" charset="-120"/>
              </a:rPr>
              <a:t>86.7%</a:t>
            </a:r>
            <a:endParaRPr lang="en-US" sz="2200" dirty="0"/>
          </a:p>
        </p:txBody>
      </p:sp>
      <p:sp>
        <p:nvSpPr>
          <p:cNvPr id="18" name="Text 15"/>
          <p:cNvSpPr/>
          <p:nvPr/>
        </p:nvSpPr>
        <p:spPr>
          <a:xfrm>
            <a:off x="2286000" y="2770632"/>
            <a:ext cx="3291840" cy="274320"/>
          </a:xfrm>
          <a:prstGeom prst="rect">
            <a:avLst/>
          </a:prstGeom>
          <a:noFill/>
          <a:ln/>
        </p:spPr>
        <p:txBody>
          <a:bodyPr wrap="square" rtlCol="0" anchor="ctr"/>
          <a:lstStyle/>
          <a:p>
            <a:pPr indent="0" marL="0">
              <a:buNone/>
            </a:pPr>
            <a:r>
              <a:rPr lang="en-US" sz="1150" b="1" dirty="0">
                <a:solidFill>
                  <a:srgbClr val="5C3D28"/>
                </a:solidFill>
                <a:latin typeface="Arial" pitchFamily="34" charset="0"/>
                <a:ea typeface="Arial" pitchFamily="34" charset="-122"/>
                <a:cs typeface="Arial" pitchFamily="34" charset="-120"/>
              </a:rPr>
              <a:t>Double-Booking Conflicts</a:t>
            </a:r>
            <a:endParaRPr lang="en-US" sz="1150" dirty="0"/>
          </a:p>
        </p:txBody>
      </p:sp>
      <p:sp>
        <p:nvSpPr>
          <p:cNvPr id="19" name="Text 16"/>
          <p:cNvSpPr/>
          <p:nvPr/>
        </p:nvSpPr>
        <p:spPr>
          <a:xfrm>
            <a:off x="2286000" y="3044952"/>
            <a:ext cx="3291840" cy="4572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Experienced last-minute gear shortages or overlapping bookings during events.</a:t>
            </a:r>
            <a:endParaRPr lang="en-US" sz="850" dirty="0"/>
          </a:p>
        </p:txBody>
      </p:sp>
      <p:sp>
        <p:nvSpPr>
          <p:cNvPr id="20" name="Shape 17"/>
          <p:cNvSpPr/>
          <p:nvPr/>
        </p:nvSpPr>
        <p:spPr>
          <a:xfrm>
            <a:off x="731520" y="3749040"/>
            <a:ext cx="5029200" cy="1005840"/>
          </a:xfrm>
          <a:prstGeom prst="roundRect">
            <a:avLst>
              <a:gd name="adj" fmla="val 9091"/>
            </a:avLst>
          </a:prstGeom>
          <a:solidFill>
            <a:srgbClr val="FFFFFF"/>
          </a:solidFill>
          <a:ln w="15240">
            <a:solidFill>
              <a:srgbClr val="E8DFD5"/>
            </a:solidFill>
            <a:prstDash val="solid"/>
          </a:ln>
        </p:spPr>
      </p:sp>
      <p:sp>
        <p:nvSpPr>
          <p:cNvPr id="21" name="Text 18"/>
          <p:cNvSpPr/>
          <p:nvPr/>
        </p:nvSpPr>
        <p:spPr>
          <a:xfrm>
            <a:off x="914400" y="3886200"/>
            <a:ext cx="1280160" cy="731520"/>
          </a:xfrm>
          <a:prstGeom prst="rect">
            <a:avLst/>
          </a:prstGeom>
          <a:noFill/>
          <a:ln/>
        </p:spPr>
        <p:txBody>
          <a:bodyPr wrap="square" rtlCol="0" anchor="ctr"/>
          <a:lstStyle/>
          <a:p>
            <a:pPr indent="0" marL="0">
              <a:buNone/>
            </a:pPr>
            <a:r>
              <a:rPr lang="en-US" sz="2200" b="1" dirty="0">
                <a:solidFill>
                  <a:srgbClr val="8B5E3C"/>
                </a:solidFill>
                <a:latin typeface="Arial" pitchFamily="34" charset="0"/>
                <a:ea typeface="Arial" pitchFamily="34" charset="-122"/>
                <a:cs typeface="Arial" pitchFamily="34" charset="-120"/>
              </a:rPr>
              <a:t>93.3%</a:t>
            </a:r>
            <a:endParaRPr lang="en-US" sz="2200" dirty="0"/>
          </a:p>
        </p:txBody>
      </p:sp>
      <p:sp>
        <p:nvSpPr>
          <p:cNvPr id="22" name="Text 19"/>
          <p:cNvSpPr/>
          <p:nvPr/>
        </p:nvSpPr>
        <p:spPr>
          <a:xfrm>
            <a:off x="2286000" y="3913632"/>
            <a:ext cx="3291840" cy="274320"/>
          </a:xfrm>
          <a:prstGeom prst="rect">
            <a:avLst/>
          </a:prstGeom>
          <a:noFill/>
          <a:ln/>
        </p:spPr>
        <p:txBody>
          <a:bodyPr wrap="square" rtlCol="0" anchor="ctr"/>
          <a:lstStyle/>
          <a:p>
            <a:pPr indent="0" marL="0">
              <a:buNone/>
            </a:pPr>
            <a:r>
              <a:rPr lang="en-US" sz="1150" b="1" dirty="0">
                <a:solidFill>
                  <a:srgbClr val="5C3D28"/>
                </a:solidFill>
                <a:latin typeface="Arial" pitchFamily="34" charset="0"/>
                <a:ea typeface="Arial" pitchFamily="34" charset="-122"/>
                <a:cs typeface="Arial" pitchFamily="34" charset="-120"/>
              </a:rPr>
              <a:t>Online Portal Demand</a:t>
            </a:r>
            <a:endParaRPr lang="en-US" sz="1150" dirty="0"/>
          </a:p>
        </p:txBody>
      </p:sp>
      <p:sp>
        <p:nvSpPr>
          <p:cNvPr id="23" name="Text 20"/>
          <p:cNvSpPr/>
          <p:nvPr/>
        </p:nvSpPr>
        <p:spPr>
          <a:xfrm>
            <a:off x="2286000" y="4187952"/>
            <a:ext cx="3291840" cy="4572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Demanded a 24/7 self-service digital equipment booking web system.</a:t>
            </a:r>
            <a:endParaRPr lang="en-US" sz="850" dirty="0"/>
          </a:p>
        </p:txBody>
      </p:sp>
      <p:sp>
        <p:nvSpPr>
          <p:cNvPr id="24" name="Shape 21"/>
          <p:cNvSpPr/>
          <p:nvPr/>
        </p:nvSpPr>
        <p:spPr>
          <a:xfrm>
            <a:off x="731520" y="4892040"/>
            <a:ext cx="5029200" cy="1005840"/>
          </a:xfrm>
          <a:prstGeom prst="roundRect">
            <a:avLst>
              <a:gd name="adj" fmla="val 9091"/>
            </a:avLst>
          </a:prstGeom>
          <a:solidFill>
            <a:srgbClr val="FFFFFF"/>
          </a:solidFill>
          <a:ln w="15240">
            <a:solidFill>
              <a:srgbClr val="E8DFD5"/>
            </a:solidFill>
            <a:prstDash val="solid"/>
          </a:ln>
        </p:spPr>
      </p:sp>
      <p:sp>
        <p:nvSpPr>
          <p:cNvPr id="25" name="Text 22"/>
          <p:cNvSpPr/>
          <p:nvPr/>
        </p:nvSpPr>
        <p:spPr>
          <a:xfrm>
            <a:off x="914400" y="5029200"/>
            <a:ext cx="1280160" cy="731520"/>
          </a:xfrm>
          <a:prstGeom prst="rect">
            <a:avLst/>
          </a:prstGeom>
          <a:noFill/>
          <a:ln/>
        </p:spPr>
        <p:txBody>
          <a:bodyPr wrap="square" rtlCol="0" anchor="ctr"/>
          <a:lstStyle/>
          <a:p>
            <a:pPr indent="0" marL="0">
              <a:buNone/>
            </a:pPr>
            <a:r>
              <a:rPr lang="en-US" sz="2200" b="1" dirty="0">
                <a:solidFill>
                  <a:srgbClr val="8B5E3C"/>
                </a:solidFill>
                <a:latin typeface="Arial" pitchFamily="34" charset="0"/>
                <a:ea typeface="Arial" pitchFamily="34" charset="-122"/>
                <a:cs typeface="Arial" pitchFamily="34" charset="-120"/>
              </a:rPr>
              <a:t>96.7%</a:t>
            </a:r>
            <a:endParaRPr lang="en-US" sz="2200" dirty="0"/>
          </a:p>
        </p:txBody>
      </p:sp>
      <p:sp>
        <p:nvSpPr>
          <p:cNvPr id="26" name="Text 23"/>
          <p:cNvSpPr/>
          <p:nvPr/>
        </p:nvSpPr>
        <p:spPr>
          <a:xfrm>
            <a:off x="2286000" y="5056632"/>
            <a:ext cx="3291840" cy="274320"/>
          </a:xfrm>
          <a:prstGeom prst="rect">
            <a:avLst/>
          </a:prstGeom>
          <a:noFill/>
          <a:ln/>
        </p:spPr>
        <p:txBody>
          <a:bodyPr wrap="square" rtlCol="0" anchor="ctr"/>
          <a:lstStyle/>
          <a:p>
            <a:pPr indent="0" marL="0">
              <a:buNone/>
            </a:pPr>
            <a:r>
              <a:rPr lang="en-US" sz="1150" b="1" dirty="0">
                <a:solidFill>
                  <a:srgbClr val="5C3D28"/>
                </a:solidFill>
                <a:latin typeface="Arial" pitchFamily="34" charset="0"/>
                <a:ea typeface="Arial" pitchFamily="34" charset="-122"/>
                <a:cs typeface="Arial" pitchFamily="34" charset="-120"/>
              </a:rPr>
              <a:t>Accountability &amp; Receipts</a:t>
            </a:r>
            <a:endParaRPr lang="en-US" sz="1150" dirty="0"/>
          </a:p>
        </p:txBody>
      </p:sp>
      <p:sp>
        <p:nvSpPr>
          <p:cNvPr id="27" name="Text 24"/>
          <p:cNvSpPr/>
          <p:nvPr/>
        </p:nvSpPr>
        <p:spPr>
          <a:xfrm>
            <a:off x="2286000" y="5330952"/>
            <a:ext cx="3291840" cy="4572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Agreed digital damage inspection and PDF return slips are essential.</a:t>
            </a:r>
            <a:endParaRPr lang="en-US" sz="850" dirty="0"/>
          </a:p>
        </p:txBody>
      </p:sp>
      <p:sp>
        <p:nvSpPr>
          <p:cNvPr id="28" name="Shape 25"/>
          <p:cNvSpPr/>
          <p:nvPr/>
        </p:nvSpPr>
        <p:spPr>
          <a:xfrm>
            <a:off x="6035040" y="1463040"/>
            <a:ext cx="5422392" cy="4663440"/>
          </a:xfrm>
          <a:prstGeom prst="roundRect">
            <a:avLst>
              <a:gd name="adj" fmla="val 2353"/>
            </a:avLst>
          </a:prstGeom>
          <a:solidFill>
            <a:srgbClr val="FFFFFF"/>
          </a:solidFill>
          <a:ln w="15240">
            <a:solidFill>
              <a:srgbClr val="E8DFD5"/>
            </a:solidFill>
            <a:prstDash val="solid"/>
          </a:ln>
        </p:spPr>
      </p:sp>
      <p:sp>
        <p:nvSpPr>
          <p:cNvPr id="29" name="Text 26"/>
          <p:cNvSpPr/>
          <p:nvPr/>
        </p:nvSpPr>
        <p:spPr>
          <a:xfrm>
            <a:off x="6309360" y="1645920"/>
            <a:ext cx="4937760" cy="274320"/>
          </a:xfrm>
          <a:prstGeom prst="rect">
            <a:avLst/>
          </a:prstGeom>
          <a:noFill/>
          <a:ln/>
        </p:spPr>
        <p:txBody>
          <a:bodyPr wrap="square" rtlCol="0" anchor="ctr"/>
          <a:lstStyle/>
          <a:p>
            <a:pPr indent="0" marL="0">
              <a:buNone/>
            </a:pPr>
            <a:r>
              <a:rPr lang="en-US" sz="950" b="1" dirty="0">
                <a:solidFill>
                  <a:srgbClr val="8B5E3C"/>
                </a:solidFill>
              </a:rPr>
              <a:t>EMPIRICAL RESEARCH EVIDENCE (QUESTIONNAIRE SURVEY)</a:t>
            </a:r>
            <a:endParaRPr lang="en-US" sz="950" dirty="0"/>
          </a:p>
        </p:txBody>
      </p:sp>
      <p:pic>
        <p:nvPicPr>
          <p:cNvPr id="30" name="Image 1" descr="C:\Users\User\.gemini\antigravity\scratch\smart_event_equipment\documentation\images\fig_3_2_user_questionnaire_1.png">    </p:cNvPr>
          <p:cNvPicPr>
            <a:picLocks noChangeAspect="1"/>
          </p:cNvPicPr>
          <p:nvPr/>
        </p:nvPicPr>
        <p:blipFill>
          <a:blip r:embed="rId2"/>
          <a:srcRect l="0" r="0" t="0" b="0"/>
          <a:stretch/>
        </p:blipFill>
        <p:spPr>
          <a:xfrm>
            <a:off x="6309360" y="2011680"/>
            <a:ext cx="4873752" cy="2926080"/>
          </a:xfrm>
          <a:prstGeom prst="rect">
            <a:avLst/>
          </a:prstGeom>
        </p:spPr>
      </p:pic>
      <p:sp>
        <p:nvSpPr>
          <p:cNvPr id="31" name="Shape 27"/>
          <p:cNvSpPr/>
          <p:nvPr/>
        </p:nvSpPr>
        <p:spPr>
          <a:xfrm>
            <a:off x="6309360" y="5074920"/>
            <a:ext cx="4873752" cy="868680"/>
          </a:xfrm>
          <a:prstGeom prst="roundRect">
            <a:avLst>
              <a:gd name="adj" fmla="val 8421"/>
            </a:avLst>
          </a:prstGeom>
          <a:solidFill>
            <a:srgbClr val="F4EDE4"/>
          </a:solidFill>
          <a:ln w="12700">
            <a:solidFill>
              <a:srgbClr val="E8DFD5"/>
            </a:solidFill>
            <a:prstDash val="solid"/>
          </a:ln>
        </p:spPr>
      </p:sp>
      <p:sp>
        <p:nvSpPr>
          <p:cNvPr id="32" name="Text 28"/>
          <p:cNvSpPr/>
          <p:nvPr/>
        </p:nvSpPr>
        <p:spPr>
          <a:xfrm>
            <a:off x="6446520" y="5166360"/>
            <a:ext cx="4572000" cy="6858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Key Takeaway: The empirical survey established statistically indisputable demand for PinjamGeng. Over 90% of stakeholders supported replacing manual paper logbooks with an automated, conflict-free web portal.</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OBJECTIVES</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Project Objectives (SMART Goals)</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Four clearly scoped, measurable deliverables directly solving the identified problem statements</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5 of 20 | Nursyafiqah Zulaikha</a:t>
            </a:r>
            <a:endParaRPr lang="en-US" sz="800" dirty="0"/>
          </a:p>
        </p:txBody>
      </p:sp>
      <p:sp>
        <p:nvSpPr>
          <p:cNvPr id="12" name="Shape 9"/>
          <p:cNvSpPr/>
          <p:nvPr/>
        </p:nvSpPr>
        <p:spPr>
          <a:xfrm>
            <a:off x="731520" y="1463040"/>
            <a:ext cx="10725912" cy="1024128"/>
          </a:xfrm>
          <a:prstGeom prst="roundRect">
            <a:avLst>
              <a:gd name="adj" fmla="val 8929"/>
            </a:avLst>
          </a:prstGeom>
          <a:solidFill>
            <a:srgbClr val="FFFFFF"/>
          </a:solidFill>
          <a:ln w="15240">
            <a:solidFill>
              <a:srgbClr val="E8DFD5"/>
            </a:solidFill>
            <a:prstDash val="solid"/>
          </a:ln>
        </p:spPr>
      </p:sp>
      <p:sp>
        <p:nvSpPr>
          <p:cNvPr id="13" name="Shape 10"/>
          <p:cNvSpPr/>
          <p:nvPr/>
        </p:nvSpPr>
        <p:spPr>
          <a:xfrm>
            <a:off x="914400" y="1627632"/>
            <a:ext cx="685800" cy="685800"/>
          </a:xfrm>
          <a:prstGeom prst="roundRect">
            <a:avLst>
              <a:gd name="adj" fmla="val 10667"/>
            </a:avLst>
          </a:prstGeom>
          <a:solidFill>
            <a:srgbClr val="3D2B1F"/>
          </a:solidFill>
          <a:ln w="12700">
            <a:solidFill>
              <a:srgbClr val="3D2B1F"/>
            </a:solidFill>
            <a:prstDash val="solid"/>
          </a:ln>
        </p:spPr>
      </p:sp>
      <p:sp>
        <p:nvSpPr>
          <p:cNvPr id="14" name="Text 11"/>
          <p:cNvSpPr/>
          <p:nvPr/>
        </p:nvSpPr>
        <p:spPr>
          <a:xfrm>
            <a:off x="914400" y="1627632"/>
            <a:ext cx="685800" cy="685800"/>
          </a:xfrm>
          <a:prstGeom prst="rect">
            <a:avLst/>
          </a:prstGeom>
          <a:noFill/>
          <a:ln/>
        </p:spPr>
        <p:txBody>
          <a:bodyPr wrap="square" rtlCol="0" anchor="ctr"/>
          <a:lstStyle/>
          <a:p>
            <a:pPr algn="ctr" indent="0" marL="0">
              <a:buNone/>
            </a:pPr>
            <a:r>
              <a:rPr lang="en-US" sz="1500" b="1" dirty="0">
                <a:solidFill>
                  <a:srgbClr val="FFFFFF"/>
                </a:solidFill>
              </a:rPr>
              <a:t>01</a:t>
            </a:r>
            <a:endParaRPr lang="en-US" sz="1500" dirty="0"/>
          </a:p>
        </p:txBody>
      </p:sp>
      <p:sp>
        <p:nvSpPr>
          <p:cNvPr id="15" name="Text 12"/>
          <p:cNvSpPr/>
          <p:nvPr/>
        </p:nvSpPr>
        <p:spPr>
          <a:xfrm>
            <a:off x="1783080" y="1609344"/>
            <a:ext cx="5943600" cy="292608"/>
          </a:xfrm>
          <a:prstGeom prst="rect">
            <a:avLst/>
          </a:prstGeom>
          <a:noFill/>
          <a:ln/>
        </p:spPr>
        <p:txBody>
          <a:bodyPr wrap="square" rtlCol="0" anchor="ctr"/>
          <a:lstStyle/>
          <a:p>
            <a:pPr indent="0" marL="0">
              <a:buNone/>
            </a:pPr>
            <a:r>
              <a:rPr lang="en-US" sz="1250" b="1" dirty="0">
                <a:solidFill>
                  <a:srgbClr val="5C3D28"/>
                </a:solidFill>
                <a:latin typeface="Arial" pitchFamily="34" charset="0"/>
                <a:ea typeface="Arial" pitchFamily="34" charset="-122"/>
                <a:cs typeface="Arial" pitchFamily="34" charset="-120"/>
              </a:rPr>
              <a:t>Design &amp; Develop a Responsive Web Booking Portal</a:t>
            </a:r>
            <a:endParaRPr lang="en-US" sz="1250" dirty="0"/>
          </a:p>
        </p:txBody>
      </p:sp>
      <p:sp>
        <p:nvSpPr>
          <p:cNvPr id="16" name="Shape 13"/>
          <p:cNvSpPr/>
          <p:nvPr/>
        </p:nvSpPr>
        <p:spPr>
          <a:xfrm>
            <a:off x="7863840" y="1627632"/>
            <a:ext cx="3383280" cy="256032"/>
          </a:xfrm>
          <a:prstGeom prst="roundRect">
            <a:avLst>
              <a:gd name="adj" fmla="val 21429"/>
            </a:avLst>
          </a:prstGeom>
          <a:solidFill>
            <a:srgbClr val="FAEDCD"/>
          </a:solidFill>
          <a:ln w="12700">
            <a:solidFill>
              <a:srgbClr val="FAEDCD"/>
            </a:solidFill>
            <a:prstDash val="solid"/>
          </a:ln>
        </p:spPr>
      </p:sp>
      <p:sp>
        <p:nvSpPr>
          <p:cNvPr id="17" name="Text 14"/>
          <p:cNvSpPr/>
          <p:nvPr/>
        </p:nvSpPr>
        <p:spPr>
          <a:xfrm>
            <a:off x="7863840" y="1627632"/>
            <a:ext cx="3383280" cy="256032"/>
          </a:xfrm>
          <a:prstGeom prst="rect">
            <a:avLst/>
          </a:prstGeom>
          <a:noFill/>
          <a:ln/>
        </p:spPr>
        <p:txBody>
          <a:bodyPr wrap="square" rtlCol="0" anchor="ctr"/>
          <a:lstStyle/>
          <a:p>
            <a:pPr algn="ctr" indent="0" marL="0">
              <a:buNone/>
            </a:pPr>
            <a:r>
              <a:rPr lang="en-US" sz="800" b="1" dirty="0">
                <a:solidFill>
                  <a:srgbClr val="7F5539"/>
                </a:solidFill>
              </a:rPr>
              <a:t>DELIVERABLE: 24/7 Accessible Web Portal</a:t>
            </a:r>
            <a:endParaRPr lang="en-US" sz="800" dirty="0"/>
          </a:p>
        </p:txBody>
      </p:sp>
      <p:sp>
        <p:nvSpPr>
          <p:cNvPr id="18" name="Text 15"/>
          <p:cNvSpPr/>
          <p:nvPr/>
        </p:nvSpPr>
        <p:spPr>
          <a:xfrm>
            <a:off x="1783080" y="1901952"/>
            <a:ext cx="5943600" cy="502920"/>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To design and implement a responsive, user-friendly web interface allowing UPTM students to browse cataloged equipment, check live stock, and submit reservation requests anytime, anywhere.</a:t>
            </a:r>
            <a:endParaRPr lang="en-US" sz="900" dirty="0"/>
          </a:p>
        </p:txBody>
      </p:sp>
      <p:sp>
        <p:nvSpPr>
          <p:cNvPr id="19" name="Text 16"/>
          <p:cNvSpPr/>
          <p:nvPr/>
        </p:nvSpPr>
        <p:spPr>
          <a:xfrm>
            <a:off x="7863840" y="1938528"/>
            <a:ext cx="3383280" cy="457200"/>
          </a:xfrm>
          <a:prstGeom prst="rect">
            <a:avLst/>
          </a:prstGeom>
          <a:noFill/>
          <a:ln/>
        </p:spPr>
        <p:txBody>
          <a:bodyPr wrap="square" rtlCol="0" anchor="ctr"/>
          <a:lstStyle/>
          <a:p>
            <a:pPr indent="0" marL="0">
              <a:buNone/>
            </a:pPr>
            <a:r>
              <a:rPr lang="en-US" sz="850" b="1" dirty="0">
                <a:solidFill>
                  <a:srgbClr val="2E7D32"/>
                </a:solidFill>
                <a:latin typeface="Calibri" pitchFamily="34" charset="0"/>
                <a:ea typeface="Calibri" pitchFamily="34" charset="-122"/>
                <a:cs typeface="Calibri" pitchFamily="34" charset="-120"/>
              </a:rPr>
              <a:t>✓ Achieved: Mobile-responsive Bootstrap 5 interface hosted live on the cloud.</a:t>
            </a:r>
            <a:endParaRPr lang="en-US" sz="850" dirty="0"/>
          </a:p>
        </p:txBody>
      </p:sp>
      <p:sp>
        <p:nvSpPr>
          <p:cNvPr id="20" name="Shape 17"/>
          <p:cNvSpPr/>
          <p:nvPr/>
        </p:nvSpPr>
        <p:spPr>
          <a:xfrm>
            <a:off x="731520" y="2606040"/>
            <a:ext cx="10725912" cy="1024128"/>
          </a:xfrm>
          <a:prstGeom prst="roundRect">
            <a:avLst>
              <a:gd name="adj" fmla="val 8929"/>
            </a:avLst>
          </a:prstGeom>
          <a:solidFill>
            <a:srgbClr val="FFFFFF"/>
          </a:solidFill>
          <a:ln w="15240">
            <a:solidFill>
              <a:srgbClr val="E8DFD5"/>
            </a:solidFill>
            <a:prstDash val="solid"/>
          </a:ln>
        </p:spPr>
      </p:sp>
      <p:sp>
        <p:nvSpPr>
          <p:cNvPr id="21" name="Shape 18"/>
          <p:cNvSpPr/>
          <p:nvPr/>
        </p:nvSpPr>
        <p:spPr>
          <a:xfrm>
            <a:off x="914400" y="2770632"/>
            <a:ext cx="685800" cy="685800"/>
          </a:xfrm>
          <a:prstGeom prst="roundRect">
            <a:avLst>
              <a:gd name="adj" fmla="val 10667"/>
            </a:avLst>
          </a:prstGeom>
          <a:solidFill>
            <a:srgbClr val="3D2B1F"/>
          </a:solidFill>
          <a:ln w="12700">
            <a:solidFill>
              <a:srgbClr val="3D2B1F"/>
            </a:solidFill>
            <a:prstDash val="solid"/>
          </a:ln>
        </p:spPr>
      </p:sp>
      <p:sp>
        <p:nvSpPr>
          <p:cNvPr id="22" name="Text 19"/>
          <p:cNvSpPr/>
          <p:nvPr/>
        </p:nvSpPr>
        <p:spPr>
          <a:xfrm>
            <a:off x="914400" y="2770632"/>
            <a:ext cx="685800" cy="685800"/>
          </a:xfrm>
          <a:prstGeom prst="rect">
            <a:avLst/>
          </a:prstGeom>
          <a:noFill/>
          <a:ln/>
        </p:spPr>
        <p:txBody>
          <a:bodyPr wrap="square" rtlCol="0" anchor="ctr"/>
          <a:lstStyle/>
          <a:p>
            <a:pPr algn="ctr" indent="0" marL="0">
              <a:buNone/>
            </a:pPr>
            <a:r>
              <a:rPr lang="en-US" sz="1500" b="1" dirty="0">
                <a:solidFill>
                  <a:srgbClr val="FFFFFF"/>
                </a:solidFill>
              </a:rPr>
              <a:t>02</a:t>
            </a:r>
            <a:endParaRPr lang="en-US" sz="1500" dirty="0"/>
          </a:p>
        </p:txBody>
      </p:sp>
      <p:sp>
        <p:nvSpPr>
          <p:cNvPr id="23" name="Text 20"/>
          <p:cNvSpPr/>
          <p:nvPr/>
        </p:nvSpPr>
        <p:spPr>
          <a:xfrm>
            <a:off x="1783080" y="2752344"/>
            <a:ext cx="5943600" cy="292608"/>
          </a:xfrm>
          <a:prstGeom prst="rect">
            <a:avLst/>
          </a:prstGeom>
          <a:noFill/>
          <a:ln/>
        </p:spPr>
        <p:txBody>
          <a:bodyPr wrap="square" rtlCol="0" anchor="ctr"/>
          <a:lstStyle/>
          <a:p>
            <a:pPr indent="0" marL="0">
              <a:buNone/>
            </a:pPr>
            <a:r>
              <a:rPr lang="en-US" sz="1250" b="1" dirty="0">
                <a:solidFill>
                  <a:srgbClr val="5C3D28"/>
                </a:solidFill>
                <a:latin typeface="Arial" pitchFamily="34" charset="0"/>
                <a:ea typeface="Arial" pitchFamily="34" charset="-122"/>
                <a:cs typeface="Arial" pitchFamily="34" charset="-120"/>
              </a:rPr>
              <a:t>Implement Automated Conflict Detection &amp; Bundling</a:t>
            </a:r>
            <a:endParaRPr lang="en-US" sz="1250" dirty="0"/>
          </a:p>
        </p:txBody>
      </p:sp>
      <p:sp>
        <p:nvSpPr>
          <p:cNvPr id="24" name="Shape 21"/>
          <p:cNvSpPr/>
          <p:nvPr/>
        </p:nvSpPr>
        <p:spPr>
          <a:xfrm>
            <a:off x="7863840" y="2770632"/>
            <a:ext cx="3383280" cy="256032"/>
          </a:xfrm>
          <a:prstGeom prst="roundRect">
            <a:avLst>
              <a:gd name="adj" fmla="val 21429"/>
            </a:avLst>
          </a:prstGeom>
          <a:solidFill>
            <a:srgbClr val="FAEDCD"/>
          </a:solidFill>
          <a:ln w="12700">
            <a:solidFill>
              <a:srgbClr val="FAEDCD"/>
            </a:solidFill>
            <a:prstDash val="solid"/>
          </a:ln>
        </p:spPr>
      </p:sp>
      <p:sp>
        <p:nvSpPr>
          <p:cNvPr id="25" name="Text 22"/>
          <p:cNvSpPr/>
          <p:nvPr/>
        </p:nvSpPr>
        <p:spPr>
          <a:xfrm>
            <a:off x="7863840" y="2770632"/>
            <a:ext cx="3383280" cy="256032"/>
          </a:xfrm>
          <a:prstGeom prst="rect">
            <a:avLst/>
          </a:prstGeom>
          <a:noFill/>
          <a:ln/>
        </p:spPr>
        <p:txBody>
          <a:bodyPr wrap="square" rtlCol="0" anchor="ctr"/>
          <a:lstStyle/>
          <a:p>
            <a:pPr algn="ctr" indent="0" marL="0">
              <a:buNone/>
            </a:pPr>
            <a:r>
              <a:rPr lang="en-US" sz="800" b="1" dirty="0">
                <a:solidFill>
                  <a:srgbClr val="7F5539"/>
                </a:solidFill>
              </a:rPr>
              <a:t>DELIVERABLE: Conflict-Free Reservation Engine</a:t>
            </a:r>
            <a:endParaRPr lang="en-US" sz="800" dirty="0"/>
          </a:p>
        </p:txBody>
      </p:sp>
      <p:sp>
        <p:nvSpPr>
          <p:cNvPr id="26" name="Text 23"/>
          <p:cNvSpPr/>
          <p:nvPr/>
        </p:nvSpPr>
        <p:spPr>
          <a:xfrm>
            <a:off x="1783080" y="3044952"/>
            <a:ext cx="5943600" cy="502920"/>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To engineer an intelligent booking validation algorithm that calculates overlapping reservations to eliminate double booking, alongside 1-click curated Event Package Bundling.</a:t>
            </a:r>
            <a:endParaRPr lang="en-US" sz="900" dirty="0"/>
          </a:p>
        </p:txBody>
      </p:sp>
      <p:sp>
        <p:nvSpPr>
          <p:cNvPr id="27" name="Text 24"/>
          <p:cNvSpPr/>
          <p:nvPr/>
        </p:nvSpPr>
        <p:spPr>
          <a:xfrm>
            <a:off x="7863840" y="3081528"/>
            <a:ext cx="3383280" cy="457200"/>
          </a:xfrm>
          <a:prstGeom prst="rect">
            <a:avLst/>
          </a:prstGeom>
          <a:noFill/>
          <a:ln/>
        </p:spPr>
        <p:txBody>
          <a:bodyPr wrap="square" rtlCol="0" anchor="ctr"/>
          <a:lstStyle/>
          <a:p>
            <a:pPr indent="0" marL="0">
              <a:buNone/>
            </a:pPr>
            <a:r>
              <a:rPr lang="en-US" sz="850" b="1" dirty="0">
                <a:solidFill>
                  <a:srgbClr val="2E7D32"/>
                </a:solidFill>
                <a:latin typeface="Calibri" pitchFamily="34" charset="0"/>
                <a:ea typeface="Calibri" pitchFamily="34" charset="-122"/>
                <a:cs typeface="Calibri" pitchFamily="34" charset="-120"/>
              </a:rPr>
              <a:t>✓ Achieved: Microsecond conflict-checking queries with zero double-booking capability.</a:t>
            </a:r>
            <a:endParaRPr lang="en-US" sz="850" dirty="0"/>
          </a:p>
        </p:txBody>
      </p:sp>
      <p:sp>
        <p:nvSpPr>
          <p:cNvPr id="28" name="Shape 25"/>
          <p:cNvSpPr/>
          <p:nvPr/>
        </p:nvSpPr>
        <p:spPr>
          <a:xfrm>
            <a:off x="731520" y="3749040"/>
            <a:ext cx="10725912" cy="1024128"/>
          </a:xfrm>
          <a:prstGeom prst="roundRect">
            <a:avLst>
              <a:gd name="adj" fmla="val 8929"/>
            </a:avLst>
          </a:prstGeom>
          <a:solidFill>
            <a:srgbClr val="FFFFFF"/>
          </a:solidFill>
          <a:ln w="15240">
            <a:solidFill>
              <a:srgbClr val="E8DFD5"/>
            </a:solidFill>
            <a:prstDash val="solid"/>
          </a:ln>
        </p:spPr>
      </p:sp>
      <p:sp>
        <p:nvSpPr>
          <p:cNvPr id="29" name="Shape 26"/>
          <p:cNvSpPr/>
          <p:nvPr/>
        </p:nvSpPr>
        <p:spPr>
          <a:xfrm>
            <a:off x="914400" y="3913632"/>
            <a:ext cx="685800" cy="685800"/>
          </a:xfrm>
          <a:prstGeom prst="roundRect">
            <a:avLst>
              <a:gd name="adj" fmla="val 10667"/>
            </a:avLst>
          </a:prstGeom>
          <a:solidFill>
            <a:srgbClr val="3D2B1F"/>
          </a:solidFill>
          <a:ln w="12700">
            <a:solidFill>
              <a:srgbClr val="3D2B1F"/>
            </a:solidFill>
            <a:prstDash val="solid"/>
          </a:ln>
        </p:spPr>
      </p:sp>
      <p:sp>
        <p:nvSpPr>
          <p:cNvPr id="30" name="Text 27"/>
          <p:cNvSpPr/>
          <p:nvPr/>
        </p:nvSpPr>
        <p:spPr>
          <a:xfrm>
            <a:off x="914400" y="3913632"/>
            <a:ext cx="685800" cy="685800"/>
          </a:xfrm>
          <a:prstGeom prst="rect">
            <a:avLst/>
          </a:prstGeom>
          <a:noFill/>
          <a:ln/>
        </p:spPr>
        <p:txBody>
          <a:bodyPr wrap="square" rtlCol="0" anchor="ctr"/>
          <a:lstStyle/>
          <a:p>
            <a:pPr algn="ctr" indent="0" marL="0">
              <a:buNone/>
            </a:pPr>
            <a:r>
              <a:rPr lang="en-US" sz="1500" b="1" dirty="0">
                <a:solidFill>
                  <a:srgbClr val="FFFFFF"/>
                </a:solidFill>
              </a:rPr>
              <a:t>03</a:t>
            </a:r>
            <a:endParaRPr lang="en-US" sz="1500" dirty="0"/>
          </a:p>
        </p:txBody>
      </p:sp>
      <p:sp>
        <p:nvSpPr>
          <p:cNvPr id="31" name="Text 28"/>
          <p:cNvSpPr/>
          <p:nvPr/>
        </p:nvSpPr>
        <p:spPr>
          <a:xfrm>
            <a:off x="1783080" y="3895344"/>
            <a:ext cx="5943600" cy="292608"/>
          </a:xfrm>
          <a:prstGeom prst="rect">
            <a:avLst/>
          </a:prstGeom>
          <a:noFill/>
          <a:ln/>
        </p:spPr>
        <p:txBody>
          <a:bodyPr wrap="square" rtlCol="0" anchor="ctr"/>
          <a:lstStyle/>
          <a:p>
            <a:pPr indent="0" marL="0">
              <a:buNone/>
            </a:pPr>
            <a:r>
              <a:rPr lang="en-US" sz="1250" b="1" dirty="0">
                <a:solidFill>
                  <a:srgbClr val="5C3D28"/>
                </a:solidFill>
                <a:latin typeface="Arial" pitchFamily="34" charset="0"/>
                <a:ea typeface="Arial" pitchFamily="34" charset="-122"/>
                <a:cs typeface="Arial" pitchFamily="34" charset="-120"/>
              </a:rPr>
              <a:t>Construct Return Inspection &amp; Damage Accountability Engine</a:t>
            </a:r>
            <a:endParaRPr lang="en-US" sz="1250" dirty="0"/>
          </a:p>
        </p:txBody>
      </p:sp>
      <p:sp>
        <p:nvSpPr>
          <p:cNvPr id="32" name="Shape 29"/>
          <p:cNvSpPr/>
          <p:nvPr/>
        </p:nvSpPr>
        <p:spPr>
          <a:xfrm>
            <a:off x="7863840" y="3913632"/>
            <a:ext cx="3383280" cy="256032"/>
          </a:xfrm>
          <a:prstGeom prst="roundRect">
            <a:avLst>
              <a:gd name="adj" fmla="val 21429"/>
            </a:avLst>
          </a:prstGeom>
          <a:solidFill>
            <a:srgbClr val="FAEDCD"/>
          </a:solidFill>
          <a:ln w="12700">
            <a:solidFill>
              <a:srgbClr val="FAEDCD"/>
            </a:solidFill>
            <a:prstDash val="solid"/>
          </a:ln>
        </p:spPr>
      </p:sp>
      <p:sp>
        <p:nvSpPr>
          <p:cNvPr id="33" name="Text 30"/>
          <p:cNvSpPr/>
          <p:nvPr/>
        </p:nvSpPr>
        <p:spPr>
          <a:xfrm>
            <a:off x="7863840" y="3913632"/>
            <a:ext cx="3383280" cy="256032"/>
          </a:xfrm>
          <a:prstGeom prst="rect">
            <a:avLst/>
          </a:prstGeom>
          <a:noFill/>
          <a:ln/>
        </p:spPr>
        <p:txBody>
          <a:bodyPr wrap="square" rtlCol="0" anchor="ctr"/>
          <a:lstStyle/>
          <a:p>
            <a:pPr algn="ctr" indent="0" marL="0">
              <a:buNone/>
            </a:pPr>
            <a:r>
              <a:rPr lang="en-US" sz="800" b="1" dirty="0">
                <a:solidFill>
                  <a:srgbClr val="7F5539"/>
                </a:solidFill>
              </a:rPr>
              <a:t>DELIVERABLE: Automated Fine &amp; Audit Trail</a:t>
            </a:r>
            <a:endParaRPr lang="en-US" sz="800" dirty="0"/>
          </a:p>
        </p:txBody>
      </p:sp>
      <p:sp>
        <p:nvSpPr>
          <p:cNvPr id="34" name="Text 31"/>
          <p:cNvSpPr/>
          <p:nvPr/>
        </p:nvSpPr>
        <p:spPr>
          <a:xfrm>
            <a:off x="1783080" y="4187952"/>
            <a:ext cx="5943600" cy="502920"/>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To establish a structured post-event inspection workflow featuring 4-tier damage grading, automatic penalty/repair estimation, and instant digital receipt generation.</a:t>
            </a:r>
            <a:endParaRPr lang="en-US" sz="900" dirty="0"/>
          </a:p>
        </p:txBody>
      </p:sp>
      <p:sp>
        <p:nvSpPr>
          <p:cNvPr id="35" name="Text 32"/>
          <p:cNvSpPr/>
          <p:nvPr/>
        </p:nvSpPr>
        <p:spPr>
          <a:xfrm>
            <a:off x="7863840" y="4224528"/>
            <a:ext cx="3383280" cy="457200"/>
          </a:xfrm>
          <a:prstGeom prst="rect">
            <a:avLst/>
          </a:prstGeom>
          <a:noFill/>
          <a:ln/>
        </p:spPr>
        <p:txBody>
          <a:bodyPr wrap="square" rtlCol="0" anchor="ctr"/>
          <a:lstStyle/>
          <a:p>
            <a:pPr indent="0" marL="0">
              <a:buNone/>
            </a:pPr>
            <a:r>
              <a:rPr lang="en-US" sz="850" b="1" dirty="0">
                <a:solidFill>
                  <a:srgbClr val="2E7D32"/>
                </a:solidFill>
                <a:latin typeface="Calibri" pitchFamily="34" charset="0"/>
                <a:ea typeface="Calibri" pitchFamily="34" charset="-122"/>
                <a:cs typeface="Calibri" pitchFamily="34" charset="-120"/>
              </a:rPr>
              <a:t>✓ Achieved: Complete damage reporting module with digital slips.</a:t>
            </a:r>
            <a:endParaRPr lang="en-US" sz="850" dirty="0"/>
          </a:p>
        </p:txBody>
      </p:sp>
      <p:sp>
        <p:nvSpPr>
          <p:cNvPr id="36" name="Shape 33"/>
          <p:cNvSpPr/>
          <p:nvPr/>
        </p:nvSpPr>
        <p:spPr>
          <a:xfrm>
            <a:off x="731520" y="4892040"/>
            <a:ext cx="10725912" cy="1024128"/>
          </a:xfrm>
          <a:prstGeom prst="roundRect">
            <a:avLst>
              <a:gd name="adj" fmla="val 8929"/>
            </a:avLst>
          </a:prstGeom>
          <a:solidFill>
            <a:srgbClr val="FFFFFF"/>
          </a:solidFill>
          <a:ln w="15240">
            <a:solidFill>
              <a:srgbClr val="E8DFD5"/>
            </a:solidFill>
            <a:prstDash val="solid"/>
          </a:ln>
        </p:spPr>
      </p:sp>
      <p:sp>
        <p:nvSpPr>
          <p:cNvPr id="37" name="Shape 34"/>
          <p:cNvSpPr/>
          <p:nvPr/>
        </p:nvSpPr>
        <p:spPr>
          <a:xfrm>
            <a:off x="914400" y="5056632"/>
            <a:ext cx="685800" cy="685800"/>
          </a:xfrm>
          <a:prstGeom prst="roundRect">
            <a:avLst>
              <a:gd name="adj" fmla="val 10667"/>
            </a:avLst>
          </a:prstGeom>
          <a:solidFill>
            <a:srgbClr val="3D2B1F"/>
          </a:solidFill>
          <a:ln w="12700">
            <a:solidFill>
              <a:srgbClr val="3D2B1F"/>
            </a:solidFill>
            <a:prstDash val="solid"/>
          </a:ln>
        </p:spPr>
      </p:sp>
      <p:sp>
        <p:nvSpPr>
          <p:cNvPr id="38" name="Text 35"/>
          <p:cNvSpPr/>
          <p:nvPr/>
        </p:nvSpPr>
        <p:spPr>
          <a:xfrm>
            <a:off x="914400" y="5056632"/>
            <a:ext cx="685800" cy="685800"/>
          </a:xfrm>
          <a:prstGeom prst="rect">
            <a:avLst/>
          </a:prstGeom>
          <a:noFill/>
          <a:ln/>
        </p:spPr>
        <p:txBody>
          <a:bodyPr wrap="square" rtlCol="0" anchor="ctr"/>
          <a:lstStyle/>
          <a:p>
            <a:pPr algn="ctr" indent="0" marL="0">
              <a:buNone/>
            </a:pPr>
            <a:r>
              <a:rPr lang="en-US" sz="1500" b="1" dirty="0">
                <a:solidFill>
                  <a:srgbClr val="FFFFFF"/>
                </a:solidFill>
              </a:rPr>
              <a:t>04</a:t>
            </a:r>
            <a:endParaRPr lang="en-US" sz="1500" dirty="0"/>
          </a:p>
        </p:txBody>
      </p:sp>
      <p:sp>
        <p:nvSpPr>
          <p:cNvPr id="39" name="Text 36"/>
          <p:cNvSpPr/>
          <p:nvPr/>
        </p:nvSpPr>
        <p:spPr>
          <a:xfrm>
            <a:off x="1783080" y="5038344"/>
            <a:ext cx="5943600" cy="292608"/>
          </a:xfrm>
          <a:prstGeom prst="rect">
            <a:avLst/>
          </a:prstGeom>
          <a:noFill/>
          <a:ln/>
        </p:spPr>
        <p:txBody>
          <a:bodyPr wrap="square" rtlCol="0" anchor="ctr"/>
          <a:lstStyle/>
          <a:p>
            <a:pPr indent="0" marL="0">
              <a:buNone/>
            </a:pPr>
            <a:r>
              <a:rPr lang="en-US" sz="1250" b="1" dirty="0">
                <a:solidFill>
                  <a:srgbClr val="5C3D28"/>
                </a:solidFill>
                <a:latin typeface="Arial" pitchFamily="34" charset="0"/>
                <a:ea typeface="Arial" pitchFamily="34" charset="-122"/>
                <a:cs typeface="Arial" pitchFamily="34" charset="-120"/>
              </a:rPr>
              <a:t>Evaluate System Acceptance &amp; Usability (UAT)</a:t>
            </a:r>
            <a:endParaRPr lang="en-US" sz="1250" dirty="0"/>
          </a:p>
        </p:txBody>
      </p:sp>
      <p:sp>
        <p:nvSpPr>
          <p:cNvPr id="40" name="Shape 37"/>
          <p:cNvSpPr/>
          <p:nvPr/>
        </p:nvSpPr>
        <p:spPr>
          <a:xfrm>
            <a:off x="7863840" y="5056632"/>
            <a:ext cx="3383280" cy="256032"/>
          </a:xfrm>
          <a:prstGeom prst="roundRect">
            <a:avLst>
              <a:gd name="adj" fmla="val 21429"/>
            </a:avLst>
          </a:prstGeom>
          <a:solidFill>
            <a:srgbClr val="FAEDCD"/>
          </a:solidFill>
          <a:ln w="12700">
            <a:solidFill>
              <a:srgbClr val="FAEDCD"/>
            </a:solidFill>
            <a:prstDash val="solid"/>
          </a:ln>
        </p:spPr>
      </p:sp>
      <p:sp>
        <p:nvSpPr>
          <p:cNvPr id="41" name="Text 38"/>
          <p:cNvSpPr/>
          <p:nvPr/>
        </p:nvSpPr>
        <p:spPr>
          <a:xfrm>
            <a:off x="7863840" y="5056632"/>
            <a:ext cx="3383280" cy="256032"/>
          </a:xfrm>
          <a:prstGeom prst="rect">
            <a:avLst/>
          </a:prstGeom>
          <a:noFill/>
          <a:ln/>
        </p:spPr>
        <p:txBody>
          <a:bodyPr wrap="square" rtlCol="0" anchor="ctr"/>
          <a:lstStyle/>
          <a:p>
            <a:pPr algn="ctr" indent="0" marL="0">
              <a:buNone/>
            </a:pPr>
            <a:r>
              <a:rPr lang="en-US" sz="800" b="1" dirty="0">
                <a:solidFill>
                  <a:srgbClr val="7F5539"/>
                </a:solidFill>
              </a:rPr>
              <a:t>DELIVERABLE: Formal Academic UAT Evaluation</a:t>
            </a:r>
            <a:endParaRPr lang="en-US" sz="800" dirty="0"/>
          </a:p>
        </p:txBody>
      </p:sp>
      <p:sp>
        <p:nvSpPr>
          <p:cNvPr id="42" name="Text 39"/>
          <p:cNvSpPr/>
          <p:nvPr/>
        </p:nvSpPr>
        <p:spPr>
          <a:xfrm>
            <a:off x="1783080" y="5330952"/>
            <a:ext cx="5943600" cy="502920"/>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To conduct a rigorous User Acceptance Test (UAT) with 30 target evaluators across Usability, Functionality, Efficiency, and Adoption Willingness to validate system success.</a:t>
            </a:r>
            <a:endParaRPr lang="en-US" sz="900" dirty="0"/>
          </a:p>
        </p:txBody>
      </p:sp>
      <p:sp>
        <p:nvSpPr>
          <p:cNvPr id="43" name="Text 40"/>
          <p:cNvSpPr/>
          <p:nvPr/>
        </p:nvSpPr>
        <p:spPr>
          <a:xfrm>
            <a:off x="7863840" y="5367528"/>
            <a:ext cx="3383280" cy="457200"/>
          </a:xfrm>
          <a:prstGeom prst="rect">
            <a:avLst/>
          </a:prstGeom>
          <a:noFill/>
          <a:ln/>
        </p:spPr>
        <p:txBody>
          <a:bodyPr wrap="square" rtlCol="0" anchor="ctr"/>
          <a:lstStyle/>
          <a:p>
            <a:pPr indent="0" marL="0">
              <a:buNone/>
            </a:pPr>
            <a:r>
              <a:rPr lang="en-US" sz="850" b="1" dirty="0">
                <a:solidFill>
                  <a:srgbClr val="2E7D32"/>
                </a:solidFill>
                <a:latin typeface="Calibri" pitchFamily="34" charset="0"/>
                <a:ea typeface="Calibri" pitchFamily="34" charset="-122"/>
                <a:cs typeface="Calibri" pitchFamily="34" charset="-120"/>
              </a:rPr>
              <a:t>✓ Achieved: 100% recommendation score with 96.7% efficiency satisfaction.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SCOPE</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Project Scope &amp; User Personas</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Delineating role-based capabilities and architectural boundaries</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6 of 20 | Nursyafiqah Zulaikha</a:t>
            </a:r>
            <a:endParaRPr lang="en-US" sz="800" dirty="0"/>
          </a:p>
        </p:txBody>
      </p:sp>
      <p:sp>
        <p:nvSpPr>
          <p:cNvPr id="12" name="Shape 9"/>
          <p:cNvSpPr/>
          <p:nvPr/>
        </p:nvSpPr>
        <p:spPr>
          <a:xfrm>
            <a:off x="731520" y="1463040"/>
            <a:ext cx="5212080" cy="3657600"/>
          </a:xfrm>
          <a:prstGeom prst="roundRect">
            <a:avLst>
              <a:gd name="adj" fmla="val 3000"/>
            </a:avLst>
          </a:prstGeom>
          <a:solidFill>
            <a:srgbClr val="FFFFFF"/>
          </a:solidFill>
          <a:ln w="15240">
            <a:solidFill>
              <a:srgbClr val="E8DFD5"/>
            </a:solidFill>
            <a:prstDash val="solid"/>
          </a:ln>
        </p:spPr>
      </p:sp>
      <p:sp>
        <p:nvSpPr>
          <p:cNvPr id="13" name="Shape 10"/>
          <p:cNvSpPr/>
          <p:nvPr/>
        </p:nvSpPr>
        <p:spPr>
          <a:xfrm>
            <a:off x="1005840" y="1691640"/>
            <a:ext cx="2011680" cy="274320"/>
          </a:xfrm>
          <a:prstGeom prst="roundRect">
            <a:avLst>
              <a:gd name="adj" fmla="val 26667"/>
            </a:avLst>
          </a:prstGeom>
          <a:solidFill>
            <a:srgbClr val="FAEDCD"/>
          </a:solidFill>
          <a:ln w="12700">
            <a:solidFill>
              <a:srgbClr val="FAEDCD"/>
            </a:solidFill>
            <a:prstDash val="solid"/>
          </a:ln>
        </p:spPr>
      </p:sp>
      <p:sp>
        <p:nvSpPr>
          <p:cNvPr id="14" name="Text 11"/>
          <p:cNvSpPr/>
          <p:nvPr/>
        </p:nvSpPr>
        <p:spPr>
          <a:xfrm>
            <a:off x="1005840" y="1691640"/>
            <a:ext cx="2011680" cy="274320"/>
          </a:xfrm>
          <a:prstGeom prst="rect">
            <a:avLst/>
          </a:prstGeom>
          <a:noFill/>
          <a:ln/>
        </p:spPr>
        <p:txBody>
          <a:bodyPr wrap="square" rtlCol="0" anchor="ctr"/>
          <a:lstStyle/>
          <a:p>
            <a:pPr algn="ctr" indent="0" marL="0">
              <a:buNone/>
            </a:pPr>
            <a:r>
              <a:rPr lang="en-US" sz="900" b="1" dirty="0">
                <a:solidFill>
                  <a:srgbClr val="7F5539"/>
                </a:solidFill>
              </a:rPr>
              <a:t>USER ROLE: STUDENT</a:t>
            </a:r>
            <a:endParaRPr lang="en-US" sz="900" dirty="0"/>
          </a:p>
        </p:txBody>
      </p:sp>
      <p:sp>
        <p:nvSpPr>
          <p:cNvPr id="15" name="Text 12"/>
          <p:cNvSpPr/>
          <p:nvPr/>
        </p:nvSpPr>
        <p:spPr>
          <a:xfrm>
            <a:off x="1005840" y="2057400"/>
            <a:ext cx="4663440" cy="320040"/>
          </a:xfrm>
          <a:prstGeom prst="rect">
            <a:avLst/>
          </a:prstGeom>
          <a:noFill/>
          <a:ln/>
        </p:spPr>
        <p:txBody>
          <a:bodyPr wrap="square" rtlCol="0" anchor="ctr"/>
          <a:lstStyle/>
          <a:p>
            <a:pPr indent="0" marL="0">
              <a:buNone/>
            </a:pPr>
            <a:r>
              <a:rPr lang="en-US" sz="1400" b="1" dirty="0">
                <a:solidFill>
                  <a:srgbClr val="5C3D28"/>
                </a:solidFill>
                <a:latin typeface="Arial" pitchFamily="34" charset="0"/>
                <a:ea typeface="Arial" pitchFamily="34" charset="-122"/>
                <a:cs typeface="Arial" pitchFamily="34" charset="-120"/>
              </a:rPr>
              <a:t>Student / Event Organizer Persona</a:t>
            </a:r>
            <a:endParaRPr lang="en-US" sz="1400" dirty="0"/>
          </a:p>
        </p:txBody>
      </p:sp>
      <p:sp>
        <p:nvSpPr>
          <p:cNvPr id="16" name="Text 13"/>
          <p:cNvSpPr/>
          <p:nvPr/>
        </p:nvSpPr>
        <p:spPr>
          <a:xfrm>
            <a:off x="1005840" y="2423160"/>
            <a:ext cx="466344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User Registration &amp; Role-Based Authentication with email and matric ID.</a:t>
            </a:r>
            <a:endParaRPr lang="en-US" sz="900" dirty="0"/>
          </a:p>
        </p:txBody>
      </p:sp>
      <p:sp>
        <p:nvSpPr>
          <p:cNvPr id="17" name="Text 14"/>
          <p:cNvSpPr/>
          <p:nvPr/>
        </p:nvSpPr>
        <p:spPr>
          <a:xfrm>
            <a:off x="1005840" y="2834640"/>
            <a:ext cx="466344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Interactive Catalog Browsing with category filtering &amp; live stock status.</a:t>
            </a:r>
            <a:endParaRPr lang="en-US" sz="900" dirty="0"/>
          </a:p>
        </p:txBody>
      </p:sp>
      <p:sp>
        <p:nvSpPr>
          <p:cNvPr id="18" name="Text 15"/>
          <p:cNvSpPr/>
          <p:nvPr/>
        </p:nvSpPr>
        <p:spPr>
          <a:xfrm>
            <a:off x="1005840" y="3246120"/>
            <a:ext cx="466344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Event Package Bundling: Book pre-configured event sets with 1 single click.</a:t>
            </a:r>
            <a:endParaRPr lang="en-US" sz="900" dirty="0"/>
          </a:p>
        </p:txBody>
      </p:sp>
      <p:sp>
        <p:nvSpPr>
          <p:cNvPr id="19" name="Text 16"/>
          <p:cNvSpPr/>
          <p:nvPr/>
        </p:nvSpPr>
        <p:spPr>
          <a:xfrm>
            <a:off x="1005840" y="3657600"/>
            <a:ext cx="466344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Instant Conflict Checking: Automated date overlap validation prior to submission.</a:t>
            </a:r>
            <a:endParaRPr lang="en-US" sz="900" dirty="0"/>
          </a:p>
        </p:txBody>
      </p:sp>
      <p:sp>
        <p:nvSpPr>
          <p:cNvPr id="20" name="Text 17"/>
          <p:cNvSpPr/>
          <p:nvPr/>
        </p:nvSpPr>
        <p:spPr>
          <a:xfrm>
            <a:off x="1005840" y="4069080"/>
            <a:ext cx="466344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Self-Service Status Tracking: View status (Pending, Approved, In Use, Returned).</a:t>
            </a:r>
            <a:endParaRPr lang="en-US" sz="900" dirty="0"/>
          </a:p>
        </p:txBody>
      </p:sp>
      <p:sp>
        <p:nvSpPr>
          <p:cNvPr id="21" name="Text 18"/>
          <p:cNvSpPr/>
          <p:nvPr/>
        </p:nvSpPr>
        <p:spPr>
          <a:xfrm>
            <a:off x="1005840" y="4480560"/>
            <a:ext cx="466344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Digital Receipt Generation: Instant printable booking slip and return confirmation.</a:t>
            </a:r>
            <a:endParaRPr lang="en-US" sz="900" dirty="0"/>
          </a:p>
        </p:txBody>
      </p:sp>
      <p:sp>
        <p:nvSpPr>
          <p:cNvPr id="22" name="Shape 19"/>
          <p:cNvSpPr/>
          <p:nvPr/>
        </p:nvSpPr>
        <p:spPr>
          <a:xfrm>
            <a:off x="6245352" y="1463040"/>
            <a:ext cx="5212080" cy="3657600"/>
          </a:xfrm>
          <a:prstGeom prst="roundRect">
            <a:avLst>
              <a:gd name="adj" fmla="val 3000"/>
            </a:avLst>
          </a:prstGeom>
          <a:solidFill>
            <a:srgbClr val="FFFFFF"/>
          </a:solidFill>
          <a:ln w="15240">
            <a:solidFill>
              <a:srgbClr val="E8DFD5"/>
            </a:solidFill>
            <a:prstDash val="solid"/>
          </a:ln>
        </p:spPr>
      </p:sp>
      <p:sp>
        <p:nvSpPr>
          <p:cNvPr id="23" name="Shape 20"/>
          <p:cNvSpPr/>
          <p:nvPr/>
        </p:nvSpPr>
        <p:spPr>
          <a:xfrm>
            <a:off x="6519672" y="1691640"/>
            <a:ext cx="2011680" cy="274320"/>
          </a:xfrm>
          <a:prstGeom prst="roundRect">
            <a:avLst>
              <a:gd name="adj" fmla="val 26667"/>
            </a:avLst>
          </a:prstGeom>
          <a:solidFill>
            <a:srgbClr val="3D2B1F"/>
          </a:solidFill>
          <a:ln w="12700">
            <a:solidFill>
              <a:srgbClr val="3D2B1F"/>
            </a:solidFill>
            <a:prstDash val="solid"/>
          </a:ln>
        </p:spPr>
      </p:sp>
      <p:sp>
        <p:nvSpPr>
          <p:cNvPr id="24" name="Text 21"/>
          <p:cNvSpPr/>
          <p:nvPr/>
        </p:nvSpPr>
        <p:spPr>
          <a:xfrm>
            <a:off x="6519672" y="1691640"/>
            <a:ext cx="2011680" cy="274320"/>
          </a:xfrm>
          <a:prstGeom prst="rect">
            <a:avLst/>
          </a:prstGeom>
          <a:noFill/>
          <a:ln/>
        </p:spPr>
        <p:txBody>
          <a:bodyPr wrap="square" rtlCol="0" anchor="ctr"/>
          <a:lstStyle/>
          <a:p>
            <a:pPr algn="ctr" indent="0" marL="0">
              <a:buNone/>
            </a:pPr>
            <a:r>
              <a:rPr lang="en-US" sz="900" b="1" dirty="0">
                <a:solidFill>
                  <a:srgbClr val="FFFFFF"/>
                </a:solidFill>
              </a:rPr>
              <a:t>USER ROLE: ADMIN</a:t>
            </a:r>
            <a:endParaRPr lang="en-US" sz="900" dirty="0"/>
          </a:p>
        </p:txBody>
      </p:sp>
      <p:sp>
        <p:nvSpPr>
          <p:cNvPr id="25" name="Text 22"/>
          <p:cNvSpPr/>
          <p:nvPr/>
        </p:nvSpPr>
        <p:spPr>
          <a:xfrm>
            <a:off x="6519672" y="2057400"/>
            <a:ext cx="4663440" cy="320040"/>
          </a:xfrm>
          <a:prstGeom prst="rect">
            <a:avLst/>
          </a:prstGeom>
          <a:noFill/>
          <a:ln/>
        </p:spPr>
        <p:txBody>
          <a:bodyPr wrap="square" rtlCol="0" anchor="ctr"/>
          <a:lstStyle/>
          <a:p>
            <a:pPr indent="0" marL="0">
              <a:buNone/>
            </a:pPr>
            <a:r>
              <a:rPr lang="en-US" sz="1400" b="1" dirty="0">
                <a:solidFill>
                  <a:srgbClr val="5C3D28"/>
                </a:solidFill>
                <a:latin typeface="Arial" pitchFamily="34" charset="0"/>
                <a:ea typeface="Arial" pitchFamily="34" charset="-122"/>
                <a:cs typeface="Arial" pitchFamily="34" charset="-120"/>
              </a:rPr>
              <a:t>Administrator / Facilities Officer Persona</a:t>
            </a:r>
            <a:endParaRPr lang="en-US" sz="1400" dirty="0"/>
          </a:p>
        </p:txBody>
      </p:sp>
      <p:sp>
        <p:nvSpPr>
          <p:cNvPr id="26" name="Text 23"/>
          <p:cNvSpPr/>
          <p:nvPr/>
        </p:nvSpPr>
        <p:spPr>
          <a:xfrm>
            <a:off x="6519672" y="2423160"/>
            <a:ext cx="466344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Real-Time KPI Dashboard: Live counters for pending loans, active gear &amp; alerts.</a:t>
            </a:r>
            <a:endParaRPr lang="en-US" sz="900" dirty="0"/>
          </a:p>
        </p:txBody>
      </p:sp>
      <p:sp>
        <p:nvSpPr>
          <p:cNvPr id="27" name="Text 24"/>
          <p:cNvSpPr/>
          <p:nvPr/>
        </p:nvSpPr>
        <p:spPr>
          <a:xfrm>
            <a:off x="6519672" y="2834640"/>
            <a:ext cx="466344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Inventory Management (CRUD): Create, update, view, and retire equipment items.</a:t>
            </a:r>
            <a:endParaRPr lang="en-US" sz="900" dirty="0"/>
          </a:p>
        </p:txBody>
      </p:sp>
      <p:sp>
        <p:nvSpPr>
          <p:cNvPr id="28" name="Text 25"/>
          <p:cNvSpPr/>
          <p:nvPr/>
        </p:nvSpPr>
        <p:spPr>
          <a:xfrm>
            <a:off x="6519672" y="3246120"/>
            <a:ext cx="466344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Package Management: Create and configure bundled package combinations.</a:t>
            </a:r>
            <a:endParaRPr lang="en-US" sz="900" dirty="0"/>
          </a:p>
        </p:txBody>
      </p:sp>
      <p:sp>
        <p:nvSpPr>
          <p:cNvPr id="29" name="Text 26"/>
          <p:cNvSpPr/>
          <p:nvPr/>
        </p:nvSpPr>
        <p:spPr>
          <a:xfrm>
            <a:off x="6519672" y="3657600"/>
            <a:ext cx="466344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One-Click Approval/Rejection: Review requests with custom admin remarks.</a:t>
            </a:r>
            <a:endParaRPr lang="en-US" sz="900" dirty="0"/>
          </a:p>
        </p:txBody>
      </p:sp>
      <p:sp>
        <p:nvSpPr>
          <p:cNvPr id="30" name="Text 27"/>
          <p:cNvSpPr/>
          <p:nvPr/>
        </p:nvSpPr>
        <p:spPr>
          <a:xfrm>
            <a:off x="6519672" y="4069080"/>
            <a:ext cx="466344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Return Inspection Module: Log condition check-in, defect severity, and repair notes.</a:t>
            </a:r>
            <a:endParaRPr lang="en-US" sz="900" dirty="0"/>
          </a:p>
        </p:txBody>
      </p:sp>
      <p:sp>
        <p:nvSpPr>
          <p:cNvPr id="31" name="Text 28"/>
          <p:cNvSpPr/>
          <p:nvPr/>
        </p:nvSpPr>
        <p:spPr>
          <a:xfrm>
            <a:off x="6519672" y="4480560"/>
            <a:ext cx="4663440" cy="384048"/>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 Automated Fine Calculation: Auto-computes damage liability and payment status.</a:t>
            </a:r>
            <a:endParaRPr lang="en-US" sz="900" dirty="0"/>
          </a:p>
        </p:txBody>
      </p:sp>
      <p:sp>
        <p:nvSpPr>
          <p:cNvPr id="32" name="Shape 29"/>
          <p:cNvSpPr/>
          <p:nvPr/>
        </p:nvSpPr>
        <p:spPr>
          <a:xfrm>
            <a:off x="731520" y="5303520"/>
            <a:ext cx="10725912" cy="868680"/>
          </a:xfrm>
          <a:prstGeom prst="roundRect">
            <a:avLst>
              <a:gd name="adj" fmla="val 10526"/>
            </a:avLst>
          </a:prstGeom>
          <a:solidFill>
            <a:srgbClr val="F4EDE4"/>
          </a:solidFill>
          <a:ln w="12700">
            <a:solidFill>
              <a:srgbClr val="E8DFD5"/>
            </a:solidFill>
            <a:prstDash val="solid"/>
          </a:ln>
        </p:spPr>
      </p:sp>
      <p:sp>
        <p:nvSpPr>
          <p:cNvPr id="33" name="Text 30"/>
          <p:cNvSpPr/>
          <p:nvPr/>
        </p:nvSpPr>
        <p:spPr>
          <a:xfrm>
            <a:off x="1005840" y="5413248"/>
            <a:ext cx="4114800" cy="228600"/>
          </a:xfrm>
          <a:prstGeom prst="rect">
            <a:avLst/>
          </a:prstGeom>
          <a:noFill/>
          <a:ln/>
        </p:spPr>
        <p:txBody>
          <a:bodyPr wrap="square" rtlCol="0" anchor="ctr"/>
          <a:lstStyle/>
          <a:p>
            <a:pPr indent="0" marL="0">
              <a:buNone/>
            </a:pPr>
            <a:r>
              <a:rPr lang="en-US" sz="850" b="1" dirty="0">
                <a:solidFill>
                  <a:srgbClr val="8B5E3C"/>
                </a:solidFill>
              </a:rPr>
              <a:t>TECHNICAL &amp; OPERATIONAL BOUNDARIES</a:t>
            </a:r>
            <a:endParaRPr lang="en-US" sz="850" dirty="0"/>
          </a:p>
        </p:txBody>
      </p:sp>
      <p:sp>
        <p:nvSpPr>
          <p:cNvPr id="34" name="Text 31"/>
          <p:cNvSpPr/>
          <p:nvPr/>
        </p:nvSpPr>
        <p:spPr>
          <a:xfrm>
            <a:off x="1005840" y="5669280"/>
            <a:ext cx="10241280" cy="41148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Platform: Web-based, responsive across Desktop, Tablet &amp; Mobile browsers • Target Environment: Universiti Poly-Tech Malaysia (UPTM) • Cloud Hosting: Publicly accessible Apache/PHP/MySQL deployment • Security: Bcrypt password hashing, session tokens &amp; PDO prepared queries.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METHODOLOGY</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Development Methodology: Agile Framework</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Iterative 5-sprint lifecycle facilitating rapid prototyping and continuous feedback</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7 of 20 | Nursyafiqah Zulaikha</a:t>
            </a:r>
            <a:endParaRPr lang="en-US" sz="800" dirty="0"/>
          </a:p>
        </p:txBody>
      </p:sp>
      <p:sp>
        <p:nvSpPr>
          <p:cNvPr id="12" name="Shape 9"/>
          <p:cNvSpPr/>
          <p:nvPr/>
        </p:nvSpPr>
        <p:spPr>
          <a:xfrm>
            <a:off x="731520" y="1463040"/>
            <a:ext cx="5212080" cy="804672"/>
          </a:xfrm>
          <a:prstGeom prst="roundRect">
            <a:avLst>
              <a:gd name="adj" fmla="val 9091"/>
            </a:avLst>
          </a:prstGeom>
          <a:solidFill>
            <a:srgbClr val="FFFFFF"/>
          </a:solidFill>
          <a:ln w="15240">
            <a:solidFill>
              <a:srgbClr val="E8DFD5"/>
            </a:solidFill>
            <a:prstDash val="solid"/>
          </a:ln>
        </p:spPr>
      </p:sp>
      <p:sp>
        <p:nvSpPr>
          <p:cNvPr id="13" name="Shape 10"/>
          <p:cNvSpPr/>
          <p:nvPr/>
        </p:nvSpPr>
        <p:spPr>
          <a:xfrm>
            <a:off x="914400" y="1591056"/>
            <a:ext cx="548640" cy="548640"/>
          </a:xfrm>
          <a:prstGeom prst="roundRect">
            <a:avLst>
              <a:gd name="adj" fmla="val 10000"/>
            </a:avLst>
          </a:prstGeom>
          <a:solidFill>
            <a:srgbClr val="8B5E3C"/>
          </a:solidFill>
          <a:ln w="12700">
            <a:solidFill>
              <a:srgbClr val="8B5E3C"/>
            </a:solidFill>
            <a:prstDash val="solid"/>
          </a:ln>
        </p:spPr>
      </p:sp>
      <p:sp>
        <p:nvSpPr>
          <p:cNvPr id="14" name="Text 11"/>
          <p:cNvSpPr/>
          <p:nvPr/>
        </p:nvSpPr>
        <p:spPr>
          <a:xfrm>
            <a:off x="914400" y="1591056"/>
            <a:ext cx="548640" cy="548640"/>
          </a:xfrm>
          <a:prstGeom prst="rect">
            <a:avLst/>
          </a:prstGeom>
          <a:noFill/>
          <a:ln/>
        </p:spPr>
        <p:txBody>
          <a:bodyPr wrap="square" rtlCol="0" anchor="ctr"/>
          <a:lstStyle/>
          <a:p>
            <a:pPr algn="ctr" indent="0" marL="0">
              <a:buNone/>
            </a:pPr>
            <a:r>
              <a:rPr lang="en-US" sz="1100" b="1" dirty="0">
                <a:solidFill>
                  <a:srgbClr val="FFFFFF"/>
                </a:solidFill>
              </a:rPr>
              <a:t>S1</a:t>
            </a:r>
            <a:endParaRPr lang="en-US" sz="1100" dirty="0"/>
          </a:p>
        </p:txBody>
      </p:sp>
      <p:sp>
        <p:nvSpPr>
          <p:cNvPr id="15" name="Text 12"/>
          <p:cNvSpPr/>
          <p:nvPr/>
        </p:nvSpPr>
        <p:spPr>
          <a:xfrm>
            <a:off x="1600200" y="1572768"/>
            <a:ext cx="4206240" cy="274320"/>
          </a:xfrm>
          <a:prstGeom prst="rect">
            <a:avLst/>
          </a:prstGeom>
          <a:noFill/>
          <a:ln/>
        </p:spPr>
        <p:txBody>
          <a:bodyPr wrap="square" rtlCol="0" anchor="ctr"/>
          <a:lstStyle/>
          <a:p>
            <a:pPr indent="0" marL="0">
              <a:buNone/>
            </a:pPr>
            <a:r>
              <a:rPr lang="en-US" sz="1050" b="1" dirty="0">
                <a:solidFill>
                  <a:srgbClr val="5C3D28"/>
                </a:solidFill>
                <a:latin typeface="Arial" pitchFamily="34" charset="0"/>
                <a:ea typeface="Arial" pitchFamily="34" charset="-122"/>
                <a:cs typeface="Arial" pitchFamily="34" charset="-120"/>
              </a:rPr>
              <a:t>Sprint 1: Planning &amp; Architecture</a:t>
            </a:r>
            <a:endParaRPr lang="en-US" sz="1050" dirty="0"/>
          </a:p>
        </p:txBody>
      </p:sp>
      <p:sp>
        <p:nvSpPr>
          <p:cNvPr id="16" name="Text 13"/>
          <p:cNvSpPr/>
          <p:nvPr/>
        </p:nvSpPr>
        <p:spPr>
          <a:xfrm>
            <a:off x="1600200" y="1847088"/>
            <a:ext cx="420624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Requirements analysis, survey data synthesis, and 3NF database schema modeling.</a:t>
            </a:r>
            <a:endParaRPr lang="en-US" sz="850" dirty="0"/>
          </a:p>
        </p:txBody>
      </p:sp>
      <p:sp>
        <p:nvSpPr>
          <p:cNvPr id="17" name="Shape 14"/>
          <p:cNvSpPr/>
          <p:nvPr/>
        </p:nvSpPr>
        <p:spPr>
          <a:xfrm>
            <a:off x="731520" y="2377440"/>
            <a:ext cx="5212080" cy="804672"/>
          </a:xfrm>
          <a:prstGeom prst="roundRect">
            <a:avLst>
              <a:gd name="adj" fmla="val 9091"/>
            </a:avLst>
          </a:prstGeom>
          <a:solidFill>
            <a:srgbClr val="FFFFFF"/>
          </a:solidFill>
          <a:ln w="15240">
            <a:solidFill>
              <a:srgbClr val="E8DFD5"/>
            </a:solidFill>
            <a:prstDash val="solid"/>
          </a:ln>
        </p:spPr>
      </p:sp>
      <p:sp>
        <p:nvSpPr>
          <p:cNvPr id="18" name="Shape 15"/>
          <p:cNvSpPr/>
          <p:nvPr/>
        </p:nvSpPr>
        <p:spPr>
          <a:xfrm>
            <a:off x="914400" y="2505456"/>
            <a:ext cx="548640" cy="548640"/>
          </a:xfrm>
          <a:prstGeom prst="roundRect">
            <a:avLst>
              <a:gd name="adj" fmla="val 10000"/>
            </a:avLst>
          </a:prstGeom>
          <a:solidFill>
            <a:srgbClr val="8B5E3C"/>
          </a:solidFill>
          <a:ln w="12700">
            <a:solidFill>
              <a:srgbClr val="8B5E3C"/>
            </a:solidFill>
            <a:prstDash val="solid"/>
          </a:ln>
        </p:spPr>
      </p:sp>
      <p:sp>
        <p:nvSpPr>
          <p:cNvPr id="19" name="Text 16"/>
          <p:cNvSpPr/>
          <p:nvPr/>
        </p:nvSpPr>
        <p:spPr>
          <a:xfrm>
            <a:off x="914400" y="2505456"/>
            <a:ext cx="548640" cy="548640"/>
          </a:xfrm>
          <a:prstGeom prst="rect">
            <a:avLst/>
          </a:prstGeom>
          <a:noFill/>
          <a:ln/>
        </p:spPr>
        <p:txBody>
          <a:bodyPr wrap="square" rtlCol="0" anchor="ctr"/>
          <a:lstStyle/>
          <a:p>
            <a:pPr algn="ctr" indent="0" marL="0">
              <a:buNone/>
            </a:pPr>
            <a:r>
              <a:rPr lang="en-US" sz="1100" b="1" dirty="0">
                <a:solidFill>
                  <a:srgbClr val="FFFFFF"/>
                </a:solidFill>
              </a:rPr>
              <a:t>S2</a:t>
            </a:r>
            <a:endParaRPr lang="en-US" sz="1100" dirty="0"/>
          </a:p>
        </p:txBody>
      </p:sp>
      <p:sp>
        <p:nvSpPr>
          <p:cNvPr id="20" name="Text 17"/>
          <p:cNvSpPr/>
          <p:nvPr/>
        </p:nvSpPr>
        <p:spPr>
          <a:xfrm>
            <a:off x="1600200" y="2487168"/>
            <a:ext cx="4206240" cy="274320"/>
          </a:xfrm>
          <a:prstGeom prst="rect">
            <a:avLst/>
          </a:prstGeom>
          <a:noFill/>
          <a:ln/>
        </p:spPr>
        <p:txBody>
          <a:bodyPr wrap="square" rtlCol="0" anchor="ctr"/>
          <a:lstStyle/>
          <a:p>
            <a:pPr indent="0" marL="0">
              <a:buNone/>
            </a:pPr>
            <a:r>
              <a:rPr lang="en-US" sz="1050" b="1" dirty="0">
                <a:solidFill>
                  <a:srgbClr val="5C3D28"/>
                </a:solidFill>
                <a:latin typeface="Arial" pitchFamily="34" charset="0"/>
                <a:ea typeface="Arial" pitchFamily="34" charset="-122"/>
                <a:cs typeface="Arial" pitchFamily="34" charset="-120"/>
              </a:rPr>
              <a:t>Sprint 2: Auth &amp; Inventory CRUD</a:t>
            </a:r>
            <a:endParaRPr lang="en-US" sz="1050" dirty="0"/>
          </a:p>
        </p:txBody>
      </p:sp>
      <p:sp>
        <p:nvSpPr>
          <p:cNvPr id="21" name="Text 18"/>
          <p:cNvSpPr/>
          <p:nvPr/>
        </p:nvSpPr>
        <p:spPr>
          <a:xfrm>
            <a:off x="1600200" y="2761488"/>
            <a:ext cx="420624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User registration, role-based session middleware, and equipment stock management.</a:t>
            </a:r>
            <a:endParaRPr lang="en-US" sz="850" dirty="0"/>
          </a:p>
        </p:txBody>
      </p:sp>
      <p:sp>
        <p:nvSpPr>
          <p:cNvPr id="22" name="Shape 19"/>
          <p:cNvSpPr/>
          <p:nvPr/>
        </p:nvSpPr>
        <p:spPr>
          <a:xfrm>
            <a:off x="731520" y="3291840"/>
            <a:ext cx="5212080" cy="804672"/>
          </a:xfrm>
          <a:prstGeom prst="roundRect">
            <a:avLst>
              <a:gd name="adj" fmla="val 9091"/>
            </a:avLst>
          </a:prstGeom>
          <a:solidFill>
            <a:srgbClr val="FFFFFF"/>
          </a:solidFill>
          <a:ln w="15240">
            <a:solidFill>
              <a:srgbClr val="E8DFD5"/>
            </a:solidFill>
            <a:prstDash val="solid"/>
          </a:ln>
        </p:spPr>
      </p:sp>
      <p:sp>
        <p:nvSpPr>
          <p:cNvPr id="23" name="Shape 20"/>
          <p:cNvSpPr/>
          <p:nvPr/>
        </p:nvSpPr>
        <p:spPr>
          <a:xfrm>
            <a:off x="914400" y="3419856"/>
            <a:ext cx="548640" cy="548640"/>
          </a:xfrm>
          <a:prstGeom prst="roundRect">
            <a:avLst>
              <a:gd name="adj" fmla="val 10000"/>
            </a:avLst>
          </a:prstGeom>
          <a:solidFill>
            <a:srgbClr val="8B5E3C"/>
          </a:solidFill>
          <a:ln w="12700">
            <a:solidFill>
              <a:srgbClr val="8B5E3C"/>
            </a:solidFill>
            <a:prstDash val="solid"/>
          </a:ln>
        </p:spPr>
      </p:sp>
      <p:sp>
        <p:nvSpPr>
          <p:cNvPr id="24" name="Text 21"/>
          <p:cNvSpPr/>
          <p:nvPr/>
        </p:nvSpPr>
        <p:spPr>
          <a:xfrm>
            <a:off x="914400" y="3419856"/>
            <a:ext cx="548640" cy="548640"/>
          </a:xfrm>
          <a:prstGeom prst="rect">
            <a:avLst/>
          </a:prstGeom>
          <a:noFill/>
          <a:ln/>
        </p:spPr>
        <p:txBody>
          <a:bodyPr wrap="square" rtlCol="0" anchor="ctr"/>
          <a:lstStyle/>
          <a:p>
            <a:pPr algn="ctr" indent="0" marL="0">
              <a:buNone/>
            </a:pPr>
            <a:r>
              <a:rPr lang="en-US" sz="1100" b="1" dirty="0">
                <a:solidFill>
                  <a:srgbClr val="FFFFFF"/>
                </a:solidFill>
              </a:rPr>
              <a:t>S3</a:t>
            </a:r>
            <a:endParaRPr lang="en-US" sz="1100" dirty="0"/>
          </a:p>
        </p:txBody>
      </p:sp>
      <p:sp>
        <p:nvSpPr>
          <p:cNvPr id="25" name="Text 22"/>
          <p:cNvSpPr/>
          <p:nvPr/>
        </p:nvSpPr>
        <p:spPr>
          <a:xfrm>
            <a:off x="1600200" y="3401568"/>
            <a:ext cx="4206240" cy="274320"/>
          </a:xfrm>
          <a:prstGeom prst="rect">
            <a:avLst/>
          </a:prstGeom>
          <a:noFill/>
          <a:ln/>
        </p:spPr>
        <p:txBody>
          <a:bodyPr wrap="square" rtlCol="0" anchor="ctr"/>
          <a:lstStyle/>
          <a:p>
            <a:pPr indent="0" marL="0">
              <a:buNone/>
            </a:pPr>
            <a:r>
              <a:rPr lang="en-US" sz="1050" b="1" dirty="0">
                <a:solidFill>
                  <a:srgbClr val="5C3D28"/>
                </a:solidFill>
                <a:latin typeface="Arial" pitchFamily="34" charset="0"/>
                <a:ea typeface="Arial" pitchFamily="34" charset="-122"/>
                <a:cs typeface="Arial" pitchFamily="34" charset="-120"/>
              </a:rPr>
              <a:t>Sprint 3: Booking &amp; Conflict Engine</a:t>
            </a:r>
            <a:endParaRPr lang="en-US" sz="1050" dirty="0"/>
          </a:p>
        </p:txBody>
      </p:sp>
      <p:sp>
        <p:nvSpPr>
          <p:cNvPr id="26" name="Text 23"/>
          <p:cNvSpPr/>
          <p:nvPr/>
        </p:nvSpPr>
        <p:spPr>
          <a:xfrm>
            <a:off x="1600200" y="3675888"/>
            <a:ext cx="420624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Real-time overlap algorithms, package bundling, and approval workflow triggers.</a:t>
            </a:r>
            <a:endParaRPr lang="en-US" sz="850" dirty="0"/>
          </a:p>
        </p:txBody>
      </p:sp>
      <p:sp>
        <p:nvSpPr>
          <p:cNvPr id="27" name="Shape 24"/>
          <p:cNvSpPr/>
          <p:nvPr/>
        </p:nvSpPr>
        <p:spPr>
          <a:xfrm>
            <a:off x="731520" y="4206240"/>
            <a:ext cx="5212080" cy="804672"/>
          </a:xfrm>
          <a:prstGeom prst="roundRect">
            <a:avLst>
              <a:gd name="adj" fmla="val 9091"/>
            </a:avLst>
          </a:prstGeom>
          <a:solidFill>
            <a:srgbClr val="FFFFFF"/>
          </a:solidFill>
          <a:ln w="15240">
            <a:solidFill>
              <a:srgbClr val="E8DFD5"/>
            </a:solidFill>
            <a:prstDash val="solid"/>
          </a:ln>
        </p:spPr>
      </p:sp>
      <p:sp>
        <p:nvSpPr>
          <p:cNvPr id="28" name="Shape 25"/>
          <p:cNvSpPr/>
          <p:nvPr/>
        </p:nvSpPr>
        <p:spPr>
          <a:xfrm>
            <a:off x="914400" y="4334256"/>
            <a:ext cx="548640" cy="548640"/>
          </a:xfrm>
          <a:prstGeom prst="roundRect">
            <a:avLst>
              <a:gd name="adj" fmla="val 10000"/>
            </a:avLst>
          </a:prstGeom>
          <a:solidFill>
            <a:srgbClr val="8B5E3C"/>
          </a:solidFill>
          <a:ln w="12700">
            <a:solidFill>
              <a:srgbClr val="8B5E3C"/>
            </a:solidFill>
            <a:prstDash val="solid"/>
          </a:ln>
        </p:spPr>
      </p:sp>
      <p:sp>
        <p:nvSpPr>
          <p:cNvPr id="29" name="Text 26"/>
          <p:cNvSpPr/>
          <p:nvPr/>
        </p:nvSpPr>
        <p:spPr>
          <a:xfrm>
            <a:off x="914400" y="4334256"/>
            <a:ext cx="548640" cy="548640"/>
          </a:xfrm>
          <a:prstGeom prst="rect">
            <a:avLst/>
          </a:prstGeom>
          <a:noFill/>
          <a:ln/>
        </p:spPr>
        <p:txBody>
          <a:bodyPr wrap="square" rtlCol="0" anchor="ctr"/>
          <a:lstStyle/>
          <a:p>
            <a:pPr algn="ctr" indent="0" marL="0">
              <a:buNone/>
            </a:pPr>
            <a:r>
              <a:rPr lang="en-US" sz="1100" b="1" dirty="0">
                <a:solidFill>
                  <a:srgbClr val="FFFFFF"/>
                </a:solidFill>
              </a:rPr>
              <a:t>S4</a:t>
            </a:r>
            <a:endParaRPr lang="en-US" sz="1100" dirty="0"/>
          </a:p>
        </p:txBody>
      </p:sp>
      <p:sp>
        <p:nvSpPr>
          <p:cNvPr id="30" name="Text 27"/>
          <p:cNvSpPr/>
          <p:nvPr/>
        </p:nvSpPr>
        <p:spPr>
          <a:xfrm>
            <a:off x="1600200" y="4315968"/>
            <a:ext cx="4206240" cy="274320"/>
          </a:xfrm>
          <a:prstGeom prst="rect">
            <a:avLst/>
          </a:prstGeom>
          <a:noFill/>
          <a:ln/>
        </p:spPr>
        <p:txBody>
          <a:bodyPr wrap="square" rtlCol="0" anchor="ctr"/>
          <a:lstStyle/>
          <a:p>
            <a:pPr indent="0" marL="0">
              <a:buNone/>
            </a:pPr>
            <a:r>
              <a:rPr lang="en-US" sz="1050" b="1" dirty="0">
                <a:solidFill>
                  <a:srgbClr val="5C3D28"/>
                </a:solidFill>
                <a:latin typeface="Arial" pitchFamily="34" charset="0"/>
                <a:ea typeface="Arial" pitchFamily="34" charset="-122"/>
                <a:cs typeface="Arial" pitchFamily="34" charset="-120"/>
              </a:rPr>
              <a:t>Sprint 4: Inspection &amp; Damage Engine</a:t>
            </a:r>
            <a:endParaRPr lang="en-US" sz="1050" dirty="0"/>
          </a:p>
        </p:txBody>
      </p:sp>
      <p:sp>
        <p:nvSpPr>
          <p:cNvPr id="31" name="Text 28"/>
          <p:cNvSpPr/>
          <p:nvPr/>
        </p:nvSpPr>
        <p:spPr>
          <a:xfrm>
            <a:off x="1600200" y="4590288"/>
            <a:ext cx="420624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Return check-in, 4-tier defect grading, fine calculation, and PDF invoice generation.</a:t>
            </a:r>
            <a:endParaRPr lang="en-US" sz="850" dirty="0"/>
          </a:p>
        </p:txBody>
      </p:sp>
      <p:sp>
        <p:nvSpPr>
          <p:cNvPr id="32" name="Shape 29"/>
          <p:cNvSpPr/>
          <p:nvPr/>
        </p:nvSpPr>
        <p:spPr>
          <a:xfrm>
            <a:off x="731520" y="5120640"/>
            <a:ext cx="5212080" cy="804672"/>
          </a:xfrm>
          <a:prstGeom prst="roundRect">
            <a:avLst>
              <a:gd name="adj" fmla="val 9091"/>
            </a:avLst>
          </a:prstGeom>
          <a:solidFill>
            <a:srgbClr val="FFFFFF"/>
          </a:solidFill>
          <a:ln w="15240">
            <a:solidFill>
              <a:srgbClr val="E8DFD5"/>
            </a:solidFill>
            <a:prstDash val="solid"/>
          </a:ln>
        </p:spPr>
      </p:sp>
      <p:sp>
        <p:nvSpPr>
          <p:cNvPr id="33" name="Shape 30"/>
          <p:cNvSpPr/>
          <p:nvPr/>
        </p:nvSpPr>
        <p:spPr>
          <a:xfrm>
            <a:off x="914400" y="5248656"/>
            <a:ext cx="548640" cy="548640"/>
          </a:xfrm>
          <a:prstGeom prst="roundRect">
            <a:avLst>
              <a:gd name="adj" fmla="val 10000"/>
            </a:avLst>
          </a:prstGeom>
          <a:solidFill>
            <a:srgbClr val="8B5E3C"/>
          </a:solidFill>
          <a:ln w="12700">
            <a:solidFill>
              <a:srgbClr val="8B5E3C"/>
            </a:solidFill>
            <a:prstDash val="solid"/>
          </a:ln>
        </p:spPr>
      </p:sp>
      <p:sp>
        <p:nvSpPr>
          <p:cNvPr id="34" name="Text 31"/>
          <p:cNvSpPr/>
          <p:nvPr/>
        </p:nvSpPr>
        <p:spPr>
          <a:xfrm>
            <a:off x="914400" y="5248656"/>
            <a:ext cx="548640" cy="548640"/>
          </a:xfrm>
          <a:prstGeom prst="rect">
            <a:avLst/>
          </a:prstGeom>
          <a:noFill/>
          <a:ln/>
        </p:spPr>
        <p:txBody>
          <a:bodyPr wrap="square" rtlCol="0" anchor="ctr"/>
          <a:lstStyle/>
          <a:p>
            <a:pPr algn="ctr" indent="0" marL="0">
              <a:buNone/>
            </a:pPr>
            <a:r>
              <a:rPr lang="en-US" sz="1100" b="1" dirty="0">
                <a:solidFill>
                  <a:srgbClr val="FFFFFF"/>
                </a:solidFill>
              </a:rPr>
              <a:t>S5</a:t>
            </a:r>
            <a:endParaRPr lang="en-US" sz="1100" dirty="0"/>
          </a:p>
        </p:txBody>
      </p:sp>
      <p:sp>
        <p:nvSpPr>
          <p:cNvPr id="35" name="Text 32"/>
          <p:cNvSpPr/>
          <p:nvPr/>
        </p:nvSpPr>
        <p:spPr>
          <a:xfrm>
            <a:off x="1600200" y="5230368"/>
            <a:ext cx="4206240" cy="274320"/>
          </a:xfrm>
          <a:prstGeom prst="rect">
            <a:avLst/>
          </a:prstGeom>
          <a:noFill/>
          <a:ln/>
        </p:spPr>
        <p:txBody>
          <a:bodyPr wrap="square" rtlCol="0" anchor="ctr"/>
          <a:lstStyle/>
          <a:p>
            <a:pPr indent="0" marL="0">
              <a:buNone/>
            </a:pPr>
            <a:r>
              <a:rPr lang="en-US" sz="1050" b="1" dirty="0">
                <a:solidFill>
                  <a:srgbClr val="5C3D28"/>
                </a:solidFill>
                <a:latin typeface="Arial" pitchFamily="34" charset="0"/>
                <a:ea typeface="Arial" pitchFamily="34" charset="-122"/>
                <a:cs typeface="Arial" pitchFamily="34" charset="-120"/>
              </a:rPr>
              <a:t>Sprint 5: Cloud Deployment &amp; UAT</a:t>
            </a:r>
            <a:endParaRPr lang="en-US" sz="1050" dirty="0"/>
          </a:p>
        </p:txBody>
      </p:sp>
      <p:sp>
        <p:nvSpPr>
          <p:cNvPr id="36" name="Text 33"/>
          <p:cNvSpPr/>
          <p:nvPr/>
        </p:nvSpPr>
        <p:spPr>
          <a:xfrm>
            <a:off x="1600200" y="5504688"/>
            <a:ext cx="420624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InfinityFree hosting rollout, cross-browser optimization, and formal 30-user UAT.</a:t>
            </a:r>
            <a:endParaRPr lang="en-US" sz="850" dirty="0"/>
          </a:p>
        </p:txBody>
      </p:sp>
      <p:sp>
        <p:nvSpPr>
          <p:cNvPr id="37" name="Shape 34"/>
          <p:cNvSpPr/>
          <p:nvPr/>
        </p:nvSpPr>
        <p:spPr>
          <a:xfrm>
            <a:off x="6245352" y="1463040"/>
            <a:ext cx="5212080" cy="4663440"/>
          </a:xfrm>
          <a:prstGeom prst="roundRect">
            <a:avLst>
              <a:gd name="adj" fmla="val 2353"/>
            </a:avLst>
          </a:prstGeom>
          <a:solidFill>
            <a:srgbClr val="FFFFFF"/>
          </a:solidFill>
          <a:ln w="15240">
            <a:solidFill>
              <a:srgbClr val="E8DFD5"/>
            </a:solidFill>
            <a:prstDash val="solid"/>
          </a:ln>
        </p:spPr>
      </p:sp>
      <p:sp>
        <p:nvSpPr>
          <p:cNvPr id="38" name="Text 35"/>
          <p:cNvSpPr/>
          <p:nvPr/>
        </p:nvSpPr>
        <p:spPr>
          <a:xfrm>
            <a:off x="6519672" y="1645920"/>
            <a:ext cx="4663440" cy="274320"/>
          </a:xfrm>
          <a:prstGeom prst="rect">
            <a:avLst/>
          </a:prstGeom>
          <a:noFill/>
          <a:ln/>
        </p:spPr>
        <p:txBody>
          <a:bodyPr wrap="square" rtlCol="0" anchor="ctr"/>
          <a:lstStyle/>
          <a:p>
            <a:pPr indent="0" marL="0">
              <a:buNone/>
            </a:pPr>
            <a:r>
              <a:rPr lang="en-US" sz="1000" b="1" dirty="0">
                <a:solidFill>
                  <a:srgbClr val="8B5E3C"/>
                </a:solidFill>
              </a:rPr>
              <a:t>AGILE SCRUM ITERATIVE PROCESS</a:t>
            </a:r>
            <a:endParaRPr lang="en-US" sz="1000" dirty="0"/>
          </a:p>
        </p:txBody>
      </p:sp>
      <p:pic>
        <p:nvPicPr>
          <p:cNvPr id="39" name="Image 1" descr="C:\Users\User\.gemini\antigravity\scratch\smart_event_equipment\documentation\images\fig_3_1_agile_methodology.png">    </p:cNvPr>
          <p:cNvPicPr>
            <a:picLocks noChangeAspect="1"/>
          </p:cNvPicPr>
          <p:nvPr/>
        </p:nvPicPr>
        <p:blipFill>
          <a:blip r:embed="rId2"/>
          <a:srcRect l="0" r="0" t="0" b="0"/>
          <a:stretch/>
        </p:blipFill>
        <p:spPr>
          <a:xfrm>
            <a:off x="6519672" y="2011680"/>
            <a:ext cx="4663440" cy="2926080"/>
          </a:xfrm>
          <a:prstGeom prst="rect">
            <a:avLst/>
          </a:prstGeom>
        </p:spPr>
      </p:pic>
      <p:sp>
        <p:nvSpPr>
          <p:cNvPr id="40" name="Shape 36"/>
          <p:cNvSpPr/>
          <p:nvPr/>
        </p:nvSpPr>
        <p:spPr>
          <a:xfrm>
            <a:off x="6519672" y="5074920"/>
            <a:ext cx="4663440" cy="868680"/>
          </a:xfrm>
          <a:prstGeom prst="roundRect">
            <a:avLst>
              <a:gd name="adj" fmla="val 8421"/>
            </a:avLst>
          </a:prstGeom>
          <a:solidFill>
            <a:srgbClr val="F4EDE4"/>
          </a:solidFill>
          <a:ln w="12700">
            <a:solidFill>
              <a:srgbClr val="E8DFD5"/>
            </a:solidFill>
            <a:prstDash val="solid"/>
          </a:ln>
        </p:spPr>
      </p:sp>
      <p:sp>
        <p:nvSpPr>
          <p:cNvPr id="41" name="Text 37"/>
          <p:cNvSpPr/>
          <p:nvPr/>
        </p:nvSpPr>
        <p:spPr>
          <a:xfrm>
            <a:off x="6629400" y="5166360"/>
            <a:ext cx="4434840" cy="6858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Why Agile? Compared to traditional Waterfall, Agile allowed iterative sprint deliverables, regular supervisor reviews with Madam Jihadah, and continuous adjustment of booking algorithms based on early testing feedback.</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DESIGN</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System Architecture: UML Use Case Diagram</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Functional decomposition of student and administrator roles across the system boundary</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8 of 20 | Nursyafiqah Zulaikha</a:t>
            </a:r>
            <a:endParaRPr lang="en-US" sz="800" dirty="0"/>
          </a:p>
        </p:txBody>
      </p:sp>
      <p:sp>
        <p:nvSpPr>
          <p:cNvPr id="12" name="Shape 9"/>
          <p:cNvSpPr/>
          <p:nvPr/>
        </p:nvSpPr>
        <p:spPr>
          <a:xfrm>
            <a:off x="731520" y="1463040"/>
            <a:ext cx="4389120" cy="4663440"/>
          </a:xfrm>
          <a:prstGeom prst="roundRect">
            <a:avLst>
              <a:gd name="adj" fmla="val 2500"/>
            </a:avLst>
          </a:prstGeom>
          <a:solidFill>
            <a:srgbClr val="FFFFFF"/>
          </a:solidFill>
          <a:ln w="15240">
            <a:solidFill>
              <a:srgbClr val="E8DFD5"/>
            </a:solidFill>
            <a:prstDash val="solid"/>
          </a:ln>
        </p:spPr>
      </p:sp>
      <p:sp>
        <p:nvSpPr>
          <p:cNvPr id="13" name="Text 10"/>
          <p:cNvSpPr/>
          <p:nvPr/>
        </p:nvSpPr>
        <p:spPr>
          <a:xfrm>
            <a:off x="1005840" y="1645920"/>
            <a:ext cx="3840480" cy="274320"/>
          </a:xfrm>
          <a:prstGeom prst="rect">
            <a:avLst/>
          </a:prstGeom>
          <a:noFill/>
          <a:ln/>
        </p:spPr>
        <p:txBody>
          <a:bodyPr wrap="square" rtlCol="0" anchor="ctr"/>
          <a:lstStyle/>
          <a:p>
            <a:pPr indent="0" marL="0">
              <a:buNone/>
            </a:pPr>
            <a:r>
              <a:rPr lang="en-US" sz="1000" b="1" dirty="0">
                <a:solidFill>
                  <a:srgbClr val="8B5E3C"/>
                </a:solidFill>
              </a:rPr>
              <a:t>ACTORS &amp; USE CASE MAPPING</a:t>
            </a:r>
            <a:endParaRPr lang="en-US" sz="1000" dirty="0"/>
          </a:p>
        </p:txBody>
      </p:sp>
      <p:sp>
        <p:nvSpPr>
          <p:cNvPr id="14" name="Shape 11"/>
          <p:cNvSpPr/>
          <p:nvPr/>
        </p:nvSpPr>
        <p:spPr>
          <a:xfrm>
            <a:off x="1005840" y="2011680"/>
            <a:ext cx="3840480" cy="274320"/>
          </a:xfrm>
          <a:prstGeom prst="roundRect">
            <a:avLst>
              <a:gd name="adj" fmla="val 20000"/>
            </a:avLst>
          </a:prstGeom>
          <a:solidFill>
            <a:srgbClr val="FAEDCD"/>
          </a:solidFill>
          <a:ln w="12700">
            <a:solidFill>
              <a:srgbClr val="FAEDCD"/>
            </a:solidFill>
            <a:prstDash val="solid"/>
          </a:ln>
        </p:spPr>
      </p:sp>
      <p:sp>
        <p:nvSpPr>
          <p:cNvPr id="15" name="Text 12"/>
          <p:cNvSpPr/>
          <p:nvPr/>
        </p:nvSpPr>
        <p:spPr>
          <a:xfrm>
            <a:off x="1005840" y="2011680"/>
            <a:ext cx="3840480" cy="274320"/>
          </a:xfrm>
          <a:prstGeom prst="rect">
            <a:avLst/>
          </a:prstGeom>
          <a:noFill/>
          <a:ln/>
        </p:spPr>
        <p:txBody>
          <a:bodyPr wrap="square" rtlCol="0" anchor="ctr"/>
          <a:lstStyle/>
          <a:p>
            <a:pPr algn="ctr" indent="0" marL="0">
              <a:buNone/>
            </a:pPr>
            <a:r>
              <a:rPr lang="en-US" sz="900" b="1" dirty="0">
                <a:solidFill>
                  <a:srgbClr val="7F5539"/>
                </a:solidFill>
              </a:rPr>
              <a:t>Student Actor (User)</a:t>
            </a:r>
            <a:endParaRPr lang="en-US" sz="900" dirty="0"/>
          </a:p>
        </p:txBody>
      </p:sp>
      <p:sp>
        <p:nvSpPr>
          <p:cNvPr id="16" name="Text 13"/>
          <p:cNvSpPr/>
          <p:nvPr/>
        </p:nvSpPr>
        <p:spPr>
          <a:xfrm>
            <a:off x="1097280" y="2377440"/>
            <a:ext cx="3657600" cy="256032"/>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UC1: Register &amp; Authenticate</a:t>
            </a:r>
            <a:endParaRPr lang="en-US" sz="850" dirty="0"/>
          </a:p>
        </p:txBody>
      </p:sp>
      <p:sp>
        <p:nvSpPr>
          <p:cNvPr id="17" name="Text 14"/>
          <p:cNvSpPr/>
          <p:nvPr/>
        </p:nvSpPr>
        <p:spPr>
          <a:xfrm>
            <a:off x="1097280" y="2633472"/>
            <a:ext cx="3657600" cy="256032"/>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UC2: Browse &amp; Filter Catalog</a:t>
            </a:r>
            <a:endParaRPr lang="en-US" sz="850" dirty="0"/>
          </a:p>
        </p:txBody>
      </p:sp>
      <p:sp>
        <p:nvSpPr>
          <p:cNvPr id="18" name="Text 15"/>
          <p:cNvSpPr/>
          <p:nvPr/>
        </p:nvSpPr>
        <p:spPr>
          <a:xfrm>
            <a:off x="1097280" y="2889504"/>
            <a:ext cx="3657600" cy="256032"/>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UC3: Reserve Single / Bundled Package</a:t>
            </a:r>
            <a:endParaRPr lang="en-US" sz="850" dirty="0"/>
          </a:p>
        </p:txBody>
      </p:sp>
      <p:sp>
        <p:nvSpPr>
          <p:cNvPr id="19" name="Text 16"/>
          <p:cNvSpPr/>
          <p:nvPr/>
        </p:nvSpPr>
        <p:spPr>
          <a:xfrm>
            <a:off x="1097280" y="3145536"/>
            <a:ext cx="3657600" cy="256032"/>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UC4: View Booking Status &amp; Slips</a:t>
            </a:r>
            <a:endParaRPr lang="en-US" sz="850" dirty="0"/>
          </a:p>
        </p:txBody>
      </p:sp>
      <p:sp>
        <p:nvSpPr>
          <p:cNvPr id="20" name="Shape 17"/>
          <p:cNvSpPr/>
          <p:nvPr/>
        </p:nvSpPr>
        <p:spPr>
          <a:xfrm>
            <a:off x="1005840" y="3538728"/>
            <a:ext cx="3840480" cy="274320"/>
          </a:xfrm>
          <a:prstGeom prst="roundRect">
            <a:avLst>
              <a:gd name="adj" fmla="val 20000"/>
            </a:avLst>
          </a:prstGeom>
          <a:solidFill>
            <a:srgbClr val="FAEDCD"/>
          </a:solidFill>
          <a:ln w="12700">
            <a:solidFill>
              <a:srgbClr val="FAEDCD"/>
            </a:solidFill>
            <a:prstDash val="solid"/>
          </a:ln>
        </p:spPr>
      </p:sp>
      <p:sp>
        <p:nvSpPr>
          <p:cNvPr id="21" name="Text 18"/>
          <p:cNvSpPr/>
          <p:nvPr/>
        </p:nvSpPr>
        <p:spPr>
          <a:xfrm>
            <a:off x="1005840" y="3538728"/>
            <a:ext cx="3840480" cy="274320"/>
          </a:xfrm>
          <a:prstGeom prst="rect">
            <a:avLst/>
          </a:prstGeom>
          <a:noFill/>
          <a:ln/>
        </p:spPr>
        <p:txBody>
          <a:bodyPr wrap="square" rtlCol="0" anchor="ctr"/>
          <a:lstStyle/>
          <a:p>
            <a:pPr algn="ctr" indent="0" marL="0">
              <a:buNone/>
            </a:pPr>
            <a:r>
              <a:rPr lang="en-US" sz="900" b="1" dirty="0">
                <a:solidFill>
                  <a:srgbClr val="7F5539"/>
                </a:solidFill>
              </a:rPr>
              <a:t>Admin Actor (Officer)</a:t>
            </a:r>
            <a:endParaRPr lang="en-US" sz="900" dirty="0"/>
          </a:p>
        </p:txBody>
      </p:sp>
      <p:sp>
        <p:nvSpPr>
          <p:cNvPr id="22" name="Text 19"/>
          <p:cNvSpPr/>
          <p:nvPr/>
        </p:nvSpPr>
        <p:spPr>
          <a:xfrm>
            <a:off x="1097280" y="3904488"/>
            <a:ext cx="3657600" cy="256032"/>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UC5: Manage Equipment Inventory (CRUD)</a:t>
            </a:r>
            <a:endParaRPr lang="en-US" sz="850" dirty="0"/>
          </a:p>
        </p:txBody>
      </p:sp>
      <p:sp>
        <p:nvSpPr>
          <p:cNvPr id="23" name="Text 20"/>
          <p:cNvSpPr/>
          <p:nvPr/>
        </p:nvSpPr>
        <p:spPr>
          <a:xfrm>
            <a:off x="1097280" y="4160520"/>
            <a:ext cx="3657600" cy="256032"/>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UC6: Manage Event Packages</a:t>
            </a:r>
            <a:endParaRPr lang="en-US" sz="850" dirty="0"/>
          </a:p>
        </p:txBody>
      </p:sp>
      <p:sp>
        <p:nvSpPr>
          <p:cNvPr id="24" name="Text 21"/>
          <p:cNvSpPr/>
          <p:nvPr/>
        </p:nvSpPr>
        <p:spPr>
          <a:xfrm>
            <a:off x="1097280" y="4416552"/>
            <a:ext cx="3657600" cy="256032"/>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UC7: Review, Approve / Reject Bookings</a:t>
            </a:r>
            <a:endParaRPr lang="en-US" sz="850" dirty="0"/>
          </a:p>
        </p:txBody>
      </p:sp>
      <p:sp>
        <p:nvSpPr>
          <p:cNvPr id="25" name="Text 22"/>
          <p:cNvSpPr/>
          <p:nvPr/>
        </p:nvSpPr>
        <p:spPr>
          <a:xfrm>
            <a:off x="1097280" y="4672584"/>
            <a:ext cx="3657600" cy="256032"/>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UC8: Return Inspection &amp; Damage Logger</a:t>
            </a:r>
            <a:endParaRPr lang="en-US" sz="850" dirty="0"/>
          </a:p>
        </p:txBody>
      </p:sp>
      <p:sp>
        <p:nvSpPr>
          <p:cNvPr id="26" name="Text 23"/>
          <p:cNvSpPr/>
          <p:nvPr/>
        </p:nvSpPr>
        <p:spPr>
          <a:xfrm>
            <a:off x="1097280" y="4928616"/>
            <a:ext cx="3657600" cy="256032"/>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UC9: Generate Analytical PDF Reports</a:t>
            </a:r>
            <a:endParaRPr lang="en-US" sz="850" dirty="0"/>
          </a:p>
        </p:txBody>
      </p:sp>
      <p:sp>
        <p:nvSpPr>
          <p:cNvPr id="27" name="Shape 24"/>
          <p:cNvSpPr/>
          <p:nvPr/>
        </p:nvSpPr>
        <p:spPr>
          <a:xfrm>
            <a:off x="1005840" y="5212080"/>
            <a:ext cx="3840480" cy="731520"/>
          </a:xfrm>
          <a:prstGeom prst="roundRect">
            <a:avLst>
              <a:gd name="adj" fmla="val 10000"/>
            </a:avLst>
          </a:prstGeom>
          <a:solidFill>
            <a:srgbClr val="F4EDE4"/>
          </a:solidFill>
          <a:ln w="12700">
            <a:solidFill>
              <a:srgbClr val="E8DFD5"/>
            </a:solidFill>
            <a:prstDash val="solid"/>
          </a:ln>
        </p:spPr>
      </p:sp>
      <p:sp>
        <p:nvSpPr>
          <p:cNvPr id="28" name="Text 25"/>
          <p:cNvSpPr/>
          <p:nvPr/>
        </p:nvSpPr>
        <p:spPr>
          <a:xfrm>
            <a:off x="1097280" y="5285232"/>
            <a:ext cx="3657600" cy="59436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System Boundary Integrity: Role-Based Access Control (RBAC) middleware guarantees students cannot access admin routes, while admins retain complete audit oversight.</a:t>
            </a:r>
            <a:endParaRPr lang="en-US" sz="800" dirty="0"/>
          </a:p>
        </p:txBody>
      </p:sp>
      <p:sp>
        <p:nvSpPr>
          <p:cNvPr id="29" name="Shape 26"/>
          <p:cNvSpPr/>
          <p:nvPr/>
        </p:nvSpPr>
        <p:spPr>
          <a:xfrm>
            <a:off x="5394960" y="1463040"/>
            <a:ext cx="6062472" cy="4663440"/>
          </a:xfrm>
          <a:prstGeom prst="roundRect">
            <a:avLst>
              <a:gd name="adj" fmla="val 2353"/>
            </a:avLst>
          </a:prstGeom>
          <a:solidFill>
            <a:srgbClr val="FFFFFF"/>
          </a:solidFill>
          <a:ln w="15240">
            <a:solidFill>
              <a:srgbClr val="E8DFD5"/>
            </a:solidFill>
            <a:prstDash val="solid"/>
          </a:ln>
        </p:spPr>
      </p:sp>
      <p:sp>
        <p:nvSpPr>
          <p:cNvPr id="30" name="Text 27"/>
          <p:cNvSpPr/>
          <p:nvPr/>
        </p:nvSpPr>
        <p:spPr>
          <a:xfrm>
            <a:off x="5669280" y="1645920"/>
            <a:ext cx="5486400" cy="274320"/>
          </a:xfrm>
          <a:prstGeom prst="rect">
            <a:avLst/>
          </a:prstGeom>
          <a:noFill/>
          <a:ln/>
        </p:spPr>
        <p:txBody>
          <a:bodyPr wrap="square" rtlCol="0" anchor="ctr"/>
          <a:lstStyle/>
          <a:p>
            <a:pPr indent="0" marL="0">
              <a:buNone/>
            </a:pPr>
            <a:r>
              <a:rPr lang="en-US" sz="1000" b="1" dirty="0">
                <a:solidFill>
                  <a:srgbClr val="5C3D28"/>
                </a:solidFill>
              </a:rPr>
              <a:t>UML USE CASE DIAGRAM (FIGURE 3.112)</a:t>
            </a:r>
            <a:endParaRPr lang="en-US" sz="1000" dirty="0"/>
          </a:p>
        </p:txBody>
      </p:sp>
      <p:pic>
        <p:nvPicPr>
          <p:cNvPr id="31" name="Image 1" descr="C:\Users\User\.gemini\antigravity\scratch\smart_event_equipment\documentation\images\fig_3_112_use_case_diagram.png">    </p:cNvPr>
          <p:cNvPicPr>
            <a:picLocks noChangeAspect="1"/>
          </p:cNvPicPr>
          <p:nvPr/>
        </p:nvPicPr>
        <p:blipFill>
          <a:blip r:embed="rId2"/>
          <a:srcRect l="0" r="0" t="0" b="0"/>
          <a:stretch/>
        </p:blipFill>
        <p:spPr>
          <a:xfrm>
            <a:off x="5577840" y="1965960"/>
            <a:ext cx="5696712" cy="3977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WORKFLOW</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Operational Workflows: Activity Flowcharts</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Dual-perspective operational logic mapping end-to-end student and admin interactions</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9 of 20 | Nursyafiqah Zulaikha</a:t>
            </a:r>
            <a:endParaRPr lang="en-US" sz="800" dirty="0"/>
          </a:p>
        </p:txBody>
      </p:sp>
      <p:sp>
        <p:nvSpPr>
          <p:cNvPr id="12" name="Shape 9"/>
          <p:cNvSpPr/>
          <p:nvPr/>
        </p:nvSpPr>
        <p:spPr>
          <a:xfrm>
            <a:off x="731520" y="1463040"/>
            <a:ext cx="5212080" cy="4663440"/>
          </a:xfrm>
          <a:prstGeom prst="roundRect">
            <a:avLst>
              <a:gd name="adj" fmla="val 2353"/>
            </a:avLst>
          </a:prstGeom>
          <a:solidFill>
            <a:srgbClr val="FFFFFF"/>
          </a:solidFill>
          <a:ln w="15240">
            <a:solidFill>
              <a:srgbClr val="E8DFD5"/>
            </a:solidFill>
            <a:prstDash val="solid"/>
          </a:ln>
        </p:spPr>
      </p:sp>
      <p:sp>
        <p:nvSpPr>
          <p:cNvPr id="13" name="Text 10"/>
          <p:cNvSpPr/>
          <p:nvPr/>
        </p:nvSpPr>
        <p:spPr>
          <a:xfrm>
            <a:off x="1005840" y="1645920"/>
            <a:ext cx="4663440" cy="274320"/>
          </a:xfrm>
          <a:prstGeom prst="rect">
            <a:avLst/>
          </a:prstGeom>
          <a:noFill/>
          <a:ln/>
        </p:spPr>
        <p:txBody>
          <a:bodyPr wrap="square" rtlCol="0" anchor="ctr"/>
          <a:lstStyle/>
          <a:p>
            <a:pPr indent="0" marL="0">
              <a:buNone/>
            </a:pPr>
            <a:r>
              <a:rPr lang="en-US" sz="1050" b="1" dirty="0">
                <a:solidFill>
                  <a:srgbClr val="8B5E3C"/>
                </a:solidFill>
              </a:rPr>
              <a:t>STUDENT RESERVATION JOURNEY</a:t>
            </a:r>
            <a:endParaRPr lang="en-US" sz="1050" dirty="0"/>
          </a:p>
        </p:txBody>
      </p:sp>
      <p:pic>
        <p:nvPicPr>
          <p:cNvPr id="14" name="Image 1" descr="C:\Users\User\.gemini\antigravity\scratch\smart_event_equipment\documentation\images\fig_3_111_student_flowchart.png">    </p:cNvPr>
          <p:cNvPicPr>
            <a:picLocks noChangeAspect="1"/>
          </p:cNvPicPr>
          <p:nvPr/>
        </p:nvPicPr>
        <p:blipFill>
          <a:blip r:embed="rId2"/>
          <a:srcRect l="0" r="0" t="0" b="0"/>
          <a:stretch/>
        </p:blipFill>
        <p:spPr>
          <a:xfrm>
            <a:off x="914400" y="1965960"/>
            <a:ext cx="4846320" cy="3200400"/>
          </a:xfrm>
          <a:prstGeom prst="rect">
            <a:avLst/>
          </a:prstGeom>
        </p:spPr>
      </p:pic>
      <p:sp>
        <p:nvSpPr>
          <p:cNvPr id="15" name="Text 11"/>
          <p:cNvSpPr/>
          <p:nvPr/>
        </p:nvSpPr>
        <p:spPr>
          <a:xfrm>
            <a:off x="1005840" y="5303520"/>
            <a:ext cx="4663440" cy="64008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Key checkpoints: Date selection -&gt; Conflict calculation -&gt; Immediate error prompt if over-capacity -&gt; Auto-dispatch to admin queue.</a:t>
            </a:r>
            <a:endParaRPr lang="en-US" sz="850" dirty="0"/>
          </a:p>
        </p:txBody>
      </p:sp>
      <p:sp>
        <p:nvSpPr>
          <p:cNvPr id="16" name="Shape 12"/>
          <p:cNvSpPr/>
          <p:nvPr/>
        </p:nvSpPr>
        <p:spPr>
          <a:xfrm>
            <a:off x="6245352" y="1463040"/>
            <a:ext cx="5212080" cy="4663440"/>
          </a:xfrm>
          <a:prstGeom prst="roundRect">
            <a:avLst>
              <a:gd name="adj" fmla="val 2353"/>
            </a:avLst>
          </a:prstGeom>
          <a:solidFill>
            <a:srgbClr val="FFFFFF"/>
          </a:solidFill>
          <a:ln w="15240">
            <a:solidFill>
              <a:srgbClr val="E8DFD5"/>
            </a:solidFill>
            <a:prstDash val="solid"/>
          </a:ln>
        </p:spPr>
      </p:sp>
      <p:sp>
        <p:nvSpPr>
          <p:cNvPr id="17" name="Text 13"/>
          <p:cNvSpPr/>
          <p:nvPr/>
        </p:nvSpPr>
        <p:spPr>
          <a:xfrm>
            <a:off x="6519672" y="1645920"/>
            <a:ext cx="4663440" cy="274320"/>
          </a:xfrm>
          <a:prstGeom prst="rect">
            <a:avLst/>
          </a:prstGeom>
          <a:noFill/>
          <a:ln/>
        </p:spPr>
        <p:txBody>
          <a:bodyPr wrap="square" rtlCol="0" anchor="ctr"/>
          <a:lstStyle/>
          <a:p>
            <a:pPr indent="0" marL="0">
              <a:buNone/>
            </a:pPr>
            <a:r>
              <a:rPr lang="en-US" sz="1050" b="1" dirty="0">
                <a:solidFill>
                  <a:srgbClr val="5C3D28"/>
                </a:solidFill>
              </a:rPr>
              <a:t>ADMIN APPROVAL &amp; RETURN INSPECTION</a:t>
            </a:r>
            <a:endParaRPr lang="en-US" sz="1050" dirty="0"/>
          </a:p>
        </p:txBody>
      </p:sp>
      <p:pic>
        <p:nvPicPr>
          <p:cNvPr id="18" name="Image 2" descr="C:\Users\User\.gemini\antigravity\scratch\smart_event_equipment\documentation\images\fig_3_110_admin_flowchart.png">    </p:cNvPr>
          <p:cNvPicPr>
            <a:picLocks noChangeAspect="1"/>
          </p:cNvPicPr>
          <p:nvPr/>
        </p:nvPicPr>
        <p:blipFill>
          <a:blip r:embed="rId3"/>
          <a:srcRect l="0" r="0" t="0" b="0"/>
          <a:stretch/>
        </p:blipFill>
        <p:spPr>
          <a:xfrm>
            <a:off x="6428232" y="1965960"/>
            <a:ext cx="4846320" cy="3200400"/>
          </a:xfrm>
          <a:prstGeom prst="rect">
            <a:avLst/>
          </a:prstGeom>
        </p:spPr>
      </p:pic>
      <p:sp>
        <p:nvSpPr>
          <p:cNvPr id="19" name="Text 14"/>
          <p:cNvSpPr/>
          <p:nvPr/>
        </p:nvSpPr>
        <p:spPr>
          <a:xfrm>
            <a:off x="6519672" y="5303520"/>
            <a:ext cx="4663440" cy="64008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Key checkpoints: Pending queue review -&gt; Approval/Reject trigger -&gt; Check-out -&gt; Return inspection -&gt; Damage assessment &amp; close booking.</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DATABASE</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Database Architecture: 3NF Relational ERD</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Optimized 8-table schema normalized to Third Normal Form (3NF) ensuring zero redundancy</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10 of 20 | Nursyafiqah Zulaikha</a:t>
            </a:r>
            <a:endParaRPr lang="en-US" sz="800" dirty="0"/>
          </a:p>
        </p:txBody>
      </p:sp>
      <p:sp>
        <p:nvSpPr>
          <p:cNvPr id="12" name="Shape 9"/>
          <p:cNvSpPr/>
          <p:nvPr/>
        </p:nvSpPr>
        <p:spPr>
          <a:xfrm>
            <a:off x="731520" y="1463040"/>
            <a:ext cx="4389120" cy="4663440"/>
          </a:xfrm>
          <a:prstGeom prst="roundRect">
            <a:avLst>
              <a:gd name="adj" fmla="val 2500"/>
            </a:avLst>
          </a:prstGeom>
          <a:solidFill>
            <a:srgbClr val="FFFFFF"/>
          </a:solidFill>
          <a:ln w="15240">
            <a:solidFill>
              <a:srgbClr val="E8DFD5"/>
            </a:solidFill>
            <a:prstDash val="solid"/>
          </a:ln>
        </p:spPr>
      </p:sp>
      <p:sp>
        <p:nvSpPr>
          <p:cNvPr id="13" name="Text 10"/>
          <p:cNvSpPr/>
          <p:nvPr/>
        </p:nvSpPr>
        <p:spPr>
          <a:xfrm>
            <a:off x="1005840" y="1645920"/>
            <a:ext cx="3840480" cy="274320"/>
          </a:xfrm>
          <a:prstGeom prst="rect">
            <a:avLst/>
          </a:prstGeom>
          <a:noFill/>
          <a:ln/>
        </p:spPr>
        <p:txBody>
          <a:bodyPr wrap="square" rtlCol="0" anchor="ctr"/>
          <a:lstStyle/>
          <a:p>
            <a:pPr indent="0" marL="0">
              <a:buNone/>
            </a:pPr>
            <a:r>
              <a:rPr lang="en-US" sz="1000" b="1" dirty="0">
                <a:solidFill>
                  <a:srgbClr val="8B5E3C"/>
                </a:solidFill>
              </a:rPr>
              <a:t>RELATIONAL ENTITIES (3NF)</a:t>
            </a:r>
            <a:endParaRPr lang="en-US" sz="1000" dirty="0"/>
          </a:p>
        </p:txBody>
      </p:sp>
      <p:sp>
        <p:nvSpPr>
          <p:cNvPr id="14" name="Text 11"/>
          <p:cNvSpPr/>
          <p:nvPr/>
        </p:nvSpPr>
        <p:spPr>
          <a:xfrm>
            <a:off x="1005840" y="1965960"/>
            <a:ext cx="1463040" cy="274320"/>
          </a:xfrm>
          <a:prstGeom prst="rect">
            <a:avLst/>
          </a:prstGeom>
          <a:noFill/>
          <a:ln/>
        </p:spPr>
        <p:txBody>
          <a:bodyPr wrap="square" rtlCol="0" anchor="ctr"/>
          <a:lstStyle/>
          <a:p>
            <a:pPr indent="0" marL="0">
              <a:buNone/>
            </a:pPr>
            <a:r>
              <a:rPr lang="en-US" sz="850" b="1" dirty="0">
                <a:solidFill>
                  <a:srgbClr val="5C3D28"/>
                </a:solidFill>
                <a:latin typeface="Arial" pitchFamily="34" charset="0"/>
                <a:ea typeface="Arial" pitchFamily="34" charset="-122"/>
                <a:cs typeface="Arial" pitchFamily="34" charset="-120"/>
              </a:rPr>
              <a:t>• users: </a:t>
            </a:r>
            <a:endParaRPr lang="en-US" sz="850" dirty="0"/>
          </a:p>
        </p:txBody>
      </p:sp>
      <p:sp>
        <p:nvSpPr>
          <p:cNvPr id="15" name="Text 12"/>
          <p:cNvSpPr/>
          <p:nvPr/>
        </p:nvSpPr>
        <p:spPr>
          <a:xfrm>
            <a:off x="2377440" y="1965960"/>
            <a:ext cx="2560320" cy="27432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User profiles, matric ID, hashed password &amp; role (student/admin).</a:t>
            </a:r>
            <a:endParaRPr lang="en-US" sz="800" dirty="0"/>
          </a:p>
        </p:txBody>
      </p:sp>
      <p:sp>
        <p:nvSpPr>
          <p:cNvPr id="16" name="Text 13"/>
          <p:cNvSpPr/>
          <p:nvPr/>
        </p:nvSpPr>
        <p:spPr>
          <a:xfrm>
            <a:off x="1005840" y="2258568"/>
            <a:ext cx="1463040" cy="274320"/>
          </a:xfrm>
          <a:prstGeom prst="rect">
            <a:avLst/>
          </a:prstGeom>
          <a:noFill/>
          <a:ln/>
        </p:spPr>
        <p:txBody>
          <a:bodyPr wrap="square" rtlCol="0" anchor="ctr"/>
          <a:lstStyle/>
          <a:p>
            <a:pPr indent="0" marL="0">
              <a:buNone/>
            </a:pPr>
            <a:r>
              <a:rPr lang="en-US" sz="850" b="1" dirty="0">
                <a:solidFill>
                  <a:srgbClr val="5C3D28"/>
                </a:solidFill>
                <a:latin typeface="Arial" pitchFamily="34" charset="0"/>
                <a:ea typeface="Arial" pitchFamily="34" charset="-122"/>
                <a:cs typeface="Arial" pitchFamily="34" charset="-120"/>
              </a:rPr>
              <a:t>• categories: </a:t>
            </a:r>
            <a:endParaRPr lang="en-US" sz="850" dirty="0"/>
          </a:p>
        </p:txBody>
      </p:sp>
      <p:sp>
        <p:nvSpPr>
          <p:cNvPr id="17" name="Text 14"/>
          <p:cNvSpPr/>
          <p:nvPr/>
        </p:nvSpPr>
        <p:spPr>
          <a:xfrm>
            <a:off x="2377440" y="2258568"/>
            <a:ext cx="2560320" cy="27432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Equipment classification (Audio, Visual, Electrical, Stage).</a:t>
            </a:r>
            <a:endParaRPr lang="en-US" sz="800" dirty="0"/>
          </a:p>
        </p:txBody>
      </p:sp>
      <p:sp>
        <p:nvSpPr>
          <p:cNvPr id="18" name="Text 15"/>
          <p:cNvSpPr/>
          <p:nvPr/>
        </p:nvSpPr>
        <p:spPr>
          <a:xfrm>
            <a:off x="1005840" y="2551176"/>
            <a:ext cx="1463040" cy="274320"/>
          </a:xfrm>
          <a:prstGeom prst="rect">
            <a:avLst/>
          </a:prstGeom>
          <a:noFill/>
          <a:ln/>
        </p:spPr>
        <p:txBody>
          <a:bodyPr wrap="square" rtlCol="0" anchor="ctr"/>
          <a:lstStyle/>
          <a:p>
            <a:pPr indent="0" marL="0">
              <a:buNone/>
            </a:pPr>
            <a:r>
              <a:rPr lang="en-US" sz="850" b="1" dirty="0">
                <a:solidFill>
                  <a:srgbClr val="5C3D28"/>
                </a:solidFill>
                <a:latin typeface="Arial" pitchFamily="34" charset="0"/>
                <a:ea typeface="Arial" pitchFamily="34" charset="-122"/>
                <a:cs typeface="Arial" pitchFamily="34" charset="-120"/>
              </a:rPr>
              <a:t>• equipment: </a:t>
            </a:r>
            <a:endParaRPr lang="en-US" sz="850" dirty="0"/>
          </a:p>
        </p:txBody>
      </p:sp>
      <p:sp>
        <p:nvSpPr>
          <p:cNvPr id="19" name="Text 16"/>
          <p:cNvSpPr/>
          <p:nvPr/>
        </p:nvSpPr>
        <p:spPr>
          <a:xfrm>
            <a:off x="2377440" y="2551176"/>
            <a:ext cx="2560320" cy="27432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Inventory items, specifications, total quantity &amp; condition.</a:t>
            </a:r>
            <a:endParaRPr lang="en-US" sz="800" dirty="0"/>
          </a:p>
        </p:txBody>
      </p:sp>
      <p:sp>
        <p:nvSpPr>
          <p:cNvPr id="20" name="Text 17"/>
          <p:cNvSpPr/>
          <p:nvPr/>
        </p:nvSpPr>
        <p:spPr>
          <a:xfrm>
            <a:off x="1005840" y="2843784"/>
            <a:ext cx="1463040" cy="274320"/>
          </a:xfrm>
          <a:prstGeom prst="rect">
            <a:avLst/>
          </a:prstGeom>
          <a:noFill/>
          <a:ln/>
        </p:spPr>
        <p:txBody>
          <a:bodyPr wrap="square" rtlCol="0" anchor="ctr"/>
          <a:lstStyle/>
          <a:p>
            <a:pPr indent="0" marL="0">
              <a:buNone/>
            </a:pPr>
            <a:r>
              <a:rPr lang="en-US" sz="850" b="1" dirty="0">
                <a:solidFill>
                  <a:srgbClr val="5C3D28"/>
                </a:solidFill>
                <a:latin typeface="Arial" pitchFamily="34" charset="0"/>
                <a:ea typeface="Arial" pitchFamily="34" charset="-122"/>
                <a:cs typeface="Arial" pitchFamily="34" charset="-120"/>
              </a:rPr>
              <a:t>• packages: </a:t>
            </a:r>
            <a:endParaRPr lang="en-US" sz="850" dirty="0"/>
          </a:p>
        </p:txBody>
      </p:sp>
      <p:sp>
        <p:nvSpPr>
          <p:cNvPr id="21" name="Text 18"/>
          <p:cNvSpPr/>
          <p:nvPr/>
        </p:nvSpPr>
        <p:spPr>
          <a:xfrm>
            <a:off x="2377440" y="2843784"/>
            <a:ext cx="2560320" cy="27432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Curated bundled sets with event type &amp; descriptions.</a:t>
            </a:r>
            <a:endParaRPr lang="en-US" sz="800" dirty="0"/>
          </a:p>
        </p:txBody>
      </p:sp>
      <p:sp>
        <p:nvSpPr>
          <p:cNvPr id="22" name="Text 19"/>
          <p:cNvSpPr/>
          <p:nvPr/>
        </p:nvSpPr>
        <p:spPr>
          <a:xfrm>
            <a:off x="1005840" y="3136392"/>
            <a:ext cx="1463040" cy="274320"/>
          </a:xfrm>
          <a:prstGeom prst="rect">
            <a:avLst/>
          </a:prstGeom>
          <a:noFill/>
          <a:ln/>
        </p:spPr>
        <p:txBody>
          <a:bodyPr wrap="square" rtlCol="0" anchor="ctr"/>
          <a:lstStyle/>
          <a:p>
            <a:pPr indent="0" marL="0">
              <a:buNone/>
            </a:pPr>
            <a:r>
              <a:rPr lang="en-US" sz="850" b="1" dirty="0">
                <a:solidFill>
                  <a:srgbClr val="5C3D28"/>
                </a:solidFill>
                <a:latin typeface="Arial" pitchFamily="34" charset="0"/>
                <a:ea typeface="Arial" pitchFamily="34" charset="-122"/>
                <a:cs typeface="Arial" pitchFamily="34" charset="-120"/>
              </a:rPr>
              <a:t>• package_items: </a:t>
            </a:r>
            <a:endParaRPr lang="en-US" sz="850" dirty="0"/>
          </a:p>
        </p:txBody>
      </p:sp>
      <p:sp>
        <p:nvSpPr>
          <p:cNvPr id="23" name="Text 20"/>
          <p:cNvSpPr/>
          <p:nvPr/>
        </p:nvSpPr>
        <p:spPr>
          <a:xfrm>
            <a:off x="2377440" y="3136392"/>
            <a:ext cx="2560320" cy="27432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Junction table linking equipment items &amp; quantities to packages.</a:t>
            </a:r>
            <a:endParaRPr lang="en-US" sz="800" dirty="0"/>
          </a:p>
        </p:txBody>
      </p:sp>
      <p:sp>
        <p:nvSpPr>
          <p:cNvPr id="24" name="Text 21"/>
          <p:cNvSpPr/>
          <p:nvPr/>
        </p:nvSpPr>
        <p:spPr>
          <a:xfrm>
            <a:off x="1005840" y="3429000"/>
            <a:ext cx="1463040" cy="274320"/>
          </a:xfrm>
          <a:prstGeom prst="rect">
            <a:avLst/>
          </a:prstGeom>
          <a:noFill/>
          <a:ln/>
        </p:spPr>
        <p:txBody>
          <a:bodyPr wrap="square" rtlCol="0" anchor="ctr"/>
          <a:lstStyle/>
          <a:p>
            <a:pPr indent="0" marL="0">
              <a:buNone/>
            </a:pPr>
            <a:r>
              <a:rPr lang="en-US" sz="850" b="1" dirty="0">
                <a:solidFill>
                  <a:srgbClr val="5C3D28"/>
                </a:solidFill>
                <a:latin typeface="Arial" pitchFamily="34" charset="0"/>
                <a:ea typeface="Arial" pitchFamily="34" charset="-122"/>
                <a:cs typeface="Arial" pitchFamily="34" charset="-120"/>
              </a:rPr>
              <a:t>• bookings: </a:t>
            </a:r>
            <a:endParaRPr lang="en-US" sz="850" dirty="0"/>
          </a:p>
        </p:txBody>
      </p:sp>
      <p:sp>
        <p:nvSpPr>
          <p:cNvPr id="25" name="Text 22"/>
          <p:cNvSpPr/>
          <p:nvPr/>
        </p:nvSpPr>
        <p:spPr>
          <a:xfrm>
            <a:off x="2377440" y="3429000"/>
            <a:ext cx="2560320" cy="27432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Master reservation record with dates, status, remarks &amp; user_id.</a:t>
            </a:r>
            <a:endParaRPr lang="en-US" sz="800" dirty="0"/>
          </a:p>
        </p:txBody>
      </p:sp>
      <p:sp>
        <p:nvSpPr>
          <p:cNvPr id="26" name="Text 23"/>
          <p:cNvSpPr/>
          <p:nvPr/>
        </p:nvSpPr>
        <p:spPr>
          <a:xfrm>
            <a:off x="1005840" y="3721608"/>
            <a:ext cx="1463040" cy="274320"/>
          </a:xfrm>
          <a:prstGeom prst="rect">
            <a:avLst/>
          </a:prstGeom>
          <a:noFill/>
          <a:ln/>
        </p:spPr>
        <p:txBody>
          <a:bodyPr wrap="square" rtlCol="0" anchor="ctr"/>
          <a:lstStyle/>
          <a:p>
            <a:pPr indent="0" marL="0">
              <a:buNone/>
            </a:pPr>
            <a:r>
              <a:rPr lang="en-US" sz="850" b="1" dirty="0">
                <a:solidFill>
                  <a:srgbClr val="5C3D28"/>
                </a:solidFill>
                <a:latin typeface="Arial" pitchFamily="34" charset="0"/>
                <a:ea typeface="Arial" pitchFamily="34" charset="-122"/>
                <a:cs typeface="Arial" pitchFamily="34" charset="-120"/>
              </a:rPr>
              <a:t>• booking_items: </a:t>
            </a:r>
            <a:endParaRPr lang="en-US" sz="850" dirty="0"/>
          </a:p>
        </p:txBody>
      </p:sp>
      <p:sp>
        <p:nvSpPr>
          <p:cNvPr id="27" name="Text 24"/>
          <p:cNvSpPr/>
          <p:nvPr/>
        </p:nvSpPr>
        <p:spPr>
          <a:xfrm>
            <a:off x="2377440" y="3721608"/>
            <a:ext cx="2560320" cy="27432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Line items linking equipment and booked quantity per booking.</a:t>
            </a:r>
            <a:endParaRPr lang="en-US" sz="800" dirty="0"/>
          </a:p>
        </p:txBody>
      </p:sp>
      <p:sp>
        <p:nvSpPr>
          <p:cNvPr id="28" name="Text 25"/>
          <p:cNvSpPr/>
          <p:nvPr/>
        </p:nvSpPr>
        <p:spPr>
          <a:xfrm>
            <a:off x="1005840" y="4014216"/>
            <a:ext cx="1463040" cy="274320"/>
          </a:xfrm>
          <a:prstGeom prst="rect">
            <a:avLst/>
          </a:prstGeom>
          <a:noFill/>
          <a:ln/>
        </p:spPr>
        <p:txBody>
          <a:bodyPr wrap="square" rtlCol="0" anchor="ctr"/>
          <a:lstStyle/>
          <a:p>
            <a:pPr indent="0" marL="0">
              <a:buNone/>
            </a:pPr>
            <a:r>
              <a:rPr lang="en-US" sz="850" b="1" dirty="0">
                <a:solidFill>
                  <a:srgbClr val="5C3D28"/>
                </a:solidFill>
                <a:latin typeface="Arial" pitchFamily="34" charset="0"/>
                <a:ea typeface="Arial" pitchFamily="34" charset="-122"/>
                <a:cs typeface="Arial" pitchFamily="34" charset="-120"/>
              </a:rPr>
              <a:t>• damage_reports: </a:t>
            </a:r>
            <a:endParaRPr lang="en-US" sz="850" dirty="0"/>
          </a:p>
        </p:txBody>
      </p:sp>
      <p:sp>
        <p:nvSpPr>
          <p:cNvPr id="29" name="Text 26"/>
          <p:cNvSpPr/>
          <p:nvPr/>
        </p:nvSpPr>
        <p:spPr>
          <a:xfrm>
            <a:off x="2377440" y="4014216"/>
            <a:ext cx="2560320" cy="27432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Post-return damage logs, defect severity, repair cost &amp; status.</a:t>
            </a:r>
            <a:endParaRPr lang="en-US" sz="800" dirty="0"/>
          </a:p>
        </p:txBody>
      </p:sp>
      <p:sp>
        <p:nvSpPr>
          <p:cNvPr id="30" name="Shape 27"/>
          <p:cNvSpPr/>
          <p:nvPr/>
        </p:nvSpPr>
        <p:spPr>
          <a:xfrm>
            <a:off x="1005840" y="4572000"/>
            <a:ext cx="3840480" cy="1371600"/>
          </a:xfrm>
          <a:prstGeom prst="roundRect">
            <a:avLst>
              <a:gd name="adj" fmla="val 5333"/>
            </a:avLst>
          </a:prstGeom>
          <a:solidFill>
            <a:srgbClr val="F4EDE4"/>
          </a:solidFill>
          <a:ln w="12700">
            <a:solidFill>
              <a:srgbClr val="E8DFD5"/>
            </a:solidFill>
            <a:prstDash val="solid"/>
          </a:ln>
        </p:spPr>
      </p:sp>
      <p:sp>
        <p:nvSpPr>
          <p:cNvPr id="31" name="Text 28"/>
          <p:cNvSpPr/>
          <p:nvPr/>
        </p:nvSpPr>
        <p:spPr>
          <a:xfrm>
            <a:off x="1097280" y="4663440"/>
            <a:ext cx="3657600" cy="201168"/>
          </a:xfrm>
          <a:prstGeom prst="rect">
            <a:avLst/>
          </a:prstGeom>
          <a:noFill/>
          <a:ln/>
        </p:spPr>
        <p:txBody>
          <a:bodyPr wrap="square" rtlCol="0" anchor="ctr"/>
          <a:lstStyle/>
          <a:p>
            <a:pPr indent="0" marL="0">
              <a:buNone/>
            </a:pPr>
            <a:r>
              <a:rPr lang="en-US" sz="850" b="1" dirty="0">
                <a:solidFill>
                  <a:srgbClr val="8B5E3C"/>
                </a:solidFill>
              </a:rPr>
              <a:t>3NF Normalization Principles Applied:</a:t>
            </a:r>
            <a:endParaRPr lang="en-US" sz="850" dirty="0"/>
          </a:p>
        </p:txBody>
      </p:sp>
      <p:sp>
        <p:nvSpPr>
          <p:cNvPr id="32" name="Text 29"/>
          <p:cNvSpPr/>
          <p:nvPr/>
        </p:nvSpPr>
        <p:spPr>
          <a:xfrm>
            <a:off x="1097280" y="4892040"/>
            <a:ext cx="3657600" cy="960120"/>
          </a:xfrm>
          <a:prstGeom prst="rect">
            <a:avLst/>
          </a:prstGeom>
          <a:noFill/>
          <a:ln/>
        </p:spPr>
        <p:txBody>
          <a:bodyPr wrap="square" rtlCol="0" anchor="ctr"/>
          <a:lstStyle/>
          <a:p>
            <a:pPr indent="0" marL="0">
              <a:buNone/>
            </a:pPr>
            <a:r>
              <a:rPr lang="en-US" sz="780" dirty="0">
                <a:solidFill>
                  <a:srgbClr val="2B2D42"/>
                </a:solidFill>
                <a:latin typeface="Calibri" pitchFamily="34" charset="0"/>
                <a:ea typeface="Calibri" pitchFamily="34" charset="-122"/>
                <a:cs typeface="Calibri" pitchFamily="34" charset="-120"/>
              </a:rPr>
              <a:t>1NF: Atomic attributes, no repeating groups.</a:t>
            </a:r>
            <a:endParaRPr lang="en-US" sz="780" dirty="0"/>
          </a:p>
          <a:p>
            <a:pPr indent="0" marL="0">
              <a:buNone/>
            </a:pPr>
            <a:r>
              <a:rPr lang="en-US" sz="780" dirty="0">
                <a:solidFill>
                  <a:srgbClr val="2B2D42"/>
                </a:solidFill>
                <a:latin typeface="Calibri" pitchFamily="34" charset="0"/>
                <a:ea typeface="Calibri" pitchFamily="34" charset="-122"/>
                <a:cs typeface="Calibri" pitchFamily="34" charset="-120"/>
              </a:rPr>
              <a:t>2NF: Elimination of partial functional dependencies via junction tables.</a:t>
            </a:r>
            <a:endParaRPr lang="en-US" sz="780" dirty="0"/>
          </a:p>
          <a:p>
            <a:pPr indent="0" marL="0">
              <a:buNone/>
            </a:pPr>
            <a:r>
              <a:rPr lang="en-US" sz="780" dirty="0">
                <a:solidFill>
                  <a:srgbClr val="2B2D42"/>
                </a:solidFill>
                <a:latin typeface="Calibri" pitchFamily="34" charset="0"/>
                <a:ea typeface="Calibri" pitchFamily="34" charset="-122"/>
                <a:cs typeface="Calibri" pitchFamily="34" charset="-120"/>
              </a:rPr>
              <a:t>3NF: Removal of transitive dependencies (e.g. category details stored strictly in categories).</a:t>
            </a:r>
            <a:endParaRPr lang="en-US" sz="780" dirty="0"/>
          </a:p>
          <a:p>
            <a:pPr indent="0" marL="0">
              <a:buNone/>
            </a:pPr>
            <a:r>
              <a:rPr lang="en-US" sz="780" dirty="0">
                <a:solidFill>
                  <a:srgbClr val="2B2D42"/>
                </a:solidFill>
                <a:latin typeface="Calibri" pitchFamily="34" charset="0"/>
                <a:ea typeface="Calibri" pitchFamily="34" charset="-122"/>
                <a:cs typeface="Calibri" pitchFamily="34" charset="-120"/>
              </a:rPr>
              <a:t>Engine: InnoDB storage engine with foreign key cascade integrity.</a:t>
            </a:r>
            <a:endParaRPr lang="en-US" sz="780" dirty="0"/>
          </a:p>
        </p:txBody>
      </p:sp>
      <p:sp>
        <p:nvSpPr>
          <p:cNvPr id="33" name="Shape 30"/>
          <p:cNvSpPr/>
          <p:nvPr/>
        </p:nvSpPr>
        <p:spPr>
          <a:xfrm>
            <a:off x="5394960" y="1463040"/>
            <a:ext cx="6062472" cy="4663440"/>
          </a:xfrm>
          <a:prstGeom prst="roundRect">
            <a:avLst>
              <a:gd name="adj" fmla="val 2353"/>
            </a:avLst>
          </a:prstGeom>
          <a:solidFill>
            <a:srgbClr val="FFFFFF"/>
          </a:solidFill>
          <a:ln w="15240">
            <a:solidFill>
              <a:srgbClr val="E8DFD5"/>
            </a:solidFill>
            <a:prstDash val="solid"/>
          </a:ln>
        </p:spPr>
      </p:sp>
      <p:sp>
        <p:nvSpPr>
          <p:cNvPr id="34" name="Text 31"/>
          <p:cNvSpPr/>
          <p:nvPr/>
        </p:nvSpPr>
        <p:spPr>
          <a:xfrm>
            <a:off x="5669280" y="1645920"/>
            <a:ext cx="5486400" cy="274320"/>
          </a:xfrm>
          <a:prstGeom prst="rect">
            <a:avLst/>
          </a:prstGeom>
          <a:noFill/>
          <a:ln/>
        </p:spPr>
        <p:txBody>
          <a:bodyPr wrap="square" rtlCol="0" anchor="ctr"/>
          <a:lstStyle/>
          <a:p>
            <a:pPr indent="0" marL="0">
              <a:buNone/>
            </a:pPr>
            <a:r>
              <a:rPr lang="en-US" sz="1000" b="1" dirty="0">
                <a:solidFill>
                  <a:srgbClr val="5C3D28"/>
                </a:solidFill>
              </a:rPr>
              <a:t>ENTITY RELATIONSHIP DIAGRAM (FIGURE 3.113)</a:t>
            </a:r>
            <a:endParaRPr lang="en-US" sz="1000" dirty="0"/>
          </a:p>
        </p:txBody>
      </p:sp>
      <p:pic>
        <p:nvPicPr>
          <p:cNvPr id="35" name="Image 1" descr="C:\Users\User\.gemini\antigravity\scratch\smart_event_equipment\documentation\images\fig_3_113_erd_diagram.png">    </p:cNvPr>
          <p:cNvPicPr>
            <a:picLocks noChangeAspect="1"/>
          </p:cNvPicPr>
          <p:nvPr/>
        </p:nvPicPr>
        <p:blipFill>
          <a:blip r:embed="rId2"/>
          <a:srcRect l="0" r="0" t="0" b="0"/>
          <a:stretch/>
        </p:blipFill>
        <p:spPr>
          <a:xfrm>
            <a:off x="5577840" y="1965960"/>
            <a:ext cx="5696712" cy="3977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INNOVATION</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Innovation 1: Automated Conflict Detection Engine</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Algorithmic elimination of equipment double bookings via real-time date-overlap evaluation</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11 of 20 | Nursyafiqah Zulaikha</a:t>
            </a:r>
            <a:endParaRPr lang="en-US" sz="800" dirty="0"/>
          </a:p>
        </p:txBody>
      </p:sp>
      <p:sp>
        <p:nvSpPr>
          <p:cNvPr id="12" name="Shape 9"/>
          <p:cNvSpPr/>
          <p:nvPr/>
        </p:nvSpPr>
        <p:spPr>
          <a:xfrm>
            <a:off x="731520" y="1463040"/>
            <a:ext cx="5212080" cy="4663440"/>
          </a:xfrm>
          <a:prstGeom prst="roundRect">
            <a:avLst>
              <a:gd name="adj" fmla="val 2353"/>
            </a:avLst>
          </a:prstGeom>
          <a:solidFill>
            <a:srgbClr val="FFFFFF"/>
          </a:solidFill>
          <a:ln w="15240">
            <a:solidFill>
              <a:srgbClr val="E8DFD5"/>
            </a:solidFill>
            <a:prstDash val="solid"/>
          </a:ln>
        </p:spPr>
      </p:sp>
      <p:sp>
        <p:nvSpPr>
          <p:cNvPr id="13" name="Text 10"/>
          <p:cNvSpPr/>
          <p:nvPr/>
        </p:nvSpPr>
        <p:spPr>
          <a:xfrm>
            <a:off x="1005840" y="1645920"/>
            <a:ext cx="4663440" cy="274320"/>
          </a:xfrm>
          <a:prstGeom prst="rect">
            <a:avLst/>
          </a:prstGeom>
          <a:noFill/>
          <a:ln/>
        </p:spPr>
        <p:txBody>
          <a:bodyPr wrap="square" rtlCol="0" anchor="ctr"/>
          <a:lstStyle/>
          <a:p>
            <a:pPr indent="0" marL="0">
              <a:buNone/>
            </a:pPr>
            <a:r>
              <a:rPr lang="en-US" sz="1000" b="1" dirty="0">
                <a:solidFill>
                  <a:srgbClr val="8B5E3C"/>
                </a:solidFill>
              </a:rPr>
              <a:t>THE COLLISION PROBLEM &amp; ALGORITHMIC SOLUTION</a:t>
            </a:r>
            <a:endParaRPr lang="en-US" sz="1000" dirty="0"/>
          </a:p>
        </p:txBody>
      </p:sp>
      <p:sp>
        <p:nvSpPr>
          <p:cNvPr id="14" name="Shape 11"/>
          <p:cNvSpPr/>
          <p:nvPr/>
        </p:nvSpPr>
        <p:spPr>
          <a:xfrm>
            <a:off x="1005840" y="2011680"/>
            <a:ext cx="4663440" cy="1051560"/>
          </a:xfrm>
          <a:prstGeom prst="roundRect">
            <a:avLst>
              <a:gd name="adj" fmla="val 6957"/>
            </a:avLst>
          </a:prstGeom>
          <a:solidFill>
            <a:srgbClr val="FFEBEE"/>
          </a:solidFill>
          <a:ln w="12700">
            <a:solidFill>
              <a:srgbClr val="FFCDD2"/>
            </a:solidFill>
            <a:prstDash val="solid"/>
          </a:ln>
        </p:spPr>
      </p:sp>
      <p:sp>
        <p:nvSpPr>
          <p:cNvPr id="15" name="Text 12"/>
          <p:cNvSpPr/>
          <p:nvPr/>
        </p:nvSpPr>
        <p:spPr>
          <a:xfrm>
            <a:off x="1143000" y="2103120"/>
            <a:ext cx="4389120" cy="228600"/>
          </a:xfrm>
          <a:prstGeom prst="rect">
            <a:avLst/>
          </a:prstGeom>
          <a:noFill/>
          <a:ln/>
        </p:spPr>
        <p:txBody>
          <a:bodyPr wrap="square" rtlCol="0" anchor="ctr"/>
          <a:lstStyle/>
          <a:p>
            <a:pPr indent="0" marL="0">
              <a:buNone/>
            </a:pPr>
            <a:r>
              <a:rPr lang="en-US" sz="950" b="1" dirty="0">
                <a:solidFill>
                  <a:srgbClr val="C62828"/>
                </a:solidFill>
              </a:rPr>
              <a:t>Traditional Flaw: Static Paper Checking</a:t>
            </a:r>
            <a:endParaRPr lang="en-US" sz="950" dirty="0"/>
          </a:p>
        </p:txBody>
      </p:sp>
      <p:sp>
        <p:nvSpPr>
          <p:cNvPr id="16" name="Text 13"/>
          <p:cNvSpPr/>
          <p:nvPr/>
        </p:nvSpPr>
        <p:spPr>
          <a:xfrm>
            <a:off x="1143000" y="2359152"/>
            <a:ext cx="4389120" cy="64008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Manual systems check static warehouse shelves rather than scheduled future loan commitments. When multiple clubs request equipment for the same upcoming weekend, paper registers fail to detect the overlap, leading to double-booking disasters.</a:t>
            </a:r>
            <a:endParaRPr lang="en-US" sz="850" dirty="0"/>
          </a:p>
        </p:txBody>
      </p:sp>
      <p:sp>
        <p:nvSpPr>
          <p:cNvPr id="17" name="Shape 14"/>
          <p:cNvSpPr/>
          <p:nvPr/>
        </p:nvSpPr>
        <p:spPr>
          <a:xfrm>
            <a:off x="1005840" y="3200400"/>
            <a:ext cx="4663440" cy="1325880"/>
          </a:xfrm>
          <a:prstGeom prst="roundRect">
            <a:avLst>
              <a:gd name="adj" fmla="val 5517"/>
            </a:avLst>
          </a:prstGeom>
          <a:solidFill>
            <a:srgbClr val="E8F5E9"/>
          </a:solidFill>
          <a:ln w="12700">
            <a:solidFill>
              <a:srgbClr val="C8E6C9"/>
            </a:solidFill>
            <a:prstDash val="solid"/>
          </a:ln>
        </p:spPr>
      </p:sp>
      <p:sp>
        <p:nvSpPr>
          <p:cNvPr id="18" name="Text 15"/>
          <p:cNvSpPr/>
          <p:nvPr/>
        </p:nvSpPr>
        <p:spPr>
          <a:xfrm>
            <a:off x="1143000" y="3291840"/>
            <a:ext cx="4389120" cy="228600"/>
          </a:xfrm>
          <a:prstGeom prst="rect">
            <a:avLst/>
          </a:prstGeom>
          <a:noFill/>
          <a:ln/>
        </p:spPr>
        <p:txBody>
          <a:bodyPr wrap="square" rtlCol="0" anchor="ctr"/>
          <a:lstStyle/>
          <a:p>
            <a:pPr indent="0" marL="0">
              <a:buNone/>
            </a:pPr>
            <a:r>
              <a:rPr lang="en-US" sz="950" b="1" dirty="0">
                <a:solidFill>
                  <a:srgbClr val="2E7D32"/>
                </a:solidFill>
              </a:rPr>
              <a:t>PinjamGeng Mathematical Algorithm</a:t>
            </a:r>
            <a:endParaRPr lang="en-US" sz="950" dirty="0"/>
          </a:p>
        </p:txBody>
      </p:sp>
      <p:sp>
        <p:nvSpPr>
          <p:cNvPr id="19" name="Text 16"/>
          <p:cNvSpPr/>
          <p:nvPr/>
        </p:nvSpPr>
        <p:spPr>
          <a:xfrm>
            <a:off x="1143000" y="3547872"/>
            <a:ext cx="4389120" cy="896112"/>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When booking dates [Start_Req, End_Req] are selected:</a:t>
            </a:r>
            <a:endParaRPr lang="en-US" sz="850" dirty="0"/>
          </a:p>
          <a:p>
            <a:pPr indent="0" marL="0">
              <a:buNone/>
            </a:pPr>
            <a:r>
              <a:rPr lang="en-US" sz="850" dirty="0">
                <a:solidFill>
                  <a:srgbClr val="2B2D42"/>
                </a:solidFill>
                <a:latin typeface="Calibri" pitchFamily="34" charset="0"/>
                <a:ea typeface="Calibri" pitchFamily="34" charset="-122"/>
                <a:cs typeface="Calibri" pitchFamily="34" charset="-120"/>
              </a:rPr>
              <a:t>1. Query sums active approved/in-use loans where:</a:t>
            </a:r>
            <a:endParaRPr lang="en-US" sz="850" dirty="0"/>
          </a:p>
          <a:p>
            <a:pPr indent="0" marL="0">
              <a:buNone/>
            </a:pPr>
            <a:r>
              <a:rPr lang="en-US" sz="850" dirty="0">
                <a:solidFill>
                  <a:srgbClr val="2B2D42"/>
                </a:solidFill>
                <a:latin typeface="Calibri" pitchFamily="34" charset="0"/>
                <a:ea typeface="Calibri" pitchFamily="34" charset="-122"/>
                <a:cs typeface="Calibri" pitchFamily="34" charset="-120"/>
              </a:rPr>
              <a:t>   (b.start_date &lt;= :end_req) AND (b.end_date &gt;= :start_req)</a:t>
            </a:r>
            <a:endParaRPr lang="en-US" sz="850" dirty="0"/>
          </a:p>
          <a:p>
            <a:pPr indent="0" marL="0">
              <a:buNone/>
            </a:pPr>
            <a:r>
              <a:rPr lang="en-US" sz="850" dirty="0">
                <a:solidFill>
                  <a:srgbClr val="2B2D42"/>
                </a:solidFill>
                <a:latin typeface="Calibri" pitchFamily="34" charset="0"/>
                <a:ea typeface="Calibri" pitchFamily="34" charset="-122"/>
                <a:cs typeface="Calibri" pitchFamily="34" charset="-120"/>
              </a:rPr>
              <a:t>2. Available_Stock = Total_Stock - SUM(Allocated_Quantity)</a:t>
            </a:r>
            <a:endParaRPr lang="en-US" sz="850" dirty="0"/>
          </a:p>
          <a:p>
            <a:pPr indent="0" marL="0">
              <a:buNone/>
            </a:pPr>
            <a:r>
              <a:rPr lang="en-US" sz="850" dirty="0">
                <a:solidFill>
                  <a:srgbClr val="2B2D42"/>
                </a:solidFill>
                <a:latin typeface="Calibri" pitchFamily="34" charset="0"/>
                <a:ea typeface="Calibri" pitchFamily="34" charset="-122"/>
                <a:cs typeface="Calibri" pitchFamily="34" charset="-120"/>
              </a:rPr>
              <a:t>3. If Requested_Qty &gt; Available_Stock -&gt; HARD STOP with instant feedback.</a:t>
            </a:r>
            <a:endParaRPr lang="en-US" sz="850" dirty="0"/>
          </a:p>
        </p:txBody>
      </p:sp>
      <p:sp>
        <p:nvSpPr>
          <p:cNvPr id="20" name="Shape 17"/>
          <p:cNvSpPr/>
          <p:nvPr/>
        </p:nvSpPr>
        <p:spPr>
          <a:xfrm>
            <a:off x="1005840" y="4663440"/>
            <a:ext cx="4663440" cy="1234440"/>
          </a:xfrm>
          <a:prstGeom prst="roundRect">
            <a:avLst>
              <a:gd name="adj" fmla="val 5926"/>
            </a:avLst>
          </a:prstGeom>
          <a:solidFill>
            <a:srgbClr val="F4EDE4"/>
          </a:solidFill>
          <a:ln w="12700">
            <a:solidFill>
              <a:srgbClr val="E8DFD5"/>
            </a:solidFill>
            <a:prstDash val="solid"/>
          </a:ln>
        </p:spPr>
      </p:sp>
      <p:sp>
        <p:nvSpPr>
          <p:cNvPr id="21" name="Text 18"/>
          <p:cNvSpPr/>
          <p:nvPr/>
        </p:nvSpPr>
        <p:spPr>
          <a:xfrm>
            <a:off x="1143000" y="4773168"/>
            <a:ext cx="4389120" cy="228600"/>
          </a:xfrm>
          <a:prstGeom prst="rect">
            <a:avLst/>
          </a:prstGeom>
          <a:noFill/>
          <a:ln/>
        </p:spPr>
        <p:txBody>
          <a:bodyPr wrap="square" rtlCol="0" anchor="ctr"/>
          <a:lstStyle/>
          <a:p>
            <a:pPr indent="0" marL="0">
              <a:buNone/>
            </a:pPr>
            <a:r>
              <a:rPr lang="en-US" sz="850" b="1" dirty="0">
                <a:solidFill>
                  <a:srgbClr val="8B5E3C"/>
                </a:solidFill>
              </a:rPr>
              <a:t>VERIFIED IMPACT</a:t>
            </a:r>
            <a:endParaRPr lang="en-US" sz="850" dirty="0"/>
          </a:p>
        </p:txBody>
      </p:sp>
      <p:sp>
        <p:nvSpPr>
          <p:cNvPr id="22" name="Text 19"/>
          <p:cNvSpPr/>
          <p:nvPr/>
        </p:nvSpPr>
        <p:spPr>
          <a:xfrm>
            <a:off x="1143000" y="5029200"/>
            <a:ext cx="4389120" cy="77724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100% elimination of double-booking collisions.</a:t>
            </a:r>
            <a:endParaRPr lang="en-US" sz="850" dirty="0"/>
          </a:p>
          <a:p>
            <a:pPr indent="0" marL="0">
              <a:buNone/>
            </a:pPr>
            <a:r>
              <a:rPr lang="en-US" sz="850" dirty="0">
                <a:solidFill>
                  <a:srgbClr val="2B2D42"/>
                </a:solidFill>
                <a:latin typeface="Calibri" pitchFamily="34" charset="0"/>
                <a:ea typeface="Calibri" pitchFamily="34" charset="-122"/>
                <a:cs typeface="Calibri" pitchFamily="34" charset="-120"/>
              </a:rPr>
              <a:t>• Real-time stock counters update dynamically without page reloads.</a:t>
            </a:r>
            <a:endParaRPr lang="en-US" sz="850" dirty="0"/>
          </a:p>
          <a:p>
            <a:pPr indent="0" marL="0">
              <a:buNone/>
            </a:pPr>
            <a:r>
              <a:rPr lang="en-US" sz="850" dirty="0">
                <a:solidFill>
                  <a:srgbClr val="2B2D42"/>
                </a:solidFill>
                <a:latin typeface="Calibri" pitchFamily="34" charset="0"/>
                <a:ea typeface="Calibri" pitchFamily="34" charset="-122"/>
                <a:cs typeface="Calibri" pitchFamily="34" charset="-120"/>
              </a:rPr>
              <a:t>• Provides instant alternative date recommendations to students.</a:t>
            </a:r>
            <a:endParaRPr lang="en-US" sz="850" dirty="0"/>
          </a:p>
        </p:txBody>
      </p:sp>
      <p:sp>
        <p:nvSpPr>
          <p:cNvPr id="23" name="Shape 20"/>
          <p:cNvSpPr/>
          <p:nvPr/>
        </p:nvSpPr>
        <p:spPr>
          <a:xfrm>
            <a:off x="6245352" y="1463040"/>
            <a:ext cx="5212080" cy="4663440"/>
          </a:xfrm>
          <a:prstGeom prst="roundRect">
            <a:avLst>
              <a:gd name="adj" fmla="val 2353"/>
            </a:avLst>
          </a:prstGeom>
          <a:solidFill>
            <a:srgbClr val="3D2B1F"/>
          </a:solidFill>
          <a:ln w="12700">
            <a:solidFill>
              <a:srgbClr val="3D2B1F"/>
            </a:solidFill>
            <a:prstDash val="solid"/>
          </a:ln>
        </p:spPr>
      </p:sp>
      <p:sp>
        <p:nvSpPr>
          <p:cNvPr id="24" name="Text 21"/>
          <p:cNvSpPr/>
          <p:nvPr/>
        </p:nvSpPr>
        <p:spPr>
          <a:xfrm>
            <a:off x="6519672" y="1691640"/>
            <a:ext cx="4663440" cy="274320"/>
          </a:xfrm>
          <a:prstGeom prst="rect">
            <a:avLst/>
          </a:prstGeom>
          <a:noFill/>
          <a:ln/>
        </p:spPr>
        <p:txBody>
          <a:bodyPr wrap="square" rtlCol="0" anchor="ctr"/>
          <a:lstStyle/>
          <a:p>
            <a:pPr indent="0" marL="0">
              <a:buNone/>
            </a:pPr>
            <a:r>
              <a:rPr lang="en-US" sz="1000" b="1" dirty="0">
                <a:solidFill>
                  <a:srgbClr val="FAEDCD"/>
                </a:solidFill>
              </a:rPr>
              <a:t>BACKEND SQL LOGIC IMPLEMENTATION</a:t>
            </a:r>
            <a:endParaRPr lang="en-US" sz="1000" dirty="0"/>
          </a:p>
        </p:txBody>
      </p:sp>
      <p:sp>
        <p:nvSpPr>
          <p:cNvPr id="25" name="Text 22"/>
          <p:cNvSpPr/>
          <p:nvPr/>
        </p:nvSpPr>
        <p:spPr>
          <a:xfrm>
            <a:off x="6519672" y="2057400"/>
            <a:ext cx="4663440" cy="2194560"/>
          </a:xfrm>
          <a:prstGeom prst="rect">
            <a:avLst/>
          </a:prstGeom>
          <a:noFill/>
          <a:ln/>
        </p:spPr>
        <p:txBody>
          <a:bodyPr wrap="square" rtlCol="0" anchor="ctr"/>
          <a:lstStyle/>
          <a:p>
            <a:pPr indent="0" marL="0">
              <a:buNone/>
            </a:pPr>
            <a:r>
              <a:rPr lang="en-US" sz="900" dirty="0">
                <a:solidFill>
                  <a:srgbClr val="E0E0E0"/>
                </a:solidFill>
                <a:latin typeface="Consolas" pitchFamily="34" charset="0"/>
                <a:ea typeface="Consolas" pitchFamily="34" charset="-122"/>
                <a:cs typeface="Consolas" pitchFamily="34" charset="-120"/>
              </a:rPr>
              <a:t>SELECT e.id, e.name, e.total_quantity,</a:t>
            </a:r>
            <a:endParaRPr lang="en-US" sz="900" dirty="0"/>
          </a:p>
          <a:p>
            <a:pPr indent="0" marL="0">
              <a:buNone/>
            </a:pPr>
            <a:r>
              <a:rPr lang="en-US" sz="900" dirty="0">
                <a:solidFill>
                  <a:srgbClr val="E0E0E0"/>
                </a:solidFill>
                <a:latin typeface="Consolas" pitchFamily="34" charset="0"/>
                <a:ea typeface="Consolas" pitchFamily="34" charset="-122"/>
                <a:cs typeface="Consolas" pitchFamily="34" charset="-120"/>
              </a:rPr>
              <a:t>  COALESCE(SUM(bi.quantity), 0) AS booked_quantity,</a:t>
            </a:r>
            <a:endParaRPr lang="en-US" sz="900" dirty="0"/>
          </a:p>
          <a:p>
            <a:pPr indent="0" marL="0">
              <a:buNone/>
            </a:pPr>
            <a:r>
              <a:rPr lang="en-US" sz="900" dirty="0">
                <a:solidFill>
                  <a:srgbClr val="E0E0E0"/>
                </a:solidFill>
                <a:latin typeface="Consolas" pitchFamily="34" charset="0"/>
                <a:ea typeface="Consolas" pitchFamily="34" charset="-122"/>
                <a:cs typeface="Consolas" pitchFamily="34" charset="-120"/>
              </a:rPr>
              <a:t>  (e.total_quantity - COALESCE(SUM(bi.quantity), 0))</a:t>
            </a:r>
            <a:endParaRPr lang="en-US" sz="900" dirty="0"/>
          </a:p>
          <a:p>
            <a:pPr indent="0" marL="0">
              <a:buNone/>
            </a:pPr>
            <a:r>
              <a:rPr lang="en-US" sz="900" dirty="0">
                <a:solidFill>
                  <a:srgbClr val="E0E0E0"/>
                </a:solidFill>
                <a:latin typeface="Consolas" pitchFamily="34" charset="0"/>
                <a:ea typeface="Consolas" pitchFamily="34" charset="-122"/>
                <a:cs typeface="Consolas" pitchFamily="34" charset="-120"/>
              </a:rPr>
              <a:t>    AS available_stock</a:t>
            </a:r>
            <a:endParaRPr lang="en-US" sz="900" dirty="0"/>
          </a:p>
          <a:p>
            <a:pPr indent="0" marL="0">
              <a:buNone/>
            </a:pPr>
            <a:r>
              <a:rPr lang="en-US" sz="900" dirty="0">
                <a:solidFill>
                  <a:srgbClr val="E0E0E0"/>
                </a:solidFill>
                <a:latin typeface="Consolas" pitchFamily="34" charset="0"/>
                <a:ea typeface="Consolas" pitchFamily="34" charset="-122"/>
                <a:cs typeface="Consolas" pitchFamily="34" charset="-120"/>
              </a:rPr>
              <a:t>FROM equipment e</a:t>
            </a:r>
            <a:endParaRPr lang="en-US" sz="900" dirty="0"/>
          </a:p>
          <a:p>
            <a:pPr indent="0" marL="0">
              <a:buNone/>
            </a:pPr>
            <a:r>
              <a:rPr lang="en-US" sz="900" dirty="0">
                <a:solidFill>
                  <a:srgbClr val="E0E0E0"/>
                </a:solidFill>
                <a:latin typeface="Consolas" pitchFamily="34" charset="0"/>
                <a:ea typeface="Consolas" pitchFamily="34" charset="-122"/>
                <a:cs typeface="Consolas" pitchFamily="34" charset="-120"/>
              </a:rPr>
              <a:t>LEFT JOIN booking_items bi ON e.id = bi.equipment_id</a:t>
            </a:r>
            <a:endParaRPr lang="en-US" sz="900" dirty="0"/>
          </a:p>
          <a:p>
            <a:pPr indent="0" marL="0">
              <a:buNone/>
            </a:pPr>
            <a:r>
              <a:rPr lang="en-US" sz="900" dirty="0">
                <a:solidFill>
                  <a:srgbClr val="E0E0E0"/>
                </a:solidFill>
                <a:latin typeface="Consolas" pitchFamily="34" charset="0"/>
                <a:ea typeface="Consolas" pitchFamily="34" charset="-122"/>
                <a:cs typeface="Consolas" pitchFamily="34" charset="-120"/>
              </a:rPr>
              <a:t>LEFT JOIN bookings b ON bi.booking_id = b.id</a:t>
            </a:r>
            <a:endParaRPr lang="en-US" sz="900" dirty="0"/>
          </a:p>
          <a:p>
            <a:pPr indent="0" marL="0">
              <a:buNone/>
            </a:pPr>
            <a:r>
              <a:rPr lang="en-US" sz="900" dirty="0">
                <a:solidFill>
                  <a:srgbClr val="E0E0E0"/>
                </a:solidFill>
                <a:latin typeface="Consolas" pitchFamily="34" charset="0"/>
                <a:ea typeface="Consolas" pitchFamily="34" charset="-122"/>
                <a:cs typeface="Consolas" pitchFamily="34" charset="-120"/>
              </a:rPr>
              <a:t>  AND b.status IN ('Approved', 'In Use')</a:t>
            </a:r>
            <a:endParaRPr lang="en-US" sz="900" dirty="0"/>
          </a:p>
          <a:p>
            <a:pPr indent="0" marL="0">
              <a:buNone/>
            </a:pPr>
            <a:r>
              <a:rPr lang="en-US" sz="900" dirty="0">
                <a:solidFill>
                  <a:srgbClr val="E0E0E0"/>
                </a:solidFill>
                <a:latin typeface="Consolas" pitchFamily="34" charset="0"/>
                <a:ea typeface="Consolas" pitchFamily="34" charset="-122"/>
                <a:cs typeface="Consolas" pitchFamily="34" charset="-120"/>
              </a:rPr>
              <a:t>  AND (b.start_date &lt;= :request_end_date </a:t>
            </a:r>
            <a:endParaRPr lang="en-US" sz="900" dirty="0"/>
          </a:p>
          <a:p>
            <a:pPr indent="0" marL="0">
              <a:buNone/>
            </a:pPr>
            <a:r>
              <a:rPr lang="en-US" sz="900" dirty="0">
                <a:solidFill>
                  <a:srgbClr val="E0E0E0"/>
                </a:solidFill>
                <a:latin typeface="Consolas" pitchFamily="34" charset="0"/>
                <a:ea typeface="Consolas" pitchFamily="34" charset="-122"/>
                <a:cs typeface="Consolas" pitchFamily="34" charset="-120"/>
              </a:rPr>
              <a:t>       AND b.end_date &gt;= :request_start_date)</a:t>
            </a:r>
            <a:endParaRPr lang="en-US" sz="900" dirty="0"/>
          </a:p>
          <a:p>
            <a:pPr indent="0" marL="0">
              <a:buNone/>
            </a:pPr>
            <a:r>
              <a:rPr lang="en-US" sz="900" dirty="0">
                <a:solidFill>
                  <a:srgbClr val="E0E0E0"/>
                </a:solidFill>
                <a:latin typeface="Consolas" pitchFamily="34" charset="0"/>
                <a:ea typeface="Consolas" pitchFamily="34" charset="-122"/>
                <a:cs typeface="Consolas" pitchFamily="34" charset="-120"/>
              </a:rPr>
              <a:t>WHERE e.id = :equipment_id</a:t>
            </a:r>
            <a:endParaRPr lang="en-US" sz="900" dirty="0"/>
          </a:p>
          <a:p>
            <a:pPr indent="0" marL="0">
              <a:buNone/>
            </a:pPr>
            <a:r>
              <a:rPr lang="en-US" sz="900" dirty="0">
                <a:solidFill>
                  <a:srgbClr val="E0E0E0"/>
                </a:solidFill>
                <a:latin typeface="Consolas" pitchFamily="34" charset="0"/>
                <a:ea typeface="Consolas" pitchFamily="34" charset="-122"/>
                <a:cs typeface="Consolas" pitchFamily="34" charset="-120"/>
              </a:rPr>
              <a:t>GROUP BY e.id;</a:t>
            </a:r>
            <a:endParaRPr lang="en-US" sz="900" dirty="0"/>
          </a:p>
        </p:txBody>
      </p:sp>
      <p:sp>
        <p:nvSpPr>
          <p:cNvPr id="26" name="Shape 23"/>
          <p:cNvSpPr/>
          <p:nvPr/>
        </p:nvSpPr>
        <p:spPr>
          <a:xfrm>
            <a:off x="6519672" y="4389120"/>
            <a:ext cx="4663440" cy="1508760"/>
          </a:xfrm>
          <a:prstGeom prst="roundRect">
            <a:avLst>
              <a:gd name="adj" fmla="val 4848"/>
            </a:avLst>
          </a:prstGeom>
          <a:solidFill>
            <a:srgbClr val="4E3827"/>
          </a:solidFill>
          <a:ln w="12700">
            <a:solidFill>
              <a:srgbClr val="8B5E3C"/>
            </a:solidFill>
            <a:prstDash val="solid"/>
          </a:ln>
        </p:spPr>
      </p:sp>
      <p:sp>
        <p:nvSpPr>
          <p:cNvPr id="27" name="Text 24"/>
          <p:cNvSpPr/>
          <p:nvPr/>
        </p:nvSpPr>
        <p:spPr>
          <a:xfrm>
            <a:off x="6629400" y="4526280"/>
            <a:ext cx="4389120" cy="228600"/>
          </a:xfrm>
          <a:prstGeom prst="rect">
            <a:avLst/>
          </a:prstGeom>
          <a:noFill/>
          <a:ln/>
        </p:spPr>
        <p:txBody>
          <a:bodyPr wrap="square" rtlCol="0" anchor="ctr"/>
          <a:lstStyle/>
          <a:p>
            <a:pPr indent="0" marL="0">
              <a:buNone/>
            </a:pPr>
            <a:r>
              <a:rPr lang="en-US" sz="850" b="1" dirty="0">
                <a:solidFill>
                  <a:srgbClr val="FAEDCD"/>
                </a:solidFill>
              </a:rPr>
              <a:t>EXECUTION SCENARIO: PA SYSTEM LOAN</a:t>
            </a:r>
            <a:endParaRPr lang="en-US" sz="850" dirty="0"/>
          </a:p>
        </p:txBody>
      </p:sp>
      <p:sp>
        <p:nvSpPr>
          <p:cNvPr id="28" name="Text 25"/>
          <p:cNvSpPr/>
          <p:nvPr/>
        </p:nvSpPr>
        <p:spPr>
          <a:xfrm>
            <a:off x="6629400" y="4773168"/>
            <a:ext cx="4389120" cy="105156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Total Campus Stock: 4 PA Systems</a:t>
            </a:r>
            <a:endParaRPr lang="en-US" sz="850" dirty="0"/>
          </a:p>
          <a:p>
            <a:pPr indent="0" marL="0">
              <a:buNone/>
            </a:pPr>
            <a:r>
              <a:rPr lang="en-US" sz="850" dirty="0">
                <a:solidFill>
                  <a:srgbClr val="FFFFFF"/>
                </a:solidFill>
                <a:latin typeface="Calibri" pitchFamily="34" charset="0"/>
                <a:ea typeface="Calibri" pitchFamily="34" charset="-122"/>
                <a:cs typeface="Calibri" pitchFamily="34" charset="-120"/>
              </a:rPr>
              <a:t>Active Booking for 15-16 Oct: 3 PA Systems (Approved)</a:t>
            </a:r>
            <a:endParaRPr lang="en-US" sz="850" dirty="0"/>
          </a:p>
          <a:p>
            <a:pPr indent="0" marL="0">
              <a:buNone/>
            </a:pPr>
            <a:r>
              <a:rPr lang="en-US" sz="850" dirty="0">
                <a:solidFill>
                  <a:srgbClr val="FFFFFF"/>
                </a:solidFill>
                <a:latin typeface="Calibri" pitchFamily="34" charset="0"/>
                <a:ea typeface="Calibri" pitchFamily="34" charset="-122"/>
                <a:cs typeface="Calibri" pitchFamily="34" charset="-120"/>
              </a:rPr>
              <a:t>Club B Requests: 2 PA Systems for 16 Oct</a:t>
            </a:r>
            <a:endParaRPr lang="en-US" sz="850" dirty="0"/>
          </a:p>
          <a:p>
            <a:pPr indent="0" marL="0">
              <a:buNone/>
            </a:pPr>
            <a:r>
              <a:rPr lang="en-US" sz="850" dirty="0">
                <a:solidFill>
                  <a:srgbClr val="FFFFFF"/>
                </a:solidFill>
                <a:latin typeface="Calibri" pitchFamily="34" charset="0"/>
                <a:ea typeface="Calibri" pitchFamily="34" charset="-122"/>
                <a:cs typeface="Calibri" pitchFamily="34" charset="-120"/>
              </a:rPr>
              <a:t>Result: 4 - 3 = 1 Available. Request blocked immediately with warning: "Only 1 unit available for selected date range".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INNOVATION</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Innovation 2: Event Package Bundling System</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1-click reservations of pre-configured equipment sets reducing booking time by 85%</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12 of 20 | Nursyafiqah Zulaikha</a:t>
            </a:r>
            <a:endParaRPr lang="en-US" sz="800" dirty="0"/>
          </a:p>
        </p:txBody>
      </p:sp>
      <p:sp>
        <p:nvSpPr>
          <p:cNvPr id="12" name="Shape 9"/>
          <p:cNvSpPr/>
          <p:nvPr/>
        </p:nvSpPr>
        <p:spPr>
          <a:xfrm>
            <a:off x="731520" y="1463040"/>
            <a:ext cx="5212080" cy="4663440"/>
          </a:xfrm>
          <a:prstGeom prst="roundRect">
            <a:avLst>
              <a:gd name="adj" fmla="val 2353"/>
            </a:avLst>
          </a:prstGeom>
          <a:solidFill>
            <a:srgbClr val="FFFFFF"/>
          </a:solidFill>
          <a:ln w="15240">
            <a:solidFill>
              <a:srgbClr val="E8DFD5"/>
            </a:solidFill>
            <a:prstDash val="solid"/>
          </a:ln>
        </p:spPr>
      </p:sp>
      <p:sp>
        <p:nvSpPr>
          <p:cNvPr id="13" name="Text 10"/>
          <p:cNvSpPr/>
          <p:nvPr/>
        </p:nvSpPr>
        <p:spPr>
          <a:xfrm>
            <a:off x="1005840" y="1645920"/>
            <a:ext cx="4663440" cy="274320"/>
          </a:xfrm>
          <a:prstGeom prst="rect">
            <a:avLst/>
          </a:prstGeom>
          <a:noFill/>
          <a:ln/>
        </p:spPr>
        <p:txBody>
          <a:bodyPr wrap="square" rtlCol="0" anchor="ctr"/>
          <a:lstStyle/>
          <a:p>
            <a:pPr indent="0" marL="0">
              <a:buNone/>
            </a:pPr>
            <a:r>
              <a:rPr lang="en-US" sz="1000" b="1" dirty="0">
                <a:solidFill>
                  <a:srgbClr val="8B5E3C"/>
                </a:solidFill>
              </a:rPr>
              <a:t>THE BUNDLING PROBLEM &amp; SOLUTION</a:t>
            </a:r>
            <a:endParaRPr lang="en-US" sz="1000" dirty="0"/>
          </a:p>
        </p:txBody>
      </p:sp>
      <p:sp>
        <p:nvSpPr>
          <p:cNvPr id="14" name="Text 11"/>
          <p:cNvSpPr/>
          <p:nvPr/>
        </p:nvSpPr>
        <p:spPr>
          <a:xfrm>
            <a:off x="1005840" y="1965960"/>
            <a:ext cx="4663440" cy="27432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Traditional Organizers Struggle With Missing Gear</a:t>
            </a:r>
            <a:endParaRPr lang="en-US" sz="1200" dirty="0"/>
          </a:p>
        </p:txBody>
      </p:sp>
      <p:sp>
        <p:nvSpPr>
          <p:cNvPr id="15" name="Text 12"/>
          <p:cNvSpPr/>
          <p:nvPr/>
        </p:nvSpPr>
        <p:spPr>
          <a:xfrm>
            <a:off x="1005840" y="2286000"/>
            <a:ext cx="4663440" cy="777240"/>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When students organize an event like an AGM, seminar, or sports carnival, they need multiple complementary items (e.g. Speakers, Microphones, Audio Mixers, Projectors, and Extension Cables). In manual systems, students often forget essential accessories like speaker cables or microphone stands, causing last-minute crisis.</a:t>
            </a:r>
            <a:endParaRPr lang="en-US" sz="900" dirty="0"/>
          </a:p>
        </p:txBody>
      </p:sp>
      <p:sp>
        <p:nvSpPr>
          <p:cNvPr id="16" name="Shape 13"/>
          <p:cNvSpPr/>
          <p:nvPr/>
        </p:nvSpPr>
        <p:spPr>
          <a:xfrm>
            <a:off x="1005840" y="3154680"/>
            <a:ext cx="4663440" cy="1371600"/>
          </a:xfrm>
          <a:prstGeom prst="roundRect">
            <a:avLst>
              <a:gd name="adj" fmla="val 5333"/>
            </a:avLst>
          </a:prstGeom>
          <a:solidFill>
            <a:srgbClr val="F4EDE4"/>
          </a:solidFill>
          <a:ln w="12700">
            <a:solidFill>
              <a:srgbClr val="E8DFD5"/>
            </a:solidFill>
            <a:prstDash val="solid"/>
          </a:ln>
        </p:spPr>
      </p:sp>
      <p:sp>
        <p:nvSpPr>
          <p:cNvPr id="17" name="Text 14"/>
          <p:cNvSpPr/>
          <p:nvPr/>
        </p:nvSpPr>
        <p:spPr>
          <a:xfrm>
            <a:off x="1143000" y="3273552"/>
            <a:ext cx="4389120" cy="228600"/>
          </a:xfrm>
          <a:prstGeom prst="rect">
            <a:avLst/>
          </a:prstGeom>
          <a:noFill/>
          <a:ln/>
        </p:spPr>
        <p:txBody>
          <a:bodyPr wrap="square" rtlCol="0" anchor="ctr"/>
          <a:lstStyle/>
          <a:p>
            <a:pPr indent="0" marL="0">
              <a:buNone/>
            </a:pPr>
            <a:r>
              <a:rPr lang="en-US" sz="850" b="1" dirty="0">
                <a:solidFill>
                  <a:srgbClr val="8B5E3C"/>
                </a:solidFill>
              </a:rPr>
              <a:t>EFFICIENCY BENCHMARK: TIME SAVING</a:t>
            </a:r>
            <a:endParaRPr lang="en-US" sz="850" dirty="0"/>
          </a:p>
        </p:txBody>
      </p:sp>
      <p:sp>
        <p:nvSpPr>
          <p:cNvPr id="18" name="Text 15"/>
          <p:cNvSpPr/>
          <p:nvPr/>
        </p:nvSpPr>
        <p:spPr>
          <a:xfrm>
            <a:off x="1143000" y="3520440"/>
            <a:ext cx="4389120" cy="9144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Manual Booking: 15 to 20 minutes to list 8 separate items on paper.</a:t>
            </a:r>
            <a:endParaRPr lang="en-US" sz="850" dirty="0"/>
          </a:p>
          <a:p>
            <a:pPr indent="0" marL="0">
              <a:buNone/>
            </a:pPr>
            <a:r>
              <a:rPr lang="en-US" sz="850" dirty="0">
                <a:solidFill>
                  <a:srgbClr val="2B2D42"/>
                </a:solidFill>
                <a:latin typeface="Calibri" pitchFamily="34" charset="0"/>
                <a:ea typeface="Calibri" pitchFamily="34" charset="-122"/>
                <a:cs typeface="Calibri" pitchFamily="34" charset="-120"/>
              </a:rPr>
              <a:t>Individual Item Selection Online: ~5 minutes clicking across multiple pages.</a:t>
            </a:r>
            <a:endParaRPr lang="en-US" sz="850" dirty="0"/>
          </a:p>
          <a:p>
            <a:pPr indent="0" marL="0">
              <a:buNone/>
            </a:pPr>
            <a:r>
              <a:rPr lang="en-US" sz="850" dirty="0">
                <a:solidFill>
                  <a:srgbClr val="2B2D42"/>
                </a:solidFill>
                <a:latin typeface="Calibri" pitchFamily="34" charset="0"/>
                <a:ea typeface="Calibri" pitchFamily="34" charset="-122"/>
                <a:cs typeface="Calibri" pitchFamily="34" charset="-120"/>
              </a:rPr>
              <a:t>PinjamGeng Bundled Package: Under 60 seconds with 1 single click!</a:t>
            </a:r>
            <a:endParaRPr lang="en-US" sz="850" dirty="0"/>
          </a:p>
          <a:p>
            <a:pPr indent="0" marL="0">
              <a:buNone/>
            </a:pPr>
            <a:endParaRPr lang="en-US" sz="850" dirty="0"/>
          </a:p>
          <a:p>
            <a:pPr indent="0" marL="0">
              <a:buNone/>
            </a:pPr>
            <a:r>
              <a:rPr lang="en-US" sz="850" dirty="0">
                <a:solidFill>
                  <a:srgbClr val="2B2D42"/>
                </a:solidFill>
                <a:latin typeface="Calibri" pitchFamily="34" charset="0"/>
                <a:ea typeface="Calibri" pitchFamily="34" charset="-122"/>
                <a:cs typeface="Calibri" pitchFamily="34" charset="-120"/>
              </a:rPr>
              <a:t>Efficiency Improvement: Over 85% reduction in submission time.</a:t>
            </a:r>
            <a:endParaRPr lang="en-US" sz="850" dirty="0"/>
          </a:p>
        </p:txBody>
      </p:sp>
      <p:sp>
        <p:nvSpPr>
          <p:cNvPr id="19" name="Text 16"/>
          <p:cNvSpPr/>
          <p:nvPr/>
        </p:nvSpPr>
        <p:spPr>
          <a:xfrm>
            <a:off x="1005840" y="4663440"/>
            <a:ext cx="4663440" cy="54864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Backed by relational junction table (package_items) ensuring atomic inventory deductions across all bundled components simultaneously.</a:t>
            </a:r>
            <a:endParaRPr lang="en-US" sz="850" dirty="0"/>
          </a:p>
        </p:txBody>
      </p:sp>
      <p:sp>
        <p:nvSpPr>
          <p:cNvPr id="20" name="Text 17"/>
          <p:cNvSpPr/>
          <p:nvPr/>
        </p:nvSpPr>
        <p:spPr>
          <a:xfrm>
            <a:off x="1005840" y="5212080"/>
            <a:ext cx="4663440" cy="365760"/>
          </a:xfrm>
          <a:prstGeom prst="rect">
            <a:avLst/>
          </a:prstGeom>
          <a:noFill/>
          <a:ln/>
        </p:spPr>
        <p:txBody>
          <a:bodyPr wrap="square" rtlCol="0" anchor="ctr"/>
          <a:lstStyle/>
          <a:p>
            <a:pPr indent="0" marL="0">
              <a:buNone/>
            </a:pPr>
            <a:r>
              <a:rPr lang="en-US" sz="850" b="1" dirty="0">
                <a:solidFill>
                  <a:srgbClr val="2E7D32"/>
                </a:solidFill>
                <a:latin typeface="Calibri" pitchFamily="34" charset="0"/>
                <a:ea typeface="Calibri" pitchFamily="34" charset="-122"/>
                <a:cs typeface="Calibri" pitchFamily="34" charset="-120"/>
              </a:rPr>
              <a:t>• Admins can dynamically create, edit, or retire package presets.</a:t>
            </a:r>
            <a:endParaRPr lang="en-US" sz="850" dirty="0"/>
          </a:p>
        </p:txBody>
      </p:sp>
      <p:sp>
        <p:nvSpPr>
          <p:cNvPr id="21" name="Shape 18"/>
          <p:cNvSpPr/>
          <p:nvPr/>
        </p:nvSpPr>
        <p:spPr>
          <a:xfrm>
            <a:off x="6245352" y="1463040"/>
            <a:ext cx="5212080" cy="1417320"/>
          </a:xfrm>
          <a:prstGeom prst="roundRect">
            <a:avLst>
              <a:gd name="adj" fmla="val 6452"/>
            </a:avLst>
          </a:prstGeom>
          <a:solidFill>
            <a:srgbClr val="FFFFFF"/>
          </a:solidFill>
          <a:ln w="15240">
            <a:solidFill>
              <a:srgbClr val="E8DFD5"/>
            </a:solidFill>
            <a:prstDash val="solid"/>
          </a:ln>
        </p:spPr>
      </p:sp>
      <p:sp>
        <p:nvSpPr>
          <p:cNvPr id="22" name="Shape 19"/>
          <p:cNvSpPr/>
          <p:nvPr/>
        </p:nvSpPr>
        <p:spPr>
          <a:xfrm>
            <a:off x="6428232" y="1600200"/>
            <a:ext cx="2011680" cy="201168"/>
          </a:xfrm>
          <a:prstGeom prst="roundRect">
            <a:avLst>
              <a:gd name="adj" fmla="val 27273"/>
            </a:avLst>
          </a:prstGeom>
          <a:solidFill>
            <a:srgbClr val="FAEDCD"/>
          </a:solidFill>
          <a:ln w="12700">
            <a:solidFill>
              <a:srgbClr val="FAEDCD"/>
            </a:solidFill>
            <a:prstDash val="solid"/>
          </a:ln>
        </p:spPr>
      </p:sp>
      <p:sp>
        <p:nvSpPr>
          <p:cNvPr id="23" name="Text 20"/>
          <p:cNvSpPr/>
          <p:nvPr/>
        </p:nvSpPr>
        <p:spPr>
          <a:xfrm>
            <a:off x="6428232" y="1600200"/>
            <a:ext cx="2011680" cy="201168"/>
          </a:xfrm>
          <a:prstGeom prst="rect">
            <a:avLst/>
          </a:prstGeom>
          <a:noFill/>
          <a:ln/>
        </p:spPr>
        <p:txBody>
          <a:bodyPr wrap="square" rtlCol="0" anchor="ctr"/>
          <a:lstStyle/>
          <a:p>
            <a:pPr algn="ctr" indent="0" marL="0">
              <a:buNone/>
            </a:pPr>
            <a:r>
              <a:rPr lang="en-US" sz="750" b="1" dirty="0">
                <a:solidFill>
                  <a:srgbClr val="7F5539"/>
                </a:solidFill>
              </a:rPr>
              <a:t>AUDITORIUM &amp; HALL EVENTS</a:t>
            </a:r>
            <a:endParaRPr lang="en-US" sz="750" dirty="0"/>
          </a:p>
        </p:txBody>
      </p:sp>
      <p:sp>
        <p:nvSpPr>
          <p:cNvPr id="24" name="Text 21"/>
          <p:cNvSpPr/>
          <p:nvPr/>
        </p:nvSpPr>
        <p:spPr>
          <a:xfrm>
            <a:off x="6428232" y="1847088"/>
            <a:ext cx="4754880" cy="274320"/>
          </a:xfrm>
          <a:prstGeom prst="rect">
            <a:avLst/>
          </a:prstGeom>
          <a:noFill/>
          <a:ln/>
        </p:spPr>
        <p:txBody>
          <a:bodyPr wrap="square" rtlCol="0" anchor="ctr"/>
          <a:lstStyle/>
          <a:p>
            <a:pPr indent="0" marL="0">
              <a:buNone/>
            </a:pPr>
            <a:r>
              <a:rPr lang="en-US" sz="1150" b="1" dirty="0">
                <a:solidFill>
                  <a:srgbClr val="5C3D28"/>
                </a:solidFill>
                <a:latin typeface="Arial" pitchFamily="34" charset="0"/>
                <a:ea typeface="Arial" pitchFamily="34" charset="-122"/>
                <a:cs typeface="Arial" pitchFamily="34" charset="-120"/>
              </a:rPr>
              <a:t>Basic PA Sound System Set</a:t>
            </a:r>
            <a:endParaRPr lang="en-US" sz="1150" dirty="0"/>
          </a:p>
        </p:txBody>
      </p:sp>
      <p:sp>
        <p:nvSpPr>
          <p:cNvPr id="25" name="Text 22"/>
          <p:cNvSpPr/>
          <p:nvPr/>
        </p:nvSpPr>
        <p:spPr>
          <a:xfrm>
            <a:off x="6428232" y="2121408"/>
            <a:ext cx="4754880" cy="18288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 1x Yamaha Portable PA Console</a:t>
            </a:r>
            <a:endParaRPr lang="en-US" sz="800" dirty="0"/>
          </a:p>
        </p:txBody>
      </p:sp>
      <p:sp>
        <p:nvSpPr>
          <p:cNvPr id="26" name="Text 23"/>
          <p:cNvSpPr/>
          <p:nvPr/>
        </p:nvSpPr>
        <p:spPr>
          <a:xfrm>
            <a:off x="6428232" y="2295144"/>
            <a:ext cx="4754880" cy="18288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 2x Wireless Handheld Microphones</a:t>
            </a:r>
            <a:endParaRPr lang="en-US" sz="800" dirty="0"/>
          </a:p>
        </p:txBody>
      </p:sp>
      <p:sp>
        <p:nvSpPr>
          <p:cNvPr id="27" name="Text 24"/>
          <p:cNvSpPr/>
          <p:nvPr/>
        </p:nvSpPr>
        <p:spPr>
          <a:xfrm>
            <a:off x="6428232" y="2468880"/>
            <a:ext cx="4754880" cy="18288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 2x Heavy Duty Speaker Stands</a:t>
            </a:r>
            <a:endParaRPr lang="en-US" sz="800" dirty="0"/>
          </a:p>
        </p:txBody>
      </p:sp>
      <p:sp>
        <p:nvSpPr>
          <p:cNvPr id="28" name="Text 25"/>
          <p:cNvSpPr/>
          <p:nvPr/>
        </p:nvSpPr>
        <p:spPr>
          <a:xfrm>
            <a:off x="6428232" y="2642616"/>
            <a:ext cx="4754880" cy="18288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 1x 20m Heavy Duty Power Reel</a:t>
            </a:r>
            <a:endParaRPr lang="en-US" sz="800" dirty="0"/>
          </a:p>
        </p:txBody>
      </p:sp>
      <p:sp>
        <p:nvSpPr>
          <p:cNvPr id="29" name="Shape 26"/>
          <p:cNvSpPr/>
          <p:nvPr/>
        </p:nvSpPr>
        <p:spPr>
          <a:xfrm>
            <a:off x="6245352" y="3017520"/>
            <a:ext cx="5212080" cy="1417320"/>
          </a:xfrm>
          <a:prstGeom prst="roundRect">
            <a:avLst>
              <a:gd name="adj" fmla="val 6452"/>
            </a:avLst>
          </a:prstGeom>
          <a:solidFill>
            <a:srgbClr val="FFFFFF"/>
          </a:solidFill>
          <a:ln w="15240">
            <a:solidFill>
              <a:srgbClr val="E8DFD5"/>
            </a:solidFill>
            <a:prstDash val="solid"/>
          </a:ln>
        </p:spPr>
      </p:sp>
      <p:sp>
        <p:nvSpPr>
          <p:cNvPr id="30" name="Shape 27"/>
          <p:cNvSpPr/>
          <p:nvPr/>
        </p:nvSpPr>
        <p:spPr>
          <a:xfrm>
            <a:off x="6428232" y="3154680"/>
            <a:ext cx="2011680" cy="201168"/>
          </a:xfrm>
          <a:prstGeom prst="roundRect">
            <a:avLst>
              <a:gd name="adj" fmla="val 27273"/>
            </a:avLst>
          </a:prstGeom>
          <a:solidFill>
            <a:srgbClr val="FAEDCD"/>
          </a:solidFill>
          <a:ln w="12700">
            <a:solidFill>
              <a:srgbClr val="FAEDCD"/>
            </a:solidFill>
            <a:prstDash val="solid"/>
          </a:ln>
        </p:spPr>
      </p:sp>
      <p:sp>
        <p:nvSpPr>
          <p:cNvPr id="31" name="Text 28"/>
          <p:cNvSpPr/>
          <p:nvPr/>
        </p:nvSpPr>
        <p:spPr>
          <a:xfrm>
            <a:off x="6428232" y="3154680"/>
            <a:ext cx="2011680" cy="201168"/>
          </a:xfrm>
          <a:prstGeom prst="rect">
            <a:avLst/>
          </a:prstGeom>
          <a:noFill/>
          <a:ln/>
        </p:spPr>
        <p:txBody>
          <a:bodyPr wrap="square" rtlCol="0" anchor="ctr"/>
          <a:lstStyle/>
          <a:p>
            <a:pPr algn="ctr" indent="0" marL="0">
              <a:buNone/>
            </a:pPr>
            <a:r>
              <a:rPr lang="en-US" sz="750" b="1" dirty="0">
                <a:solidFill>
                  <a:srgbClr val="7F5539"/>
                </a:solidFill>
              </a:rPr>
              <a:t>LECTURES &amp; WORKSHOPS</a:t>
            </a:r>
            <a:endParaRPr lang="en-US" sz="750" dirty="0"/>
          </a:p>
        </p:txBody>
      </p:sp>
      <p:sp>
        <p:nvSpPr>
          <p:cNvPr id="32" name="Text 29"/>
          <p:cNvSpPr/>
          <p:nvPr/>
        </p:nvSpPr>
        <p:spPr>
          <a:xfrm>
            <a:off x="6428232" y="3401568"/>
            <a:ext cx="4754880" cy="274320"/>
          </a:xfrm>
          <a:prstGeom prst="rect">
            <a:avLst/>
          </a:prstGeom>
          <a:noFill/>
          <a:ln/>
        </p:spPr>
        <p:txBody>
          <a:bodyPr wrap="square" rtlCol="0" anchor="ctr"/>
          <a:lstStyle/>
          <a:p>
            <a:pPr indent="0" marL="0">
              <a:buNone/>
            </a:pPr>
            <a:r>
              <a:rPr lang="en-US" sz="1150" b="1" dirty="0">
                <a:solidFill>
                  <a:srgbClr val="5C3D28"/>
                </a:solidFill>
                <a:latin typeface="Arial" pitchFamily="34" charset="0"/>
                <a:ea typeface="Arial" pitchFamily="34" charset="-122"/>
                <a:cs typeface="Arial" pitchFamily="34" charset="-120"/>
              </a:rPr>
              <a:t>Auditorium Seminar Presentation Set</a:t>
            </a:r>
            <a:endParaRPr lang="en-US" sz="1150" dirty="0"/>
          </a:p>
        </p:txBody>
      </p:sp>
      <p:sp>
        <p:nvSpPr>
          <p:cNvPr id="33" name="Text 30"/>
          <p:cNvSpPr/>
          <p:nvPr/>
        </p:nvSpPr>
        <p:spPr>
          <a:xfrm>
            <a:off x="6428232" y="3675888"/>
            <a:ext cx="4754880" cy="18288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 1x Epson Full HD Projector (3,600 Lumens)</a:t>
            </a:r>
            <a:endParaRPr lang="en-US" sz="800" dirty="0"/>
          </a:p>
        </p:txBody>
      </p:sp>
      <p:sp>
        <p:nvSpPr>
          <p:cNvPr id="34" name="Text 31"/>
          <p:cNvSpPr/>
          <p:nvPr/>
        </p:nvSpPr>
        <p:spPr>
          <a:xfrm>
            <a:off x="6428232" y="3849624"/>
            <a:ext cx="4754880" cy="18288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 1x 100-Inch Tripod Projector Screen</a:t>
            </a:r>
            <a:endParaRPr lang="en-US" sz="800" dirty="0"/>
          </a:p>
        </p:txBody>
      </p:sp>
      <p:sp>
        <p:nvSpPr>
          <p:cNvPr id="35" name="Text 32"/>
          <p:cNvSpPr/>
          <p:nvPr/>
        </p:nvSpPr>
        <p:spPr>
          <a:xfrm>
            <a:off x="6428232" y="4023360"/>
            <a:ext cx="4754880" cy="18288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 1x Wireless Presentation Laser Clicker</a:t>
            </a:r>
            <a:endParaRPr lang="en-US" sz="800" dirty="0"/>
          </a:p>
        </p:txBody>
      </p:sp>
      <p:sp>
        <p:nvSpPr>
          <p:cNvPr id="36" name="Text 33"/>
          <p:cNvSpPr/>
          <p:nvPr/>
        </p:nvSpPr>
        <p:spPr>
          <a:xfrm>
            <a:off x="6428232" y="4197096"/>
            <a:ext cx="4754880" cy="18288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 1x 10m High-Speed HDMI Cable</a:t>
            </a:r>
            <a:endParaRPr lang="en-US" sz="800" dirty="0"/>
          </a:p>
        </p:txBody>
      </p:sp>
      <p:sp>
        <p:nvSpPr>
          <p:cNvPr id="37" name="Shape 34"/>
          <p:cNvSpPr/>
          <p:nvPr/>
        </p:nvSpPr>
        <p:spPr>
          <a:xfrm>
            <a:off x="6245352" y="4572000"/>
            <a:ext cx="5212080" cy="1417320"/>
          </a:xfrm>
          <a:prstGeom prst="roundRect">
            <a:avLst>
              <a:gd name="adj" fmla="val 6452"/>
            </a:avLst>
          </a:prstGeom>
          <a:solidFill>
            <a:srgbClr val="FFFFFF"/>
          </a:solidFill>
          <a:ln w="15240">
            <a:solidFill>
              <a:srgbClr val="E8DFD5"/>
            </a:solidFill>
            <a:prstDash val="solid"/>
          </a:ln>
        </p:spPr>
      </p:sp>
      <p:sp>
        <p:nvSpPr>
          <p:cNvPr id="38" name="Shape 35"/>
          <p:cNvSpPr/>
          <p:nvPr/>
        </p:nvSpPr>
        <p:spPr>
          <a:xfrm>
            <a:off x="6428232" y="4709160"/>
            <a:ext cx="2011680" cy="201168"/>
          </a:xfrm>
          <a:prstGeom prst="roundRect">
            <a:avLst>
              <a:gd name="adj" fmla="val 27273"/>
            </a:avLst>
          </a:prstGeom>
          <a:solidFill>
            <a:srgbClr val="FAEDCD"/>
          </a:solidFill>
          <a:ln w="12700">
            <a:solidFill>
              <a:srgbClr val="FAEDCD"/>
            </a:solidFill>
            <a:prstDash val="solid"/>
          </a:ln>
        </p:spPr>
      </p:sp>
      <p:sp>
        <p:nvSpPr>
          <p:cNvPr id="39" name="Text 36"/>
          <p:cNvSpPr/>
          <p:nvPr/>
        </p:nvSpPr>
        <p:spPr>
          <a:xfrm>
            <a:off x="6428232" y="4709160"/>
            <a:ext cx="2011680" cy="201168"/>
          </a:xfrm>
          <a:prstGeom prst="rect">
            <a:avLst/>
          </a:prstGeom>
          <a:noFill/>
          <a:ln/>
        </p:spPr>
        <p:txBody>
          <a:bodyPr wrap="square" rtlCol="0" anchor="ctr"/>
          <a:lstStyle/>
          <a:p>
            <a:pPr algn="ctr" indent="0" marL="0">
              <a:buNone/>
            </a:pPr>
            <a:r>
              <a:rPr lang="en-US" sz="750" b="1" dirty="0">
                <a:solidFill>
                  <a:srgbClr val="7F5539"/>
                </a:solidFill>
              </a:rPr>
              <a:t>FIELD &amp; SPORTS EVENTS</a:t>
            </a:r>
            <a:endParaRPr lang="en-US" sz="750" dirty="0"/>
          </a:p>
        </p:txBody>
      </p:sp>
      <p:sp>
        <p:nvSpPr>
          <p:cNvPr id="40" name="Text 37"/>
          <p:cNvSpPr/>
          <p:nvPr/>
        </p:nvSpPr>
        <p:spPr>
          <a:xfrm>
            <a:off x="6428232" y="4956048"/>
            <a:ext cx="4754880" cy="274320"/>
          </a:xfrm>
          <a:prstGeom prst="rect">
            <a:avLst/>
          </a:prstGeom>
          <a:noFill/>
          <a:ln/>
        </p:spPr>
        <p:txBody>
          <a:bodyPr wrap="square" rtlCol="0" anchor="ctr"/>
          <a:lstStyle/>
          <a:p>
            <a:pPr indent="0" marL="0">
              <a:buNone/>
            </a:pPr>
            <a:r>
              <a:rPr lang="en-US" sz="1150" b="1" dirty="0">
                <a:solidFill>
                  <a:srgbClr val="5C3D28"/>
                </a:solidFill>
                <a:latin typeface="Arial" pitchFamily="34" charset="0"/>
                <a:ea typeface="Arial" pitchFamily="34" charset="-122"/>
                <a:cs typeface="Arial" pitchFamily="34" charset="-120"/>
              </a:rPr>
              <a:t>Outdoor Carnival &amp; Sports Set</a:t>
            </a:r>
            <a:endParaRPr lang="en-US" sz="1150" dirty="0"/>
          </a:p>
        </p:txBody>
      </p:sp>
      <p:sp>
        <p:nvSpPr>
          <p:cNvPr id="41" name="Text 38"/>
          <p:cNvSpPr/>
          <p:nvPr/>
        </p:nvSpPr>
        <p:spPr>
          <a:xfrm>
            <a:off x="6428232" y="5230368"/>
            <a:ext cx="4754880" cy="18288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 2x Rechargeable Shoulder Megaphones</a:t>
            </a:r>
            <a:endParaRPr lang="en-US" sz="800" dirty="0"/>
          </a:p>
        </p:txBody>
      </p:sp>
      <p:sp>
        <p:nvSpPr>
          <p:cNvPr id="42" name="Text 39"/>
          <p:cNvSpPr/>
          <p:nvPr/>
        </p:nvSpPr>
        <p:spPr>
          <a:xfrm>
            <a:off x="6428232" y="5404104"/>
            <a:ext cx="4754880" cy="18288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 4x Motorola UHF Walkie-Talkies</a:t>
            </a:r>
            <a:endParaRPr lang="en-US" sz="800" dirty="0"/>
          </a:p>
        </p:txBody>
      </p:sp>
      <p:sp>
        <p:nvSpPr>
          <p:cNvPr id="43" name="Text 40"/>
          <p:cNvSpPr/>
          <p:nvPr/>
        </p:nvSpPr>
        <p:spPr>
          <a:xfrm>
            <a:off x="6428232" y="5577840"/>
            <a:ext cx="4754880" cy="18288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 2x Weatherproof Outdoor Extension Reels</a:t>
            </a:r>
            <a:endParaRPr lang="en-US" sz="800" dirty="0"/>
          </a:p>
        </p:txBody>
      </p:sp>
      <p:sp>
        <p:nvSpPr>
          <p:cNvPr id="44" name="Text 41"/>
          <p:cNvSpPr/>
          <p:nvPr/>
        </p:nvSpPr>
        <p:spPr>
          <a:xfrm>
            <a:off x="6428232" y="5751576"/>
            <a:ext cx="4754880" cy="18288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 1x First Aid Kit Case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INNOVATION</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Innovation 3: Return &amp; Damage Tracking Engine</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Standardized 4-tier defect grading, automated fine computation, and digital audit trail</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13 of 20 | Nursyafiqah Zulaikha</a:t>
            </a:r>
            <a:endParaRPr lang="en-US" sz="800" dirty="0"/>
          </a:p>
        </p:txBody>
      </p:sp>
      <p:sp>
        <p:nvSpPr>
          <p:cNvPr id="12" name="Shape 9"/>
          <p:cNvSpPr/>
          <p:nvPr/>
        </p:nvSpPr>
        <p:spPr>
          <a:xfrm>
            <a:off x="731520" y="1463040"/>
            <a:ext cx="5212080" cy="4663440"/>
          </a:xfrm>
          <a:prstGeom prst="roundRect">
            <a:avLst>
              <a:gd name="adj" fmla="val 2353"/>
            </a:avLst>
          </a:prstGeom>
          <a:solidFill>
            <a:srgbClr val="FFFFFF"/>
          </a:solidFill>
          <a:ln w="15240">
            <a:solidFill>
              <a:srgbClr val="E8DFD5"/>
            </a:solidFill>
            <a:prstDash val="solid"/>
          </a:ln>
        </p:spPr>
      </p:sp>
      <p:sp>
        <p:nvSpPr>
          <p:cNvPr id="13" name="Text 10"/>
          <p:cNvSpPr/>
          <p:nvPr/>
        </p:nvSpPr>
        <p:spPr>
          <a:xfrm>
            <a:off x="1005840" y="1645920"/>
            <a:ext cx="4663440" cy="274320"/>
          </a:xfrm>
          <a:prstGeom prst="rect">
            <a:avLst/>
          </a:prstGeom>
          <a:noFill/>
          <a:ln/>
        </p:spPr>
        <p:txBody>
          <a:bodyPr wrap="square" rtlCol="0" anchor="ctr"/>
          <a:lstStyle/>
          <a:p>
            <a:pPr indent="0" marL="0">
              <a:buNone/>
            </a:pPr>
            <a:r>
              <a:rPr lang="en-US" sz="1000" b="1" dirty="0">
                <a:solidFill>
                  <a:srgbClr val="8B5E3C"/>
                </a:solidFill>
              </a:rPr>
              <a:t>STANDARDIZED 4-TIER DEFECT SEVERITY GRADING</a:t>
            </a:r>
            <a:endParaRPr lang="en-US" sz="1000" dirty="0"/>
          </a:p>
        </p:txBody>
      </p:sp>
      <p:sp>
        <p:nvSpPr>
          <p:cNvPr id="14" name="Shape 11"/>
          <p:cNvSpPr/>
          <p:nvPr/>
        </p:nvSpPr>
        <p:spPr>
          <a:xfrm>
            <a:off x="1005840" y="2011680"/>
            <a:ext cx="4663440" cy="896112"/>
          </a:xfrm>
          <a:prstGeom prst="roundRect">
            <a:avLst>
              <a:gd name="adj" fmla="val 8163"/>
            </a:avLst>
          </a:prstGeom>
          <a:solidFill>
            <a:srgbClr val="FBF8F3"/>
          </a:solidFill>
          <a:ln w="12700">
            <a:solidFill>
              <a:srgbClr val="E8DFD5"/>
            </a:solidFill>
            <a:prstDash val="solid"/>
          </a:ln>
        </p:spPr>
      </p:sp>
      <p:sp>
        <p:nvSpPr>
          <p:cNvPr id="15" name="Text 12"/>
          <p:cNvSpPr/>
          <p:nvPr/>
        </p:nvSpPr>
        <p:spPr>
          <a:xfrm>
            <a:off x="1143000" y="2121408"/>
            <a:ext cx="3200400" cy="256032"/>
          </a:xfrm>
          <a:prstGeom prst="rect">
            <a:avLst/>
          </a:prstGeom>
          <a:noFill/>
          <a:ln/>
        </p:spPr>
        <p:txBody>
          <a:bodyPr wrap="square" rtlCol="0" anchor="ctr"/>
          <a:lstStyle/>
          <a:p>
            <a:pPr indent="0" marL="0">
              <a:buNone/>
            </a:pPr>
            <a:r>
              <a:rPr lang="en-US" sz="1000" b="1" dirty="0">
                <a:solidFill>
                  <a:srgbClr val="5C3D28"/>
                </a:solidFill>
                <a:latin typeface="Arial" pitchFamily="34" charset="0"/>
                <a:ea typeface="Arial" pitchFamily="34" charset="-122"/>
                <a:cs typeface="Arial" pitchFamily="34" charset="-120"/>
              </a:rPr>
              <a:t>Tier 1: Minor Damage</a:t>
            </a:r>
            <a:endParaRPr lang="en-US" sz="1000" dirty="0"/>
          </a:p>
        </p:txBody>
      </p:sp>
      <p:sp>
        <p:nvSpPr>
          <p:cNvPr id="16" name="Shape 13"/>
          <p:cNvSpPr/>
          <p:nvPr/>
        </p:nvSpPr>
        <p:spPr>
          <a:xfrm>
            <a:off x="4389120" y="2121408"/>
            <a:ext cx="1097280" cy="201168"/>
          </a:xfrm>
          <a:prstGeom prst="roundRect">
            <a:avLst>
              <a:gd name="adj" fmla="val 27273"/>
            </a:avLst>
          </a:prstGeom>
          <a:solidFill>
            <a:srgbClr val="3D2B1F"/>
          </a:solidFill>
          <a:ln w="12700">
            <a:solidFill>
              <a:srgbClr val="3D2B1F"/>
            </a:solidFill>
            <a:prstDash val="solid"/>
          </a:ln>
        </p:spPr>
      </p:sp>
      <p:sp>
        <p:nvSpPr>
          <p:cNvPr id="17" name="Text 14"/>
          <p:cNvSpPr/>
          <p:nvPr/>
        </p:nvSpPr>
        <p:spPr>
          <a:xfrm>
            <a:off x="4389120" y="2121408"/>
            <a:ext cx="1097280" cy="201168"/>
          </a:xfrm>
          <a:prstGeom prst="rect">
            <a:avLst/>
          </a:prstGeom>
          <a:noFill/>
          <a:ln/>
        </p:spPr>
        <p:txBody>
          <a:bodyPr wrap="square" rtlCol="0" anchor="ctr"/>
          <a:lstStyle/>
          <a:p>
            <a:pPr algn="ctr" indent="0" marL="0">
              <a:buNone/>
            </a:pPr>
            <a:r>
              <a:rPr lang="en-US" sz="750" b="1" dirty="0">
                <a:solidFill>
                  <a:srgbClr val="FFFFFF"/>
                </a:solidFill>
              </a:rPr>
              <a:t>10% FINE</a:t>
            </a:r>
            <a:endParaRPr lang="en-US" sz="750" dirty="0"/>
          </a:p>
        </p:txBody>
      </p:sp>
      <p:sp>
        <p:nvSpPr>
          <p:cNvPr id="18" name="Text 15"/>
          <p:cNvSpPr/>
          <p:nvPr/>
        </p:nvSpPr>
        <p:spPr>
          <a:xfrm>
            <a:off x="1143000" y="2395728"/>
            <a:ext cx="4343400" cy="45720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Cosmetic scratches, loose knobs, minor casing scuffs. Item still 100% functional.</a:t>
            </a:r>
            <a:endParaRPr lang="en-US" sz="800" dirty="0"/>
          </a:p>
        </p:txBody>
      </p:sp>
      <p:sp>
        <p:nvSpPr>
          <p:cNvPr id="19" name="Shape 16"/>
          <p:cNvSpPr/>
          <p:nvPr/>
        </p:nvSpPr>
        <p:spPr>
          <a:xfrm>
            <a:off x="1005840" y="3017520"/>
            <a:ext cx="4663440" cy="896112"/>
          </a:xfrm>
          <a:prstGeom prst="roundRect">
            <a:avLst>
              <a:gd name="adj" fmla="val 8163"/>
            </a:avLst>
          </a:prstGeom>
          <a:solidFill>
            <a:srgbClr val="FBF8F3"/>
          </a:solidFill>
          <a:ln w="12700">
            <a:solidFill>
              <a:srgbClr val="E8DFD5"/>
            </a:solidFill>
            <a:prstDash val="solid"/>
          </a:ln>
        </p:spPr>
      </p:sp>
      <p:sp>
        <p:nvSpPr>
          <p:cNvPr id="20" name="Text 17"/>
          <p:cNvSpPr/>
          <p:nvPr/>
        </p:nvSpPr>
        <p:spPr>
          <a:xfrm>
            <a:off x="1143000" y="3127248"/>
            <a:ext cx="3200400" cy="256032"/>
          </a:xfrm>
          <a:prstGeom prst="rect">
            <a:avLst/>
          </a:prstGeom>
          <a:noFill/>
          <a:ln/>
        </p:spPr>
        <p:txBody>
          <a:bodyPr wrap="square" rtlCol="0" anchor="ctr"/>
          <a:lstStyle/>
          <a:p>
            <a:pPr indent="0" marL="0">
              <a:buNone/>
            </a:pPr>
            <a:r>
              <a:rPr lang="en-US" sz="1000" b="1" dirty="0">
                <a:solidFill>
                  <a:srgbClr val="5C3D28"/>
                </a:solidFill>
                <a:latin typeface="Arial" pitchFamily="34" charset="0"/>
                <a:ea typeface="Arial" pitchFamily="34" charset="-122"/>
                <a:cs typeface="Arial" pitchFamily="34" charset="-120"/>
              </a:rPr>
              <a:t>Tier 2: Moderate Damage</a:t>
            </a:r>
            <a:endParaRPr lang="en-US" sz="1000" dirty="0"/>
          </a:p>
        </p:txBody>
      </p:sp>
      <p:sp>
        <p:nvSpPr>
          <p:cNvPr id="21" name="Shape 18"/>
          <p:cNvSpPr/>
          <p:nvPr/>
        </p:nvSpPr>
        <p:spPr>
          <a:xfrm>
            <a:off x="4389120" y="3127248"/>
            <a:ext cx="1097280" cy="201168"/>
          </a:xfrm>
          <a:prstGeom prst="roundRect">
            <a:avLst>
              <a:gd name="adj" fmla="val 27273"/>
            </a:avLst>
          </a:prstGeom>
          <a:solidFill>
            <a:srgbClr val="3D2B1F"/>
          </a:solidFill>
          <a:ln w="12700">
            <a:solidFill>
              <a:srgbClr val="3D2B1F"/>
            </a:solidFill>
            <a:prstDash val="solid"/>
          </a:ln>
        </p:spPr>
      </p:sp>
      <p:sp>
        <p:nvSpPr>
          <p:cNvPr id="22" name="Text 19"/>
          <p:cNvSpPr/>
          <p:nvPr/>
        </p:nvSpPr>
        <p:spPr>
          <a:xfrm>
            <a:off x="4389120" y="3127248"/>
            <a:ext cx="1097280" cy="201168"/>
          </a:xfrm>
          <a:prstGeom prst="rect">
            <a:avLst/>
          </a:prstGeom>
          <a:noFill/>
          <a:ln/>
        </p:spPr>
        <p:txBody>
          <a:bodyPr wrap="square" rtlCol="0" anchor="ctr"/>
          <a:lstStyle/>
          <a:p>
            <a:pPr algn="ctr" indent="0" marL="0">
              <a:buNone/>
            </a:pPr>
            <a:r>
              <a:rPr lang="en-US" sz="750" b="1" dirty="0">
                <a:solidFill>
                  <a:srgbClr val="FFFFFF"/>
                </a:solidFill>
              </a:rPr>
              <a:t>30% FINE</a:t>
            </a:r>
            <a:endParaRPr lang="en-US" sz="750" dirty="0"/>
          </a:p>
        </p:txBody>
      </p:sp>
      <p:sp>
        <p:nvSpPr>
          <p:cNvPr id="23" name="Text 20"/>
          <p:cNvSpPr/>
          <p:nvPr/>
        </p:nvSpPr>
        <p:spPr>
          <a:xfrm>
            <a:off x="1143000" y="3401568"/>
            <a:ext cx="4343400" cy="45720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Cracked plastic housing, frayed cables, faulty connector pins requiring basic repair.</a:t>
            </a:r>
            <a:endParaRPr lang="en-US" sz="800" dirty="0"/>
          </a:p>
        </p:txBody>
      </p:sp>
      <p:sp>
        <p:nvSpPr>
          <p:cNvPr id="24" name="Shape 21"/>
          <p:cNvSpPr/>
          <p:nvPr/>
        </p:nvSpPr>
        <p:spPr>
          <a:xfrm>
            <a:off x="1005840" y="4023360"/>
            <a:ext cx="4663440" cy="896112"/>
          </a:xfrm>
          <a:prstGeom prst="roundRect">
            <a:avLst>
              <a:gd name="adj" fmla="val 8163"/>
            </a:avLst>
          </a:prstGeom>
          <a:solidFill>
            <a:srgbClr val="FBF8F3"/>
          </a:solidFill>
          <a:ln w="12700">
            <a:solidFill>
              <a:srgbClr val="E8DFD5"/>
            </a:solidFill>
            <a:prstDash val="solid"/>
          </a:ln>
        </p:spPr>
      </p:sp>
      <p:sp>
        <p:nvSpPr>
          <p:cNvPr id="25" name="Text 22"/>
          <p:cNvSpPr/>
          <p:nvPr/>
        </p:nvSpPr>
        <p:spPr>
          <a:xfrm>
            <a:off x="1143000" y="4133088"/>
            <a:ext cx="3200400" cy="256032"/>
          </a:xfrm>
          <a:prstGeom prst="rect">
            <a:avLst/>
          </a:prstGeom>
          <a:noFill/>
          <a:ln/>
        </p:spPr>
        <p:txBody>
          <a:bodyPr wrap="square" rtlCol="0" anchor="ctr"/>
          <a:lstStyle/>
          <a:p>
            <a:pPr indent="0" marL="0">
              <a:buNone/>
            </a:pPr>
            <a:r>
              <a:rPr lang="en-US" sz="1000" b="1" dirty="0">
                <a:solidFill>
                  <a:srgbClr val="5C3D28"/>
                </a:solidFill>
                <a:latin typeface="Arial" pitchFamily="34" charset="0"/>
                <a:ea typeface="Arial" pitchFamily="34" charset="-122"/>
                <a:cs typeface="Arial" pitchFamily="34" charset="-120"/>
              </a:rPr>
              <a:t>Tier 3: Severe Damage</a:t>
            </a:r>
            <a:endParaRPr lang="en-US" sz="1000" dirty="0"/>
          </a:p>
        </p:txBody>
      </p:sp>
      <p:sp>
        <p:nvSpPr>
          <p:cNvPr id="26" name="Shape 23"/>
          <p:cNvSpPr/>
          <p:nvPr/>
        </p:nvSpPr>
        <p:spPr>
          <a:xfrm>
            <a:off x="4389120" y="4133088"/>
            <a:ext cx="1097280" cy="201168"/>
          </a:xfrm>
          <a:prstGeom prst="roundRect">
            <a:avLst>
              <a:gd name="adj" fmla="val 27273"/>
            </a:avLst>
          </a:prstGeom>
          <a:solidFill>
            <a:srgbClr val="3D2B1F"/>
          </a:solidFill>
          <a:ln w="12700">
            <a:solidFill>
              <a:srgbClr val="3D2B1F"/>
            </a:solidFill>
            <a:prstDash val="solid"/>
          </a:ln>
        </p:spPr>
      </p:sp>
      <p:sp>
        <p:nvSpPr>
          <p:cNvPr id="27" name="Text 24"/>
          <p:cNvSpPr/>
          <p:nvPr/>
        </p:nvSpPr>
        <p:spPr>
          <a:xfrm>
            <a:off x="4389120" y="4133088"/>
            <a:ext cx="1097280" cy="201168"/>
          </a:xfrm>
          <a:prstGeom prst="rect">
            <a:avLst/>
          </a:prstGeom>
          <a:noFill/>
          <a:ln/>
        </p:spPr>
        <p:txBody>
          <a:bodyPr wrap="square" rtlCol="0" anchor="ctr"/>
          <a:lstStyle/>
          <a:p>
            <a:pPr algn="ctr" indent="0" marL="0">
              <a:buNone/>
            </a:pPr>
            <a:r>
              <a:rPr lang="en-US" sz="750" b="1" dirty="0">
                <a:solidFill>
                  <a:srgbClr val="FFFFFF"/>
                </a:solidFill>
              </a:rPr>
              <a:t>60% FINE</a:t>
            </a:r>
            <a:endParaRPr lang="en-US" sz="750" dirty="0"/>
          </a:p>
        </p:txBody>
      </p:sp>
      <p:sp>
        <p:nvSpPr>
          <p:cNvPr id="28" name="Text 25"/>
          <p:cNvSpPr/>
          <p:nvPr/>
        </p:nvSpPr>
        <p:spPr>
          <a:xfrm>
            <a:off x="1143000" y="4407408"/>
            <a:ext cx="4343400" cy="45720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Blown speaker drivers, broken projector lens, shattered screens requiring professional servicing.</a:t>
            </a:r>
            <a:endParaRPr lang="en-US" sz="800" dirty="0"/>
          </a:p>
        </p:txBody>
      </p:sp>
      <p:sp>
        <p:nvSpPr>
          <p:cNvPr id="29" name="Shape 26"/>
          <p:cNvSpPr/>
          <p:nvPr/>
        </p:nvSpPr>
        <p:spPr>
          <a:xfrm>
            <a:off x="1005840" y="5029200"/>
            <a:ext cx="4663440" cy="896112"/>
          </a:xfrm>
          <a:prstGeom prst="roundRect">
            <a:avLst>
              <a:gd name="adj" fmla="val 8163"/>
            </a:avLst>
          </a:prstGeom>
          <a:solidFill>
            <a:srgbClr val="FBF8F3"/>
          </a:solidFill>
          <a:ln w="12700">
            <a:solidFill>
              <a:srgbClr val="E8DFD5"/>
            </a:solidFill>
            <a:prstDash val="solid"/>
          </a:ln>
        </p:spPr>
      </p:sp>
      <p:sp>
        <p:nvSpPr>
          <p:cNvPr id="30" name="Text 27"/>
          <p:cNvSpPr/>
          <p:nvPr/>
        </p:nvSpPr>
        <p:spPr>
          <a:xfrm>
            <a:off x="1143000" y="5138928"/>
            <a:ext cx="3200400" cy="256032"/>
          </a:xfrm>
          <a:prstGeom prst="rect">
            <a:avLst/>
          </a:prstGeom>
          <a:noFill/>
          <a:ln/>
        </p:spPr>
        <p:txBody>
          <a:bodyPr wrap="square" rtlCol="0" anchor="ctr"/>
          <a:lstStyle/>
          <a:p>
            <a:pPr indent="0" marL="0">
              <a:buNone/>
            </a:pPr>
            <a:r>
              <a:rPr lang="en-US" sz="1000" b="1" dirty="0">
                <a:solidFill>
                  <a:srgbClr val="5C3D28"/>
                </a:solidFill>
                <a:latin typeface="Arial" pitchFamily="34" charset="0"/>
                <a:ea typeface="Arial" pitchFamily="34" charset="-122"/>
                <a:cs typeface="Arial" pitchFamily="34" charset="-120"/>
              </a:rPr>
              <a:t>Tier 4: Total Loss / Lost</a:t>
            </a:r>
            <a:endParaRPr lang="en-US" sz="1000" dirty="0"/>
          </a:p>
        </p:txBody>
      </p:sp>
      <p:sp>
        <p:nvSpPr>
          <p:cNvPr id="31" name="Shape 28"/>
          <p:cNvSpPr/>
          <p:nvPr/>
        </p:nvSpPr>
        <p:spPr>
          <a:xfrm>
            <a:off x="4389120" y="5138928"/>
            <a:ext cx="1097280" cy="201168"/>
          </a:xfrm>
          <a:prstGeom prst="roundRect">
            <a:avLst>
              <a:gd name="adj" fmla="val 27273"/>
            </a:avLst>
          </a:prstGeom>
          <a:solidFill>
            <a:srgbClr val="3D2B1F"/>
          </a:solidFill>
          <a:ln w="12700">
            <a:solidFill>
              <a:srgbClr val="3D2B1F"/>
            </a:solidFill>
            <a:prstDash val="solid"/>
          </a:ln>
        </p:spPr>
      </p:sp>
      <p:sp>
        <p:nvSpPr>
          <p:cNvPr id="32" name="Text 29"/>
          <p:cNvSpPr/>
          <p:nvPr/>
        </p:nvSpPr>
        <p:spPr>
          <a:xfrm>
            <a:off x="4389120" y="5138928"/>
            <a:ext cx="1097280" cy="201168"/>
          </a:xfrm>
          <a:prstGeom prst="rect">
            <a:avLst/>
          </a:prstGeom>
          <a:noFill/>
          <a:ln/>
        </p:spPr>
        <p:txBody>
          <a:bodyPr wrap="square" rtlCol="0" anchor="ctr"/>
          <a:lstStyle/>
          <a:p>
            <a:pPr algn="ctr" indent="0" marL="0">
              <a:buNone/>
            </a:pPr>
            <a:r>
              <a:rPr lang="en-US" sz="750" b="1" dirty="0">
                <a:solidFill>
                  <a:srgbClr val="FFFFFF"/>
                </a:solidFill>
              </a:rPr>
              <a:t>100% + FEE</a:t>
            </a:r>
            <a:endParaRPr lang="en-US" sz="750" dirty="0"/>
          </a:p>
        </p:txBody>
      </p:sp>
      <p:sp>
        <p:nvSpPr>
          <p:cNvPr id="33" name="Text 30"/>
          <p:cNvSpPr/>
          <p:nvPr/>
        </p:nvSpPr>
        <p:spPr>
          <a:xfrm>
            <a:off x="1143000" y="5413248"/>
            <a:ext cx="4343400" cy="457200"/>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Equipment missing, unreturned, or damaged beyond repair. Full replacement cost charged.</a:t>
            </a:r>
            <a:endParaRPr lang="en-US" sz="800" dirty="0"/>
          </a:p>
        </p:txBody>
      </p:sp>
      <p:sp>
        <p:nvSpPr>
          <p:cNvPr id="34" name="Shape 31"/>
          <p:cNvSpPr/>
          <p:nvPr/>
        </p:nvSpPr>
        <p:spPr>
          <a:xfrm>
            <a:off x="6245352" y="1463040"/>
            <a:ext cx="5212080" cy="4663440"/>
          </a:xfrm>
          <a:prstGeom prst="roundRect">
            <a:avLst>
              <a:gd name="adj" fmla="val 2353"/>
            </a:avLst>
          </a:prstGeom>
          <a:solidFill>
            <a:srgbClr val="FFFFFF"/>
          </a:solidFill>
          <a:ln w="15240">
            <a:solidFill>
              <a:srgbClr val="E8DFD5"/>
            </a:solidFill>
            <a:prstDash val="solid"/>
          </a:ln>
        </p:spPr>
      </p:sp>
      <p:sp>
        <p:nvSpPr>
          <p:cNvPr id="35" name="Text 32"/>
          <p:cNvSpPr/>
          <p:nvPr/>
        </p:nvSpPr>
        <p:spPr>
          <a:xfrm>
            <a:off x="6519672" y="1645920"/>
            <a:ext cx="4663440" cy="274320"/>
          </a:xfrm>
          <a:prstGeom prst="rect">
            <a:avLst/>
          </a:prstGeom>
          <a:noFill/>
          <a:ln/>
        </p:spPr>
        <p:txBody>
          <a:bodyPr wrap="square" rtlCol="0" anchor="ctr"/>
          <a:lstStyle/>
          <a:p>
            <a:pPr indent="0" marL="0">
              <a:buNone/>
            </a:pPr>
            <a:r>
              <a:rPr lang="en-US" sz="1000" b="1" dirty="0">
                <a:solidFill>
                  <a:srgbClr val="5C3D28"/>
                </a:solidFill>
              </a:rPr>
              <a:t>ACCOUNTABILITY LIFECYCLE &amp; VALUE</a:t>
            </a:r>
            <a:endParaRPr lang="en-US" sz="1000" dirty="0"/>
          </a:p>
        </p:txBody>
      </p:sp>
      <p:sp>
        <p:nvSpPr>
          <p:cNvPr id="36" name="Text 33"/>
          <p:cNvSpPr/>
          <p:nvPr/>
        </p:nvSpPr>
        <p:spPr>
          <a:xfrm>
            <a:off x="6519672" y="2011680"/>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1. Check-In Physical Inspection</a:t>
            </a:r>
            <a:endParaRPr lang="en-US" sz="950" dirty="0"/>
          </a:p>
        </p:txBody>
      </p:sp>
      <p:sp>
        <p:nvSpPr>
          <p:cNvPr id="37" name="Text 34"/>
          <p:cNvSpPr/>
          <p:nvPr/>
        </p:nvSpPr>
        <p:spPr>
          <a:xfrm>
            <a:off x="6519672" y="2231136"/>
            <a:ext cx="4663440" cy="32004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Admin conducts physical handover inspection when equipment is brought back.</a:t>
            </a:r>
            <a:endParaRPr lang="en-US" sz="850" dirty="0"/>
          </a:p>
        </p:txBody>
      </p:sp>
      <p:sp>
        <p:nvSpPr>
          <p:cNvPr id="38" name="Text 35"/>
          <p:cNvSpPr/>
          <p:nvPr/>
        </p:nvSpPr>
        <p:spPr>
          <a:xfrm>
            <a:off x="6519672" y="2578608"/>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2. Incident Logging in Database</a:t>
            </a:r>
            <a:endParaRPr lang="en-US" sz="950" dirty="0"/>
          </a:p>
        </p:txBody>
      </p:sp>
      <p:sp>
        <p:nvSpPr>
          <p:cNvPr id="39" name="Text 36"/>
          <p:cNvSpPr/>
          <p:nvPr/>
        </p:nvSpPr>
        <p:spPr>
          <a:xfrm>
            <a:off x="6519672" y="2798064"/>
            <a:ext cx="4663440" cy="32004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Officer records defect description, uploads notes, and tags responsible user ID.</a:t>
            </a:r>
            <a:endParaRPr lang="en-US" sz="850" dirty="0"/>
          </a:p>
        </p:txBody>
      </p:sp>
      <p:sp>
        <p:nvSpPr>
          <p:cNvPr id="40" name="Text 37"/>
          <p:cNvSpPr/>
          <p:nvPr/>
        </p:nvSpPr>
        <p:spPr>
          <a:xfrm>
            <a:off x="6519672" y="3145536"/>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3. Automated Fine Computation</a:t>
            </a:r>
            <a:endParaRPr lang="en-US" sz="950" dirty="0"/>
          </a:p>
        </p:txBody>
      </p:sp>
      <p:sp>
        <p:nvSpPr>
          <p:cNvPr id="41" name="Text 38"/>
          <p:cNvSpPr/>
          <p:nvPr/>
        </p:nvSpPr>
        <p:spPr>
          <a:xfrm>
            <a:off x="6519672" y="3364992"/>
            <a:ext cx="4663440" cy="32004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Algorithm calculates compensation based on item valuation and severity percentage.</a:t>
            </a:r>
            <a:endParaRPr lang="en-US" sz="850" dirty="0"/>
          </a:p>
        </p:txBody>
      </p:sp>
      <p:sp>
        <p:nvSpPr>
          <p:cNvPr id="42" name="Text 39"/>
          <p:cNvSpPr/>
          <p:nvPr/>
        </p:nvSpPr>
        <p:spPr>
          <a:xfrm>
            <a:off x="6519672" y="3712464"/>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4. Automatic Status Lock</a:t>
            </a:r>
            <a:endParaRPr lang="en-US" sz="950" dirty="0"/>
          </a:p>
        </p:txBody>
      </p:sp>
      <p:sp>
        <p:nvSpPr>
          <p:cNvPr id="43" name="Text 40"/>
          <p:cNvSpPr/>
          <p:nvPr/>
        </p:nvSpPr>
        <p:spPr>
          <a:xfrm>
            <a:off x="6519672" y="3931920"/>
            <a:ext cx="4663440" cy="32004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Equipment condition automatically updated to "Under Maintenance" to prevent re-loan.</a:t>
            </a:r>
            <a:endParaRPr lang="en-US" sz="850" dirty="0"/>
          </a:p>
        </p:txBody>
      </p:sp>
      <p:sp>
        <p:nvSpPr>
          <p:cNvPr id="44" name="Text 41"/>
          <p:cNvSpPr/>
          <p:nvPr/>
        </p:nvSpPr>
        <p:spPr>
          <a:xfrm>
            <a:off x="6519672" y="4279392"/>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5. Digital Return Slip Generated</a:t>
            </a:r>
            <a:endParaRPr lang="en-US" sz="950" dirty="0"/>
          </a:p>
        </p:txBody>
      </p:sp>
      <p:sp>
        <p:nvSpPr>
          <p:cNvPr id="45" name="Text 42"/>
          <p:cNvSpPr/>
          <p:nvPr/>
        </p:nvSpPr>
        <p:spPr>
          <a:xfrm>
            <a:off x="6519672" y="4498848"/>
            <a:ext cx="4663440" cy="32004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Timestamped PDF summary with inspect officer signature issued to student.</a:t>
            </a:r>
            <a:endParaRPr lang="en-US" sz="850" dirty="0"/>
          </a:p>
        </p:txBody>
      </p:sp>
      <p:sp>
        <p:nvSpPr>
          <p:cNvPr id="46" name="Shape 43"/>
          <p:cNvSpPr/>
          <p:nvPr/>
        </p:nvSpPr>
        <p:spPr>
          <a:xfrm>
            <a:off x="6519672" y="4892040"/>
            <a:ext cx="4663440" cy="1051560"/>
          </a:xfrm>
          <a:prstGeom prst="roundRect">
            <a:avLst>
              <a:gd name="adj" fmla="val 6957"/>
            </a:avLst>
          </a:prstGeom>
          <a:solidFill>
            <a:srgbClr val="F4EDE4"/>
          </a:solidFill>
          <a:ln w="12700">
            <a:solidFill>
              <a:srgbClr val="E8DFD5"/>
            </a:solidFill>
            <a:prstDash val="solid"/>
          </a:ln>
        </p:spPr>
      </p:sp>
      <p:sp>
        <p:nvSpPr>
          <p:cNvPr id="47" name="Text 44"/>
          <p:cNvSpPr/>
          <p:nvPr/>
        </p:nvSpPr>
        <p:spPr>
          <a:xfrm>
            <a:off x="6629400" y="4983480"/>
            <a:ext cx="4389120" cy="201168"/>
          </a:xfrm>
          <a:prstGeom prst="rect">
            <a:avLst/>
          </a:prstGeom>
          <a:noFill/>
          <a:ln/>
        </p:spPr>
        <p:txBody>
          <a:bodyPr wrap="square" rtlCol="0" anchor="ctr"/>
          <a:lstStyle/>
          <a:p>
            <a:pPr indent="0" marL="0">
              <a:buNone/>
            </a:pPr>
            <a:r>
              <a:rPr lang="en-US" sz="850" b="1" dirty="0">
                <a:solidFill>
                  <a:srgbClr val="8B5E3C"/>
                </a:solidFill>
              </a:rPr>
              <a:t>INSTITUTIONAL VALUE FOR UPTM</a:t>
            </a:r>
            <a:endParaRPr lang="en-US" sz="850" dirty="0"/>
          </a:p>
        </p:txBody>
      </p:sp>
      <p:sp>
        <p:nvSpPr>
          <p:cNvPr id="48" name="Text 45"/>
          <p:cNvSpPr/>
          <p:nvPr/>
        </p:nvSpPr>
        <p:spPr>
          <a:xfrm>
            <a:off x="6629400" y="5212080"/>
            <a:ext cx="4389120" cy="64008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Transfers financial liability from university operating funds to responsible borrowers, incentivizing respectful asset handling and preserving university capital.</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LIVE DEMO</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System Demonstration &amp; Live Cloud Deployment</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Fully operational, publicly accessible web deployment on InfinityFree cloud infrastructure</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14 of 20 | Nursyafiqah Zulaikha</a:t>
            </a:r>
            <a:endParaRPr lang="en-US" sz="800" dirty="0"/>
          </a:p>
        </p:txBody>
      </p:sp>
      <p:sp>
        <p:nvSpPr>
          <p:cNvPr id="12" name="Shape 9"/>
          <p:cNvSpPr/>
          <p:nvPr/>
        </p:nvSpPr>
        <p:spPr>
          <a:xfrm>
            <a:off x="731520" y="1463040"/>
            <a:ext cx="10725912" cy="960120"/>
          </a:xfrm>
          <a:prstGeom prst="roundRect">
            <a:avLst>
              <a:gd name="adj" fmla="val 11429"/>
            </a:avLst>
          </a:prstGeom>
          <a:solidFill>
            <a:srgbClr val="3D2B1F"/>
          </a:solidFill>
          <a:ln w="12700">
            <a:solidFill>
              <a:srgbClr val="3D2B1F"/>
            </a:solidFill>
            <a:prstDash val="solid"/>
          </a:ln>
        </p:spPr>
      </p:sp>
      <p:sp>
        <p:nvSpPr>
          <p:cNvPr id="13" name="Text 10"/>
          <p:cNvSpPr/>
          <p:nvPr/>
        </p:nvSpPr>
        <p:spPr>
          <a:xfrm>
            <a:off x="1005840" y="1600200"/>
            <a:ext cx="4572000" cy="201168"/>
          </a:xfrm>
          <a:prstGeom prst="rect">
            <a:avLst/>
          </a:prstGeom>
          <a:noFill/>
          <a:ln/>
        </p:spPr>
        <p:txBody>
          <a:bodyPr wrap="square" rtlCol="0" anchor="ctr"/>
          <a:lstStyle/>
          <a:p>
            <a:pPr indent="0" marL="0">
              <a:buNone/>
            </a:pPr>
            <a:r>
              <a:rPr lang="en-US" sz="850" b="1" dirty="0">
                <a:solidFill>
                  <a:srgbClr val="FAEDCD"/>
                </a:solidFill>
              </a:rPr>
              <a:t>PUBLIC LIVE CLOUD ACCESS URL</a:t>
            </a:r>
            <a:endParaRPr lang="en-US" sz="850" dirty="0"/>
          </a:p>
        </p:txBody>
      </p:sp>
      <p:sp>
        <p:nvSpPr>
          <p:cNvPr id="14" name="Text 11"/>
          <p:cNvSpPr/>
          <p:nvPr/>
        </p:nvSpPr>
        <p:spPr>
          <a:xfrm>
            <a:off x="1005840" y="1828800"/>
            <a:ext cx="6858000" cy="4114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https://pinjamgeng.infinityfreeapp.com/</a:t>
            </a:r>
            <a:endParaRPr lang="en-US" sz="1800" dirty="0"/>
          </a:p>
        </p:txBody>
      </p:sp>
      <p:sp>
        <p:nvSpPr>
          <p:cNvPr id="15" name="Shape 12"/>
          <p:cNvSpPr/>
          <p:nvPr/>
        </p:nvSpPr>
        <p:spPr>
          <a:xfrm>
            <a:off x="8503920" y="1664208"/>
            <a:ext cx="2651760" cy="548640"/>
          </a:xfrm>
          <a:prstGeom prst="roundRect">
            <a:avLst>
              <a:gd name="adj" fmla="val 13333"/>
            </a:avLst>
          </a:prstGeom>
          <a:solidFill>
            <a:srgbClr val="8B5E3C"/>
          </a:solidFill>
          <a:ln w="12700">
            <a:solidFill>
              <a:srgbClr val="8B5E3C"/>
            </a:solidFill>
            <a:prstDash val="solid"/>
          </a:ln>
        </p:spPr>
      </p:sp>
      <p:sp>
        <p:nvSpPr>
          <p:cNvPr id="16" name="Text 13"/>
          <p:cNvSpPr/>
          <p:nvPr/>
        </p:nvSpPr>
        <p:spPr>
          <a:xfrm>
            <a:off x="8503920" y="1664208"/>
            <a:ext cx="2651760" cy="548640"/>
          </a:xfrm>
          <a:prstGeom prst="rect">
            <a:avLst/>
          </a:prstGeom>
          <a:noFill/>
          <a:ln/>
        </p:spPr>
        <p:txBody>
          <a:bodyPr wrap="square" rtlCol="0" anchor="ctr"/>
          <a:lstStyle/>
          <a:p>
            <a:pPr algn="ctr" indent="0" marL="0">
              <a:buNone/>
            </a:pPr>
            <a:r>
              <a:rPr lang="en-US" sz="850" b="1" dirty="0">
                <a:solidFill>
                  <a:srgbClr val="FFFFFF"/>
                </a:solidFill>
              </a:rPr>
              <a:t>CLOUD DEPLOYED &amp; TESTED</a:t>
            </a:r>
            <a:endParaRPr lang="en-US" sz="850" dirty="0"/>
          </a:p>
          <a:p>
            <a:pPr algn="ctr" indent="0" marL="0">
              <a:buNone/>
            </a:pPr>
            <a:r>
              <a:rPr lang="en-US" sz="850" b="1" dirty="0">
                <a:solidFill>
                  <a:srgbClr val="FFFFFF"/>
                </a:solidFill>
              </a:rPr>
              <a:t>SSL / HTTPS ACTIVE</a:t>
            </a:r>
            <a:endParaRPr lang="en-US" sz="850" dirty="0"/>
          </a:p>
        </p:txBody>
      </p:sp>
      <p:sp>
        <p:nvSpPr>
          <p:cNvPr id="17" name="Shape 14"/>
          <p:cNvSpPr/>
          <p:nvPr/>
        </p:nvSpPr>
        <p:spPr>
          <a:xfrm>
            <a:off x="731520" y="2606040"/>
            <a:ext cx="3410712" cy="3520440"/>
          </a:xfrm>
          <a:prstGeom prst="roundRect">
            <a:avLst>
              <a:gd name="adj" fmla="val 2681"/>
            </a:avLst>
          </a:prstGeom>
          <a:solidFill>
            <a:srgbClr val="FFFFFF"/>
          </a:solidFill>
          <a:ln w="15240">
            <a:solidFill>
              <a:srgbClr val="E8DFD5"/>
            </a:solidFill>
            <a:prstDash val="solid"/>
          </a:ln>
        </p:spPr>
      </p:sp>
      <p:sp>
        <p:nvSpPr>
          <p:cNvPr id="18" name="Shape 15"/>
          <p:cNvSpPr/>
          <p:nvPr/>
        </p:nvSpPr>
        <p:spPr>
          <a:xfrm>
            <a:off x="960120" y="2788920"/>
            <a:ext cx="1188720" cy="219456"/>
          </a:xfrm>
          <a:prstGeom prst="roundRect">
            <a:avLst>
              <a:gd name="adj" fmla="val 25000"/>
            </a:avLst>
          </a:prstGeom>
          <a:solidFill>
            <a:srgbClr val="FAEDCD"/>
          </a:solidFill>
          <a:ln w="12700">
            <a:solidFill>
              <a:srgbClr val="FAEDCD"/>
            </a:solidFill>
            <a:prstDash val="solid"/>
          </a:ln>
        </p:spPr>
      </p:sp>
      <p:sp>
        <p:nvSpPr>
          <p:cNvPr id="19" name="Text 16"/>
          <p:cNvSpPr/>
          <p:nvPr/>
        </p:nvSpPr>
        <p:spPr>
          <a:xfrm>
            <a:off x="960120" y="2788920"/>
            <a:ext cx="1188720" cy="219456"/>
          </a:xfrm>
          <a:prstGeom prst="rect">
            <a:avLst/>
          </a:prstGeom>
          <a:noFill/>
          <a:ln/>
        </p:spPr>
        <p:txBody>
          <a:bodyPr wrap="square" rtlCol="0" anchor="ctr"/>
          <a:lstStyle/>
          <a:p>
            <a:pPr algn="ctr" indent="0" marL="0">
              <a:buNone/>
            </a:pPr>
            <a:r>
              <a:rPr lang="en-US" sz="800" b="1" dirty="0">
                <a:solidFill>
                  <a:srgbClr val="7F5539"/>
                </a:solidFill>
              </a:rPr>
              <a:t>PHASE 1</a:t>
            </a:r>
            <a:endParaRPr lang="en-US" sz="800" dirty="0"/>
          </a:p>
        </p:txBody>
      </p:sp>
      <p:sp>
        <p:nvSpPr>
          <p:cNvPr id="20" name="Text 17"/>
          <p:cNvSpPr/>
          <p:nvPr/>
        </p:nvSpPr>
        <p:spPr>
          <a:xfrm>
            <a:off x="960120" y="3090672"/>
            <a:ext cx="292608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Student Portal Walkthrough</a:t>
            </a:r>
            <a:endParaRPr lang="en-US" sz="1200" dirty="0"/>
          </a:p>
        </p:txBody>
      </p:sp>
      <p:sp>
        <p:nvSpPr>
          <p:cNvPr id="21" name="Text 18"/>
          <p:cNvSpPr/>
          <p:nvPr/>
        </p:nvSpPr>
        <p:spPr>
          <a:xfrm>
            <a:off x="960120" y="3474720"/>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Login as Student (matric credential).</a:t>
            </a:r>
            <a:endParaRPr lang="en-US" sz="850" dirty="0"/>
          </a:p>
        </p:txBody>
      </p:sp>
      <p:sp>
        <p:nvSpPr>
          <p:cNvPr id="22" name="Text 19"/>
          <p:cNvSpPr/>
          <p:nvPr/>
        </p:nvSpPr>
        <p:spPr>
          <a:xfrm>
            <a:off x="960120" y="3858768"/>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Explore Equipment &amp; Bundled Packages.</a:t>
            </a:r>
            <a:endParaRPr lang="en-US" sz="850" dirty="0"/>
          </a:p>
        </p:txBody>
      </p:sp>
      <p:sp>
        <p:nvSpPr>
          <p:cNvPr id="23" name="Text 20"/>
          <p:cNvSpPr/>
          <p:nvPr/>
        </p:nvSpPr>
        <p:spPr>
          <a:xfrm>
            <a:off x="960120" y="4242816"/>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View live available stock counters.</a:t>
            </a:r>
            <a:endParaRPr lang="en-US" sz="850" dirty="0"/>
          </a:p>
        </p:txBody>
      </p:sp>
      <p:sp>
        <p:nvSpPr>
          <p:cNvPr id="24" name="Text 21"/>
          <p:cNvSpPr/>
          <p:nvPr/>
        </p:nvSpPr>
        <p:spPr>
          <a:xfrm>
            <a:off x="960120" y="4626864"/>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Select Event Package -&gt; Select Date Range.</a:t>
            </a:r>
            <a:endParaRPr lang="en-US" sz="850" dirty="0"/>
          </a:p>
        </p:txBody>
      </p:sp>
      <p:sp>
        <p:nvSpPr>
          <p:cNvPr id="25" name="Text 22"/>
          <p:cNvSpPr/>
          <p:nvPr/>
        </p:nvSpPr>
        <p:spPr>
          <a:xfrm>
            <a:off x="960120" y="5010912"/>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Verify instant automated conflict check.</a:t>
            </a:r>
            <a:endParaRPr lang="en-US" sz="850" dirty="0"/>
          </a:p>
        </p:txBody>
      </p:sp>
      <p:sp>
        <p:nvSpPr>
          <p:cNvPr id="26" name="Text 23"/>
          <p:cNvSpPr/>
          <p:nvPr/>
        </p:nvSpPr>
        <p:spPr>
          <a:xfrm>
            <a:off x="960120" y="5394960"/>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Submit booking &amp; view status "Pending".</a:t>
            </a:r>
            <a:endParaRPr lang="en-US" sz="850" dirty="0"/>
          </a:p>
        </p:txBody>
      </p:sp>
      <p:sp>
        <p:nvSpPr>
          <p:cNvPr id="27" name="Shape 24"/>
          <p:cNvSpPr/>
          <p:nvPr/>
        </p:nvSpPr>
        <p:spPr>
          <a:xfrm>
            <a:off x="4389120" y="2606040"/>
            <a:ext cx="3410712" cy="3520440"/>
          </a:xfrm>
          <a:prstGeom prst="roundRect">
            <a:avLst>
              <a:gd name="adj" fmla="val 2681"/>
            </a:avLst>
          </a:prstGeom>
          <a:solidFill>
            <a:srgbClr val="FFFFFF"/>
          </a:solidFill>
          <a:ln w="15240">
            <a:solidFill>
              <a:srgbClr val="E8DFD5"/>
            </a:solidFill>
            <a:prstDash val="solid"/>
          </a:ln>
        </p:spPr>
      </p:sp>
      <p:sp>
        <p:nvSpPr>
          <p:cNvPr id="28" name="Shape 25"/>
          <p:cNvSpPr/>
          <p:nvPr/>
        </p:nvSpPr>
        <p:spPr>
          <a:xfrm>
            <a:off x="4617720" y="2788920"/>
            <a:ext cx="1188720" cy="219456"/>
          </a:xfrm>
          <a:prstGeom prst="roundRect">
            <a:avLst>
              <a:gd name="adj" fmla="val 25000"/>
            </a:avLst>
          </a:prstGeom>
          <a:solidFill>
            <a:srgbClr val="FAEDCD"/>
          </a:solidFill>
          <a:ln w="12700">
            <a:solidFill>
              <a:srgbClr val="FAEDCD"/>
            </a:solidFill>
            <a:prstDash val="solid"/>
          </a:ln>
        </p:spPr>
      </p:sp>
      <p:sp>
        <p:nvSpPr>
          <p:cNvPr id="29" name="Text 26"/>
          <p:cNvSpPr/>
          <p:nvPr/>
        </p:nvSpPr>
        <p:spPr>
          <a:xfrm>
            <a:off x="4617720" y="2788920"/>
            <a:ext cx="1188720" cy="219456"/>
          </a:xfrm>
          <a:prstGeom prst="rect">
            <a:avLst/>
          </a:prstGeom>
          <a:noFill/>
          <a:ln/>
        </p:spPr>
        <p:txBody>
          <a:bodyPr wrap="square" rtlCol="0" anchor="ctr"/>
          <a:lstStyle/>
          <a:p>
            <a:pPr algn="ctr" indent="0" marL="0">
              <a:buNone/>
            </a:pPr>
            <a:r>
              <a:rPr lang="en-US" sz="800" b="1" dirty="0">
                <a:solidFill>
                  <a:srgbClr val="7F5539"/>
                </a:solidFill>
              </a:rPr>
              <a:t>PHASE 2</a:t>
            </a:r>
            <a:endParaRPr lang="en-US" sz="800" dirty="0"/>
          </a:p>
        </p:txBody>
      </p:sp>
      <p:sp>
        <p:nvSpPr>
          <p:cNvPr id="30" name="Text 27"/>
          <p:cNvSpPr/>
          <p:nvPr/>
        </p:nvSpPr>
        <p:spPr>
          <a:xfrm>
            <a:off x="4617720" y="3090672"/>
            <a:ext cx="292608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Admin Approval Drawer</a:t>
            </a:r>
            <a:endParaRPr lang="en-US" sz="1200" dirty="0"/>
          </a:p>
        </p:txBody>
      </p:sp>
      <p:sp>
        <p:nvSpPr>
          <p:cNvPr id="31" name="Text 28"/>
          <p:cNvSpPr/>
          <p:nvPr/>
        </p:nvSpPr>
        <p:spPr>
          <a:xfrm>
            <a:off x="4617720" y="3474720"/>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Login as Facilities Administrator.</a:t>
            </a:r>
            <a:endParaRPr lang="en-US" sz="850" dirty="0"/>
          </a:p>
        </p:txBody>
      </p:sp>
      <p:sp>
        <p:nvSpPr>
          <p:cNvPr id="32" name="Text 29"/>
          <p:cNvSpPr/>
          <p:nvPr/>
        </p:nvSpPr>
        <p:spPr>
          <a:xfrm>
            <a:off x="4617720" y="3858768"/>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View live dashboard KPI counters.</a:t>
            </a:r>
            <a:endParaRPr lang="en-US" sz="850" dirty="0"/>
          </a:p>
        </p:txBody>
      </p:sp>
      <p:sp>
        <p:nvSpPr>
          <p:cNvPr id="33" name="Text 30"/>
          <p:cNvSpPr/>
          <p:nvPr/>
        </p:nvSpPr>
        <p:spPr>
          <a:xfrm>
            <a:off x="4617720" y="4242816"/>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Inspect new booking in Pending Queue.</a:t>
            </a:r>
            <a:endParaRPr lang="en-US" sz="850" dirty="0"/>
          </a:p>
        </p:txBody>
      </p:sp>
      <p:sp>
        <p:nvSpPr>
          <p:cNvPr id="34" name="Text 31"/>
          <p:cNvSpPr/>
          <p:nvPr/>
        </p:nvSpPr>
        <p:spPr>
          <a:xfrm>
            <a:off x="4617720" y="4626864"/>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Review borrower particulars &amp; event reason.</a:t>
            </a:r>
            <a:endParaRPr lang="en-US" sz="850" dirty="0"/>
          </a:p>
        </p:txBody>
      </p:sp>
      <p:sp>
        <p:nvSpPr>
          <p:cNvPr id="35" name="Text 32"/>
          <p:cNvSpPr/>
          <p:nvPr/>
        </p:nvSpPr>
        <p:spPr>
          <a:xfrm>
            <a:off x="4617720" y="5010912"/>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1-Click "Approve" with administrative remark.</a:t>
            </a:r>
            <a:endParaRPr lang="en-US" sz="850" dirty="0"/>
          </a:p>
        </p:txBody>
      </p:sp>
      <p:sp>
        <p:nvSpPr>
          <p:cNvPr id="36" name="Text 33"/>
          <p:cNvSpPr/>
          <p:nvPr/>
        </p:nvSpPr>
        <p:spPr>
          <a:xfrm>
            <a:off x="4617720" y="5394960"/>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Instant status update to "Approved".</a:t>
            </a:r>
            <a:endParaRPr lang="en-US" sz="850" dirty="0"/>
          </a:p>
        </p:txBody>
      </p:sp>
      <p:sp>
        <p:nvSpPr>
          <p:cNvPr id="37" name="Shape 34"/>
          <p:cNvSpPr/>
          <p:nvPr/>
        </p:nvSpPr>
        <p:spPr>
          <a:xfrm>
            <a:off x="8046720" y="2606040"/>
            <a:ext cx="3410712" cy="3520440"/>
          </a:xfrm>
          <a:prstGeom prst="roundRect">
            <a:avLst>
              <a:gd name="adj" fmla="val 2681"/>
            </a:avLst>
          </a:prstGeom>
          <a:solidFill>
            <a:srgbClr val="FFFFFF"/>
          </a:solidFill>
          <a:ln w="15240">
            <a:solidFill>
              <a:srgbClr val="E8DFD5"/>
            </a:solidFill>
            <a:prstDash val="solid"/>
          </a:ln>
        </p:spPr>
      </p:sp>
      <p:sp>
        <p:nvSpPr>
          <p:cNvPr id="38" name="Shape 35"/>
          <p:cNvSpPr/>
          <p:nvPr/>
        </p:nvSpPr>
        <p:spPr>
          <a:xfrm>
            <a:off x="8275320" y="2788920"/>
            <a:ext cx="1188720" cy="219456"/>
          </a:xfrm>
          <a:prstGeom prst="roundRect">
            <a:avLst>
              <a:gd name="adj" fmla="val 25000"/>
            </a:avLst>
          </a:prstGeom>
          <a:solidFill>
            <a:srgbClr val="FAEDCD"/>
          </a:solidFill>
          <a:ln w="12700">
            <a:solidFill>
              <a:srgbClr val="FAEDCD"/>
            </a:solidFill>
            <a:prstDash val="solid"/>
          </a:ln>
        </p:spPr>
      </p:sp>
      <p:sp>
        <p:nvSpPr>
          <p:cNvPr id="39" name="Text 36"/>
          <p:cNvSpPr/>
          <p:nvPr/>
        </p:nvSpPr>
        <p:spPr>
          <a:xfrm>
            <a:off x="8275320" y="2788920"/>
            <a:ext cx="1188720" cy="219456"/>
          </a:xfrm>
          <a:prstGeom prst="rect">
            <a:avLst/>
          </a:prstGeom>
          <a:noFill/>
          <a:ln/>
        </p:spPr>
        <p:txBody>
          <a:bodyPr wrap="square" rtlCol="0" anchor="ctr"/>
          <a:lstStyle/>
          <a:p>
            <a:pPr algn="ctr" indent="0" marL="0">
              <a:buNone/>
            </a:pPr>
            <a:r>
              <a:rPr lang="en-US" sz="800" b="1" dirty="0">
                <a:solidFill>
                  <a:srgbClr val="7F5539"/>
                </a:solidFill>
              </a:rPr>
              <a:t>PHASE 3</a:t>
            </a:r>
            <a:endParaRPr lang="en-US" sz="800" dirty="0"/>
          </a:p>
        </p:txBody>
      </p:sp>
      <p:sp>
        <p:nvSpPr>
          <p:cNvPr id="40" name="Text 37"/>
          <p:cNvSpPr/>
          <p:nvPr/>
        </p:nvSpPr>
        <p:spPr>
          <a:xfrm>
            <a:off x="8275320" y="3090672"/>
            <a:ext cx="2926080" cy="32004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Return &amp; Damage Inspection</a:t>
            </a:r>
            <a:endParaRPr lang="en-US" sz="1200" dirty="0"/>
          </a:p>
        </p:txBody>
      </p:sp>
      <p:sp>
        <p:nvSpPr>
          <p:cNvPr id="41" name="Text 38"/>
          <p:cNvSpPr/>
          <p:nvPr/>
        </p:nvSpPr>
        <p:spPr>
          <a:xfrm>
            <a:off x="8275320" y="3474720"/>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Open Return Check-in drawer.</a:t>
            </a:r>
            <a:endParaRPr lang="en-US" sz="850" dirty="0"/>
          </a:p>
        </p:txBody>
      </p:sp>
      <p:sp>
        <p:nvSpPr>
          <p:cNvPr id="42" name="Text 39"/>
          <p:cNvSpPr/>
          <p:nvPr/>
        </p:nvSpPr>
        <p:spPr>
          <a:xfrm>
            <a:off x="8275320" y="3858768"/>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Simulate item inspection on handover.</a:t>
            </a:r>
            <a:endParaRPr lang="en-US" sz="850" dirty="0"/>
          </a:p>
        </p:txBody>
      </p:sp>
      <p:sp>
        <p:nvSpPr>
          <p:cNvPr id="43" name="Text 40"/>
          <p:cNvSpPr/>
          <p:nvPr/>
        </p:nvSpPr>
        <p:spPr>
          <a:xfrm>
            <a:off x="8275320" y="4242816"/>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Log condition check (Good vs Damaged).</a:t>
            </a:r>
            <a:endParaRPr lang="en-US" sz="850" dirty="0"/>
          </a:p>
        </p:txBody>
      </p:sp>
      <p:sp>
        <p:nvSpPr>
          <p:cNvPr id="44" name="Text 41"/>
          <p:cNvSpPr/>
          <p:nvPr/>
        </p:nvSpPr>
        <p:spPr>
          <a:xfrm>
            <a:off x="8275320" y="4626864"/>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Demonstrate automated fine calculation.</a:t>
            </a:r>
            <a:endParaRPr lang="en-US" sz="850" dirty="0"/>
          </a:p>
        </p:txBody>
      </p:sp>
      <p:sp>
        <p:nvSpPr>
          <p:cNvPr id="45" name="Text 42"/>
          <p:cNvSpPr/>
          <p:nvPr/>
        </p:nvSpPr>
        <p:spPr>
          <a:xfrm>
            <a:off x="8275320" y="5010912"/>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System flags gear as "Under Maintenance".</a:t>
            </a:r>
            <a:endParaRPr lang="en-US" sz="850" dirty="0"/>
          </a:p>
        </p:txBody>
      </p:sp>
      <p:sp>
        <p:nvSpPr>
          <p:cNvPr id="46" name="Text 43"/>
          <p:cNvSpPr/>
          <p:nvPr/>
        </p:nvSpPr>
        <p:spPr>
          <a:xfrm>
            <a:off x="8275320" y="5394960"/>
            <a:ext cx="2926080" cy="3657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 Download official digital return receipt.</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ARCHITECTURE</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Technology Stack &amp; Security Architecture</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Robust multi-layer technical stack adhering to modern web engineering and OWASP standards</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15 of 20 | Nursyafiqah Zulaikha</a:t>
            </a:r>
            <a:endParaRPr lang="en-US" sz="800" dirty="0"/>
          </a:p>
        </p:txBody>
      </p:sp>
      <p:sp>
        <p:nvSpPr>
          <p:cNvPr id="12" name="Shape 9"/>
          <p:cNvSpPr/>
          <p:nvPr/>
        </p:nvSpPr>
        <p:spPr>
          <a:xfrm>
            <a:off x="731520" y="1463040"/>
            <a:ext cx="5212080" cy="4663440"/>
          </a:xfrm>
          <a:prstGeom prst="roundRect">
            <a:avLst>
              <a:gd name="adj" fmla="val 2353"/>
            </a:avLst>
          </a:prstGeom>
          <a:solidFill>
            <a:srgbClr val="FFFFFF"/>
          </a:solidFill>
          <a:ln w="15240">
            <a:solidFill>
              <a:srgbClr val="E8DFD5"/>
            </a:solidFill>
            <a:prstDash val="solid"/>
          </a:ln>
        </p:spPr>
      </p:sp>
      <p:sp>
        <p:nvSpPr>
          <p:cNvPr id="13" name="Text 10"/>
          <p:cNvSpPr/>
          <p:nvPr/>
        </p:nvSpPr>
        <p:spPr>
          <a:xfrm>
            <a:off x="1005840" y="1645920"/>
            <a:ext cx="4663440" cy="274320"/>
          </a:xfrm>
          <a:prstGeom prst="rect">
            <a:avLst/>
          </a:prstGeom>
          <a:noFill/>
          <a:ln/>
        </p:spPr>
        <p:txBody>
          <a:bodyPr wrap="square" rtlCol="0" anchor="ctr"/>
          <a:lstStyle/>
          <a:p>
            <a:pPr indent="0" marL="0">
              <a:buNone/>
            </a:pPr>
            <a:r>
              <a:rPr lang="en-US" sz="1000" b="1" dirty="0">
                <a:solidFill>
                  <a:srgbClr val="8B5E3C"/>
                </a:solidFill>
              </a:rPr>
              <a:t>TIERED TECHNOLOGY ARCHITECTURE</a:t>
            </a:r>
            <a:endParaRPr lang="en-US" sz="1000" dirty="0"/>
          </a:p>
        </p:txBody>
      </p:sp>
      <p:sp>
        <p:nvSpPr>
          <p:cNvPr id="14" name="Text 11"/>
          <p:cNvSpPr/>
          <p:nvPr/>
        </p:nvSpPr>
        <p:spPr>
          <a:xfrm>
            <a:off x="1005840" y="2011680"/>
            <a:ext cx="4663440" cy="228600"/>
          </a:xfrm>
          <a:prstGeom prst="rect">
            <a:avLst/>
          </a:prstGeom>
          <a:noFill/>
          <a:ln/>
        </p:spPr>
        <p:txBody>
          <a:bodyPr wrap="square" rtlCol="0" anchor="ctr"/>
          <a:lstStyle/>
          <a:p>
            <a:pPr indent="0" marL="0">
              <a:buNone/>
            </a:pPr>
            <a:r>
              <a:rPr lang="en-US" sz="1000" b="1" dirty="0">
                <a:solidFill>
                  <a:srgbClr val="5C3D28"/>
                </a:solidFill>
                <a:latin typeface="Arial" pitchFamily="34" charset="0"/>
                <a:ea typeface="Arial" pitchFamily="34" charset="-122"/>
                <a:cs typeface="Arial" pitchFamily="34" charset="-120"/>
              </a:rPr>
              <a:t>Presentation Tier (Frontend)</a:t>
            </a:r>
            <a:endParaRPr lang="en-US" sz="1000" dirty="0"/>
          </a:p>
        </p:txBody>
      </p:sp>
      <p:sp>
        <p:nvSpPr>
          <p:cNvPr id="15" name="Text 12"/>
          <p:cNvSpPr/>
          <p:nvPr/>
        </p:nvSpPr>
        <p:spPr>
          <a:xfrm>
            <a:off x="1005840" y="2240280"/>
            <a:ext cx="4663440" cy="41148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HTML5, CSS3, JavaScript ES6+, Bootstrap 5, FontAwesome, SweetAlert2 modal dialogs, responsive mobile viewport.</a:t>
            </a:r>
            <a:endParaRPr lang="en-US" sz="850" dirty="0"/>
          </a:p>
        </p:txBody>
      </p:sp>
      <p:sp>
        <p:nvSpPr>
          <p:cNvPr id="16" name="Text 13"/>
          <p:cNvSpPr/>
          <p:nvPr/>
        </p:nvSpPr>
        <p:spPr>
          <a:xfrm>
            <a:off x="1005840" y="2670048"/>
            <a:ext cx="4663440" cy="228600"/>
          </a:xfrm>
          <a:prstGeom prst="rect">
            <a:avLst/>
          </a:prstGeom>
          <a:noFill/>
          <a:ln/>
        </p:spPr>
        <p:txBody>
          <a:bodyPr wrap="square" rtlCol="0" anchor="ctr"/>
          <a:lstStyle/>
          <a:p>
            <a:pPr indent="0" marL="0">
              <a:buNone/>
            </a:pPr>
            <a:r>
              <a:rPr lang="en-US" sz="1000" b="1" dirty="0">
                <a:solidFill>
                  <a:srgbClr val="5C3D28"/>
                </a:solidFill>
                <a:latin typeface="Arial" pitchFamily="34" charset="0"/>
                <a:ea typeface="Arial" pitchFamily="34" charset="-122"/>
                <a:cs typeface="Arial" pitchFamily="34" charset="-120"/>
              </a:rPr>
              <a:t>Application Tier (Backend)</a:t>
            </a:r>
            <a:endParaRPr lang="en-US" sz="1000" dirty="0"/>
          </a:p>
        </p:txBody>
      </p:sp>
      <p:sp>
        <p:nvSpPr>
          <p:cNvPr id="17" name="Text 14"/>
          <p:cNvSpPr/>
          <p:nvPr/>
        </p:nvSpPr>
        <p:spPr>
          <a:xfrm>
            <a:off x="1005840" y="2898648"/>
            <a:ext cx="4663440" cy="41148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PHP 8.2 with modular Model-View-Controller (MVC) separation, object-oriented services, and reusable helpers.</a:t>
            </a:r>
            <a:endParaRPr lang="en-US" sz="850" dirty="0"/>
          </a:p>
        </p:txBody>
      </p:sp>
      <p:sp>
        <p:nvSpPr>
          <p:cNvPr id="18" name="Text 15"/>
          <p:cNvSpPr/>
          <p:nvPr/>
        </p:nvSpPr>
        <p:spPr>
          <a:xfrm>
            <a:off x="1005840" y="3328416"/>
            <a:ext cx="4663440" cy="228600"/>
          </a:xfrm>
          <a:prstGeom prst="rect">
            <a:avLst/>
          </a:prstGeom>
          <a:noFill/>
          <a:ln/>
        </p:spPr>
        <p:txBody>
          <a:bodyPr wrap="square" rtlCol="0" anchor="ctr"/>
          <a:lstStyle/>
          <a:p>
            <a:pPr indent="0" marL="0">
              <a:buNone/>
            </a:pPr>
            <a:r>
              <a:rPr lang="en-US" sz="1000" b="1" dirty="0">
                <a:solidFill>
                  <a:srgbClr val="5C3D28"/>
                </a:solidFill>
                <a:latin typeface="Arial" pitchFamily="34" charset="0"/>
                <a:ea typeface="Arial" pitchFamily="34" charset="-122"/>
                <a:cs typeface="Arial" pitchFamily="34" charset="-120"/>
              </a:rPr>
              <a:t>Data Tier (Database Engine)</a:t>
            </a:r>
            <a:endParaRPr lang="en-US" sz="1000" dirty="0"/>
          </a:p>
        </p:txBody>
      </p:sp>
      <p:sp>
        <p:nvSpPr>
          <p:cNvPr id="19" name="Text 16"/>
          <p:cNvSpPr/>
          <p:nvPr/>
        </p:nvSpPr>
        <p:spPr>
          <a:xfrm>
            <a:off x="1005840" y="3557016"/>
            <a:ext cx="4663440" cy="41148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MySQL / MariaDB with InnoDB engine, full referential foreign key constraints, 3NF schema, and indexing.</a:t>
            </a:r>
            <a:endParaRPr lang="en-US" sz="850" dirty="0"/>
          </a:p>
        </p:txBody>
      </p:sp>
      <p:sp>
        <p:nvSpPr>
          <p:cNvPr id="20" name="Text 17"/>
          <p:cNvSpPr/>
          <p:nvPr/>
        </p:nvSpPr>
        <p:spPr>
          <a:xfrm>
            <a:off x="1005840" y="3986784"/>
            <a:ext cx="4663440" cy="228600"/>
          </a:xfrm>
          <a:prstGeom prst="rect">
            <a:avLst/>
          </a:prstGeom>
          <a:noFill/>
          <a:ln/>
        </p:spPr>
        <p:txBody>
          <a:bodyPr wrap="square" rtlCol="0" anchor="ctr"/>
          <a:lstStyle/>
          <a:p>
            <a:pPr indent="0" marL="0">
              <a:buNone/>
            </a:pPr>
            <a:r>
              <a:rPr lang="en-US" sz="1000" b="1" dirty="0">
                <a:solidFill>
                  <a:srgbClr val="5C3D28"/>
                </a:solidFill>
                <a:latin typeface="Arial" pitchFamily="34" charset="0"/>
                <a:ea typeface="Arial" pitchFamily="34" charset="-122"/>
                <a:cs typeface="Arial" pitchFamily="34" charset="-120"/>
              </a:rPr>
              <a:t>Cloud Infrastructure &amp; Hosting</a:t>
            </a:r>
            <a:endParaRPr lang="en-US" sz="1000" dirty="0"/>
          </a:p>
        </p:txBody>
      </p:sp>
      <p:sp>
        <p:nvSpPr>
          <p:cNvPr id="21" name="Text 18"/>
          <p:cNvSpPr/>
          <p:nvPr/>
        </p:nvSpPr>
        <p:spPr>
          <a:xfrm>
            <a:off x="1005840" y="4215384"/>
            <a:ext cx="4663440" cy="41148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Apache Web Server, remote MySQL cluster, InfinityFree cloud hosting, and dynamic base URL routing.</a:t>
            </a:r>
            <a:endParaRPr lang="en-US" sz="850" dirty="0"/>
          </a:p>
        </p:txBody>
      </p:sp>
      <p:sp>
        <p:nvSpPr>
          <p:cNvPr id="22" name="Shape 19"/>
          <p:cNvSpPr/>
          <p:nvPr/>
        </p:nvSpPr>
        <p:spPr>
          <a:xfrm>
            <a:off x="6245352" y="1463040"/>
            <a:ext cx="5212080" cy="4663440"/>
          </a:xfrm>
          <a:prstGeom prst="roundRect">
            <a:avLst>
              <a:gd name="adj" fmla="val 2353"/>
            </a:avLst>
          </a:prstGeom>
          <a:solidFill>
            <a:srgbClr val="FFFFFF"/>
          </a:solidFill>
          <a:ln w="15240">
            <a:solidFill>
              <a:srgbClr val="E8DFD5"/>
            </a:solidFill>
            <a:prstDash val="solid"/>
          </a:ln>
        </p:spPr>
      </p:sp>
      <p:sp>
        <p:nvSpPr>
          <p:cNvPr id="23" name="Text 20"/>
          <p:cNvSpPr/>
          <p:nvPr/>
        </p:nvSpPr>
        <p:spPr>
          <a:xfrm>
            <a:off x="6519672" y="1645920"/>
            <a:ext cx="4663440" cy="274320"/>
          </a:xfrm>
          <a:prstGeom prst="rect">
            <a:avLst/>
          </a:prstGeom>
          <a:noFill/>
          <a:ln/>
        </p:spPr>
        <p:txBody>
          <a:bodyPr wrap="square" rtlCol="0" anchor="ctr"/>
          <a:lstStyle/>
          <a:p>
            <a:pPr indent="0" marL="0">
              <a:buNone/>
            </a:pPr>
            <a:r>
              <a:rPr lang="en-US" sz="1000" b="1" dirty="0">
                <a:solidFill>
                  <a:srgbClr val="5C3D28"/>
                </a:solidFill>
              </a:rPr>
              <a:t>SECURITY &amp; DEFENSIVE MEASURES</a:t>
            </a:r>
            <a:endParaRPr lang="en-US" sz="1000" dirty="0"/>
          </a:p>
        </p:txBody>
      </p:sp>
      <p:sp>
        <p:nvSpPr>
          <p:cNvPr id="24" name="Text 21"/>
          <p:cNvSpPr/>
          <p:nvPr/>
        </p:nvSpPr>
        <p:spPr>
          <a:xfrm>
            <a:off x="6519672" y="2011680"/>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 Bcrypt Password Hashing</a:t>
            </a:r>
            <a:endParaRPr lang="en-US" sz="950" dirty="0"/>
          </a:p>
        </p:txBody>
      </p:sp>
      <p:sp>
        <p:nvSpPr>
          <p:cNvPr id="25" name="Text 22"/>
          <p:cNvSpPr/>
          <p:nvPr/>
        </p:nvSpPr>
        <p:spPr>
          <a:xfrm>
            <a:off x="6720840" y="2231136"/>
            <a:ext cx="4462272" cy="347472"/>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Passwords salted and hashed using PHP PASSWORD_DEFAULT (Bcrypt). Plaintext passwords never stored.</a:t>
            </a:r>
            <a:endParaRPr lang="en-US" sz="800" dirty="0"/>
          </a:p>
        </p:txBody>
      </p:sp>
      <p:sp>
        <p:nvSpPr>
          <p:cNvPr id="26" name="Text 23"/>
          <p:cNvSpPr/>
          <p:nvPr/>
        </p:nvSpPr>
        <p:spPr>
          <a:xfrm>
            <a:off x="6519672" y="2578608"/>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 SQL Injection Prevention</a:t>
            </a:r>
            <a:endParaRPr lang="en-US" sz="950" dirty="0"/>
          </a:p>
        </p:txBody>
      </p:sp>
      <p:sp>
        <p:nvSpPr>
          <p:cNvPr id="27" name="Text 24"/>
          <p:cNvSpPr/>
          <p:nvPr/>
        </p:nvSpPr>
        <p:spPr>
          <a:xfrm>
            <a:off x="6720840" y="2798064"/>
            <a:ext cx="4462272" cy="347472"/>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100% of database queries executed via PDO Prepared Statements with bound parameters. Zero raw string concatenation.</a:t>
            </a:r>
            <a:endParaRPr lang="en-US" sz="800" dirty="0"/>
          </a:p>
        </p:txBody>
      </p:sp>
      <p:sp>
        <p:nvSpPr>
          <p:cNvPr id="28" name="Text 25"/>
          <p:cNvSpPr/>
          <p:nvPr/>
        </p:nvSpPr>
        <p:spPr>
          <a:xfrm>
            <a:off x="6519672" y="3145536"/>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 Cross-Site Scripting (XSS) Sanitization</a:t>
            </a:r>
            <a:endParaRPr lang="en-US" sz="950" dirty="0"/>
          </a:p>
        </p:txBody>
      </p:sp>
      <p:sp>
        <p:nvSpPr>
          <p:cNvPr id="29" name="Text 26"/>
          <p:cNvSpPr/>
          <p:nvPr/>
        </p:nvSpPr>
        <p:spPr>
          <a:xfrm>
            <a:off x="6720840" y="3364992"/>
            <a:ext cx="4462272" cy="347472"/>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All user inputs sanitized through htmlspecialchars() encoding before rendering in the DOM.</a:t>
            </a:r>
            <a:endParaRPr lang="en-US" sz="800" dirty="0"/>
          </a:p>
        </p:txBody>
      </p:sp>
      <p:sp>
        <p:nvSpPr>
          <p:cNvPr id="30" name="Text 27"/>
          <p:cNvSpPr/>
          <p:nvPr/>
        </p:nvSpPr>
        <p:spPr>
          <a:xfrm>
            <a:off x="6519672" y="3712464"/>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 Role-Based Session Guard (RBAC)</a:t>
            </a:r>
            <a:endParaRPr lang="en-US" sz="950" dirty="0"/>
          </a:p>
        </p:txBody>
      </p:sp>
      <p:sp>
        <p:nvSpPr>
          <p:cNvPr id="31" name="Text 28"/>
          <p:cNvSpPr/>
          <p:nvPr/>
        </p:nvSpPr>
        <p:spPr>
          <a:xfrm>
            <a:off x="6720840" y="3931920"/>
            <a:ext cx="4462272" cy="347472"/>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Administrative endpoints protected by strict server-side session authentication checks, blocking unauthorized URL tampering.</a:t>
            </a:r>
            <a:endParaRPr lang="en-US" sz="800" dirty="0"/>
          </a:p>
        </p:txBody>
      </p:sp>
      <p:sp>
        <p:nvSpPr>
          <p:cNvPr id="32" name="Text 29"/>
          <p:cNvSpPr/>
          <p:nvPr/>
        </p:nvSpPr>
        <p:spPr>
          <a:xfrm>
            <a:off x="6519672" y="4279392"/>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 Cross-Site Request Forgery (CSRF) Defenses</a:t>
            </a:r>
            <a:endParaRPr lang="en-US" sz="950" dirty="0"/>
          </a:p>
        </p:txBody>
      </p:sp>
      <p:sp>
        <p:nvSpPr>
          <p:cNvPr id="33" name="Text 30"/>
          <p:cNvSpPr/>
          <p:nvPr/>
        </p:nvSpPr>
        <p:spPr>
          <a:xfrm>
            <a:off x="6720840" y="4498848"/>
            <a:ext cx="4462272" cy="347472"/>
          </a:xfrm>
          <a:prstGeom prst="rect">
            <a:avLst/>
          </a:prstGeom>
          <a:noFill/>
          <a:ln/>
        </p:spPr>
        <p:txBody>
          <a:bodyPr wrap="square" rtlCol="0" anchor="ctr"/>
          <a:lstStyle/>
          <a:p>
            <a:pPr indent="0" marL="0">
              <a:buNone/>
            </a:pPr>
            <a:r>
              <a:rPr lang="en-US" sz="800" dirty="0">
                <a:solidFill>
                  <a:srgbClr val="2B2D42"/>
                </a:solidFill>
                <a:latin typeface="Calibri" pitchFamily="34" charset="0"/>
                <a:ea typeface="Calibri" pitchFamily="34" charset="-122"/>
                <a:cs typeface="Calibri" pitchFamily="34" charset="-120"/>
              </a:rPr>
              <a:t>Form tokens and POST validation protect state-changing operations like booking approvals and item deletions.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QUALITY</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Verification &amp; Quality Assurance Strategy</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Rigorous multi-stage testing delivering 100% test case pass rate across all functional modules</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16 of 20 | Nursyafiqah Zulaikha</a:t>
            </a:r>
            <a:endParaRPr lang="en-US" sz="800" dirty="0"/>
          </a:p>
        </p:txBody>
      </p:sp>
      <p:sp>
        <p:nvSpPr>
          <p:cNvPr id="12" name="Shape 9"/>
          <p:cNvSpPr/>
          <p:nvPr/>
        </p:nvSpPr>
        <p:spPr>
          <a:xfrm>
            <a:off x="731520" y="1463040"/>
            <a:ext cx="5212080" cy="1783080"/>
          </a:xfrm>
          <a:prstGeom prst="roundRect">
            <a:avLst>
              <a:gd name="adj" fmla="val 5128"/>
            </a:avLst>
          </a:prstGeom>
          <a:solidFill>
            <a:srgbClr val="FFFFFF"/>
          </a:solidFill>
          <a:ln w="15240">
            <a:solidFill>
              <a:srgbClr val="E8DFD5"/>
            </a:solidFill>
            <a:prstDash val="solid"/>
          </a:ln>
        </p:spPr>
      </p:sp>
      <p:sp>
        <p:nvSpPr>
          <p:cNvPr id="13" name="Shape 10"/>
          <p:cNvSpPr/>
          <p:nvPr/>
        </p:nvSpPr>
        <p:spPr>
          <a:xfrm>
            <a:off x="1005840" y="1627632"/>
            <a:ext cx="1188720" cy="219456"/>
          </a:xfrm>
          <a:prstGeom prst="roundRect">
            <a:avLst>
              <a:gd name="adj" fmla="val 25000"/>
            </a:avLst>
          </a:prstGeom>
          <a:solidFill>
            <a:srgbClr val="FAEDCD"/>
          </a:solidFill>
          <a:ln w="12700">
            <a:solidFill>
              <a:srgbClr val="FAEDCD"/>
            </a:solidFill>
            <a:prstDash val="solid"/>
          </a:ln>
        </p:spPr>
      </p:sp>
      <p:sp>
        <p:nvSpPr>
          <p:cNvPr id="14" name="Text 11"/>
          <p:cNvSpPr/>
          <p:nvPr/>
        </p:nvSpPr>
        <p:spPr>
          <a:xfrm>
            <a:off x="1005840" y="1627632"/>
            <a:ext cx="1188720" cy="219456"/>
          </a:xfrm>
          <a:prstGeom prst="rect">
            <a:avLst/>
          </a:prstGeom>
          <a:noFill/>
          <a:ln/>
        </p:spPr>
        <p:txBody>
          <a:bodyPr wrap="square" rtlCol="0" anchor="ctr"/>
          <a:lstStyle/>
          <a:p>
            <a:pPr algn="ctr" indent="0" marL="0">
              <a:buNone/>
            </a:pPr>
            <a:r>
              <a:rPr lang="en-US" sz="800" b="1" dirty="0">
                <a:solidFill>
                  <a:srgbClr val="7F5539"/>
                </a:solidFill>
              </a:rPr>
              <a:t>STAGE 1</a:t>
            </a:r>
            <a:endParaRPr lang="en-US" sz="800" dirty="0"/>
          </a:p>
        </p:txBody>
      </p:sp>
      <p:sp>
        <p:nvSpPr>
          <p:cNvPr id="15" name="Shape 12"/>
          <p:cNvSpPr/>
          <p:nvPr/>
        </p:nvSpPr>
        <p:spPr>
          <a:xfrm>
            <a:off x="4572000" y="1627632"/>
            <a:ext cx="1097280" cy="219456"/>
          </a:xfrm>
          <a:prstGeom prst="roundRect">
            <a:avLst>
              <a:gd name="adj" fmla="val 25000"/>
            </a:avLst>
          </a:prstGeom>
          <a:solidFill>
            <a:srgbClr val="E8F5E9"/>
          </a:solidFill>
          <a:ln w="12700">
            <a:solidFill>
              <a:srgbClr val="C8E6C9"/>
            </a:solidFill>
            <a:prstDash val="solid"/>
          </a:ln>
        </p:spPr>
      </p:sp>
      <p:sp>
        <p:nvSpPr>
          <p:cNvPr id="16" name="Text 13"/>
          <p:cNvSpPr/>
          <p:nvPr/>
        </p:nvSpPr>
        <p:spPr>
          <a:xfrm>
            <a:off x="4572000" y="1627632"/>
            <a:ext cx="1097280" cy="219456"/>
          </a:xfrm>
          <a:prstGeom prst="rect">
            <a:avLst/>
          </a:prstGeom>
          <a:noFill/>
          <a:ln/>
        </p:spPr>
        <p:txBody>
          <a:bodyPr wrap="square" rtlCol="0" anchor="ctr"/>
          <a:lstStyle/>
          <a:p>
            <a:pPr algn="ctr" indent="0" marL="0">
              <a:buNone/>
            </a:pPr>
            <a:r>
              <a:rPr lang="en-US" sz="750" b="1" dirty="0">
                <a:solidFill>
                  <a:srgbClr val="2E7D32"/>
                </a:solidFill>
              </a:rPr>
              <a:t>100% PASSED</a:t>
            </a:r>
            <a:endParaRPr lang="en-US" sz="750" dirty="0"/>
          </a:p>
        </p:txBody>
      </p:sp>
      <p:sp>
        <p:nvSpPr>
          <p:cNvPr id="17" name="Text 14"/>
          <p:cNvSpPr/>
          <p:nvPr/>
        </p:nvSpPr>
        <p:spPr>
          <a:xfrm>
            <a:off x="1005840" y="1920240"/>
            <a:ext cx="3474720" cy="27432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Unit Testing</a:t>
            </a:r>
            <a:endParaRPr lang="en-US" sz="1200" dirty="0"/>
          </a:p>
        </p:txBody>
      </p:sp>
      <p:sp>
        <p:nvSpPr>
          <p:cNvPr id="18" name="Text 15"/>
          <p:cNvSpPr/>
          <p:nvPr/>
        </p:nvSpPr>
        <p:spPr>
          <a:xfrm>
            <a:off x="4572000" y="1938528"/>
            <a:ext cx="1097280" cy="228600"/>
          </a:xfrm>
          <a:prstGeom prst="rect">
            <a:avLst/>
          </a:prstGeom>
          <a:noFill/>
          <a:ln/>
        </p:spPr>
        <p:txBody>
          <a:bodyPr wrap="square" rtlCol="0" anchor="ctr"/>
          <a:lstStyle/>
          <a:p>
            <a:pPr algn="r" indent="0" marL="0">
              <a:buNone/>
            </a:pPr>
            <a:r>
              <a:rPr lang="en-US" sz="800" b="1" dirty="0">
                <a:solidFill>
                  <a:srgbClr val="8B5E3C"/>
                </a:solidFill>
              </a:rPr>
              <a:t>6 TEST CASES</a:t>
            </a:r>
            <a:endParaRPr lang="en-US" sz="800" dirty="0"/>
          </a:p>
        </p:txBody>
      </p:sp>
      <p:sp>
        <p:nvSpPr>
          <p:cNvPr id="19" name="Text 16"/>
          <p:cNvSpPr/>
          <p:nvPr/>
        </p:nvSpPr>
        <p:spPr>
          <a:xfrm>
            <a:off x="1005840" y="2240280"/>
            <a:ext cx="4663440" cy="8229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Validated individual helper functions, date parsing, Bcrypt password hashing, and input sanitization routines in isolation.</a:t>
            </a:r>
            <a:endParaRPr lang="en-US" sz="850" dirty="0"/>
          </a:p>
        </p:txBody>
      </p:sp>
      <p:sp>
        <p:nvSpPr>
          <p:cNvPr id="20" name="Shape 17"/>
          <p:cNvSpPr/>
          <p:nvPr/>
        </p:nvSpPr>
        <p:spPr>
          <a:xfrm>
            <a:off x="6245352" y="1463040"/>
            <a:ext cx="5212080" cy="1783080"/>
          </a:xfrm>
          <a:prstGeom prst="roundRect">
            <a:avLst>
              <a:gd name="adj" fmla="val 5128"/>
            </a:avLst>
          </a:prstGeom>
          <a:solidFill>
            <a:srgbClr val="FFFFFF"/>
          </a:solidFill>
          <a:ln w="15240">
            <a:solidFill>
              <a:srgbClr val="E8DFD5"/>
            </a:solidFill>
            <a:prstDash val="solid"/>
          </a:ln>
        </p:spPr>
      </p:sp>
      <p:sp>
        <p:nvSpPr>
          <p:cNvPr id="21" name="Shape 18"/>
          <p:cNvSpPr/>
          <p:nvPr/>
        </p:nvSpPr>
        <p:spPr>
          <a:xfrm>
            <a:off x="6519672" y="1627632"/>
            <a:ext cx="1188720" cy="219456"/>
          </a:xfrm>
          <a:prstGeom prst="roundRect">
            <a:avLst>
              <a:gd name="adj" fmla="val 25000"/>
            </a:avLst>
          </a:prstGeom>
          <a:solidFill>
            <a:srgbClr val="FAEDCD"/>
          </a:solidFill>
          <a:ln w="12700">
            <a:solidFill>
              <a:srgbClr val="FAEDCD"/>
            </a:solidFill>
            <a:prstDash val="solid"/>
          </a:ln>
        </p:spPr>
      </p:sp>
      <p:sp>
        <p:nvSpPr>
          <p:cNvPr id="22" name="Text 19"/>
          <p:cNvSpPr/>
          <p:nvPr/>
        </p:nvSpPr>
        <p:spPr>
          <a:xfrm>
            <a:off x="6519672" y="1627632"/>
            <a:ext cx="1188720" cy="219456"/>
          </a:xfrm>
          <a:prstGeom prst="rect">
            <a:avLst/>
          </a:prstGeom>
          <a:noFill/>
          <a:ln/>
        </p:spPr>
        <p:txBody>
          <a:bodyPr wrap="square" rtlCol="0" anchor="ctr"/>
          <a:lstStyle/>
          <a:p>
            <a:pPr algn="ctr" indent="0" marL="0">
              <a:buNone/>
            </a:pPr>
            <a:r>
              <a:rPr lang="en-US" sz="800" b="1" dirty="0">
                <a:solidFill>
                  <a:srgbClr val="7F5539"/>
                </a:solidFill>
              </a:rPr>
              <a:t>STAGE 2</a:t>
            </a:r>
            <a:endParaRPr lang="en-US" sz="800" dirty="0"/>
          </a:p>
        </p:txBody>
      </p:sp>
      <p:sp>
        <p:nvSpPr>
          <p:cNvPr id="23" name="Shape 20"/>
          <p:cNvSpPr/>
          <p:nvPr/>
        </p:nvSpPr>
        <p:spPr>
          <a:xfrm>
            <a:off x="10085832" y="1627632"/>
            <a:ext cx="1097280" cy="219456"/>
          </a:xfrm>
          <a:prstGeom prst="roundRect">
            <a:avLst>
              <a:gd name="adj" fmla="val 25000"/>
            </a:avLst>
          </a:prstGeom>
          <a:solidFill>
            <a:srgbClr val="E8F5E9"/>
          </a:solidFill>
          <a:ln w="12700">
            <a:solidFill>
              <a:srgbClr val="C8E6C9"/>
            </a:solidFill>
            <a:prstDash val="solid"/>
          </a:ln>
        </p:spPr>
      </p:sp>
      <p:sp>
        <p:nvSpPr>
          <p:cNvPr id="24" name="Text 21"/>
          <p:cNvSpPr/>
          <p:nvPr/>
        </p:nvSpPr>
        <p:spPr>
          <a:xfrm>
            <a:off x="10085832" y="1627632"/>
            <a:ext cx="1097280" cy="219456"/>
          </a:xfrm>
          <a:prstGeom prst="rect">
            <a:avLst/>
          </a:prstGeom>
          <a:noFill/>
          <a:ln/>
        </p:spPr>
        <p:txBody>
          <a:bodyPr wrap="square" rtlCol="0" anchor="ctr"/>
          <a:lstStyle/>
          <a:p>
            <a:pPr algn="ctr" indent="0" marL="0">
              <a:buNone/>
            </a:pPr>
            <a:r>
              <a:rPr lang="en-US" sz="750" b="1" dirty="0">
                <a:solidFill>
                  <a:srgbClr val="2E7D32"/>
                </a:solidFill>
              </a:rPr>
              <a:t>100% PASSED</a:t>
            </a:r>
            <a:endParaRPr lang="en-US" sz="750" dirty="0"/>
          </a:p>
        </p:txBody>
      </p:sp>
      <p:sp>
        <p:nvSpPr>
          <p:cNvPr id="25" name="Text 22"/>
          <p:cNvSpPr/>
          <p:nvPr/>
        </p:nvSpPr>
        <p:spPr>
          <a:xfrm>
            <a:off x="6519672" y="1920240"/>
            <a:ext cx="3474720" cy="27432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Integration Testing</a:t>
            </a:r>
            <a:endParaRPr lang="en-US" sz="1200" dirty="0"/>
          </a:p>
        </p:txBody>
      </p:sp>
      <p:sp>
        <p:nvSpPr>
          <p:cNvPr id="26" name="Text 23"/>
          <p:cNvSpPr/>
          <p:nvPr/>
        </p:nvSpPr>
        <p:spPr>
          <a:xfrm>
            <a:off x="10085832" y="1938528"/>
            <a:ext cx="1097280" cy="228600"/>
          </a:xfrm>
          <a:prstGeom prst="rect">
            <a:avLst/>
          </a:prstGeom>
          <a:noFill/>
          <a:ln/>
        </p:spPr>
        <p:txBody>
          <a:bodyPr wrap="square" rtlCol="0" anchor="ctr"/>
          <a:lstStyle/>
          <a:p>
            <a:pPr algn="r" indent="0" marL="0">
              <a:buNone/>
            </a:pPr>
            <a:r>
              <a:rPr lang="en-US" sz="800" b="1" dirty="0">
                <a:solidFill>
                  <a:srgbClr val="8B5E3C"/>
                </a:solidFill>
              </a:rPr>
              <a:t>8 TEST CASES</a:t>
            </a:r>
            <a:endParaRPr lang="en-US" sz="800" dirty="0"/>
          </a:p>
        </p:txBody>
      </p:sp>
      <p:sp>
        <p:nvSpPr>
          <p:cNvPr id="27" name="Text 24"/>
          <p:cNvSpPr/>
          <p:nvPr/>
        </p:nvSpPr>
        <p:spPr>
          <a:xfrm>
            <a:off x="6519672" y="2240280"/>
            <a:ext cx="4663440" cy="8229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Verified communication across modules: stock decrement triggers, package item cascades, and session permission transitions.</a:t>
            </a:r>
            <a:endParaRPr lang="en-US" sz="850" dirty="0"/>
          </a:p>
        </p:txBody>
      </p:sp>
      <p:sp>
        <p:nvSpPr>
          <p:cNvPr id="28" name="Shape 25"/>
          <p:cNvSpPr/>
          <p:nvPr/>
        </p:nvSpPr>
        <p:spPr>
          <a:xfrm>
            <a:off x="731520" y="3383280"/>
            <a:ext cx="5212080" cy="1783080"/>
          </a:xfrm>
          <a:prstGeom prst="roundRect">
            <a:avLst>
              <a:gd name="adj" fmla="val 5128"/>
            </a:avLst>
          </a:prstGeom>
          <a:solidFill>
            <a:srgbClr val="FFFFFF"/>
          </a:solidFill>
          <a:ln w="15240">
            <a:solidFill>
              <a:srgbClr val="E8DFD5"/>
            </a:solidFill>
            <a:prstDash val="solid"/>
          </a:ln>
        </p:spPr>
      </p:sp>
      <p:sp>
        <p:nvSpPr>
          <p:cNvPr id="29" name="Shape 26"/>
          <p:cNvSpPr/>
          <p:nvPr/>
        </p:nvSpPr>
        <p:spPr>
          <a:xfrm>
            <a:off x="1005840" y="3547872"/>
            <a:ext cx="1188720" cy="219456"/>
          </a:xfrm>
          <a:prstGeom prst="roundRect">
            <a:avLst>
              <a:gd name="adj" fmla="val 25000"/>
            </a:avLst>
          </a:prstGeom>
          <a:solidFill>
            <a:srgbClr val="FAEDCD"/>
          </a:solidFill>
          <a:ln w="12700">
            <a:solidFill>
              <a:srgbClr val="FAEDCD"/>
            </a:solidFill>
            <a:prstDash val="solid"/>
          </a:ln>
        </p:spPr>
      </p:sp>
      <p:sp>
        <p:nvSpPr>
          <p:cNvPr id="30" name="Text 27"/>
          <p:cNvSpPr/>
          <p:nvPr/>
        </p:nvSpPr>
        <p:spPr>
          <a:xfrm>
            <a:off x="1005840" y="3547872"/>
            <a:ext cx="1188720" cy="219456"/>
          </a:xfrm>
          <a:prstGeom prst="rect">
            <a:avLst/>
          </a:prstGeom>
          <a:noFill/>
          <a:ln/>
        </p:spPr>
        <p:txBody>
          <a:bodyPr wrap="square" rtlCol="0" anchor="ctr"/>
          <a:lstStyle/>
          <a:p>
            <a:pPr algn="ctr" indent="0" marL="0">
              <a:buNone/>
            </a:pPr>
            <a:r>
              <a:rPr lang="en-US" sz="800" b="1" dirty="0">
                <a:solidFill>
                  <a:srgbClr val="7F5539"/>
                </a:solidFill>
              </a:rPr>
              <a:t>STAGE 3</a:t>
            </a:r>
            <a:endParaRPr lang="en-US" sz="800" dirty="0"/>
          </a:p>
        </p:txBody>
      </p:sp>
      <p:sp>
        <p:nvSpPr>
          <p:cNvPr id="31" name="Shape 28"/>
          <p:cNvSpPr/>
          <p:nvPr/>
        </p:nvSpPr>
        <p:spPr>
          <a:xfrm>
            <a:off x="4572000" y="3547872"/>
            <a:ext cx="1097280" cy="219456"/>
          </a:xfrm>
          <a:prstGeom prst="roundRect">
            <a:avLst>
              <a:gd name="adj" fmla="val 25000"/>
            </a:avLst>
          </a:prstGeom>
          <a:solidFill>
            <a:srgbClr val="E8F5E9"/>
          </a:solidFill>
          <a:ln w="12700">
            <a:solidFill>
              <a:srgbClr val="C8E6C9"/>
            </a:solidFill>
            <a:prstDash val="solid"/>
          </a:ln>
        </p:spPr>
      </p:sp>
      <p:sp>
        <p:nvSpPr>
          <p:cNvPr id="32" name="Text 29"/>
          <p:cNvSpPr/>
          <p:nvPr/>
        </p:nvSpPr>
        <p:spPr>
          <a:xfrm>
            <a:off x="4572000" y="3547872"/>
            <a:ext cx="1097280" cy="219456"/>
          </a:xfrm>
          <a:prstGeom prst="rect">
            <a:avLst/>
          </a:prstGeom>
          <a:noFill/>
          <a:ln/>
        </p:spPr>
        <p:txBody>
          <a:bodyPr wrap="square" rtlCol="0" anchor="ctr"/>
          <a:lstStyle/>
          <a:p>
            <a:pPr algn="ctr" indent="0" marL="0">
              <a:buNone/>
            </a:pPr>
            <a:r>
              <a:rPr lang="en-US" sz="750" b="1" dirty="0">
                <a:solidFill>
                  <a:srgbClr val="2E7D32"/>
                </a:solidFill>
              </a:rPr>
              <a:t>100% PASSED</a:t>
            </a:r>
            <a:endParaRPr lang="en-US" sz="750" dirty="0"/>
          </a:p>
        </p:txBody>
      </p:sp>
      <p:sp>
        <p:nvSpPr>
          <p:cNvPr id="33" name="Text 30"/>
          <p:cNvSpPr/>
          <p:nvPr/>
        </p:nvSpPr>
        <p:spPr>
          <a:xfrm>
            <a:off x="1005840" y="3840480"/>
            <a:ext cx="3474720" cy="27432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System &amp; E2E Testing</a:t>
            </a:r>
            <a:endParaRPr lang="en-US" sz="1200" dirty="0"/>
          </a:p>
        </p:txBody>
      </p:sp>
      <p:sp>
        <p:nvSpPr>
          <p:cNvPr id="34" name="Text 31"/>
          <p:cNvSpPr/>
          <p:nvPr/>
        </p:nvSpPr>
        <p:spPr>
          <a:xfrm>
            <a:off x="4572000" y="3858768"/>
            <a:ext cx="1097280" cy="228600"/>
          </a:xfrm>
          <a:prstGeom prst="rect">
            <a:avLst/>
          </a:prstGeom>
          <a:noFill/>
          <a:ln/>
        </p:spPr>
        <p:txBody>
          <a:bodyPr wrap="square" rtlCol="0" anchor="ctr"/>
          <a:lstStyle/>
          <a:p>
            <a:pPr algn="r" indent="0" marL="0">
              <a:buNone/>
            </a:pPr>
            <a:r>
              <a:rPr lang="en-US" sz="800" b="1" dirty="0">
                <a:solidFill>
                  <a:srgbClr val="8B5E3C"/>
                </a:solidFill>
              </a:rPr>
              <a:t>10 TEST CASES</a:t>
            </a:r>
            <a:endParaRPr lang="en-US" sz="800" dirty="0"/>
          </a:p>
        </p:txBody>
      </p:sp>
      <p:sp>
        <p:nvSpPr>
          <p:cNvPr id="35" name="Text 32"/>
          <p:cNvSpPr/>
          <p:nvPr/>
        </p:nvSpPr>
        <p:spPr>
          <a:xfrm>
            <a:off x="1005840" y="4160520"/>
            <a:ext cx="4663440" cy="8229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Black-box walkthroughs of the full lifecycle: from student booking submission through admin approval and return inspection.</a:t>
            </a:r>
            <a:endParaRPr lang="en-US" sz="850" dirty="0"/>
          </a:p>
        </p:txBody>
      </p:sp>
      <p:sp>
        <p:nvSpPr>
          <p:cNvPr id="36" name="Shape 33"/>
          <p:cNvSpPr/>
          <p:nvPr/>
        </p:nvSpPr>
        <p:spPr>
          <a:xfrm>
            <a:off x="6245352" y="3383280"/>
            <a:ext cx="5212080" cy="1783080"/>
          </a:xfrm>
          <a:prstGeom prst="roundRect">
            <a:avLst>
              <a:gd name="adj" fmla="val 5128"/>
            </a:avLst>
          </a:prstGeom>
          <a:solidFill>
            <a:srgbClr val="FFFFFF"/>
          </a:solidFill>
          <a:ln w="15240">
            <a:solidFill>
              <a:srgbClr val="E8DFD5"/>
            </a:solidFill>
            <a:prstDash val="solid"/>
          </a:ln>
        </p:spPr>
      </p:sp>
      <p:sp>
        <p:nvSpPr>
          <p:cNvPr id="37" name="Shape 34"/>
          <p:cNvSpPr/>
          <p:nvPr/>
        </p:nvSpPr>
        <p:spPr>
          <a:xfrm>
            <a:off x="6519672" y="3547872"/>
            <a:ext cx="1188720" cy="219456"/>
          </a:xfrm>
          <a:prstGeom prst="roundRect">
            <a:avLst>
              <a:gd name="adj" fmla="val 25000"/>
            </a:avLst>
          </a:prstGeom>
          <a:solidFill>
            <a:srgbClr val="FAEDCD"/>
          </a:solidFill>
          <a:ln w="12700">
            <a:solidFill>
              <a:srgbClr val="FAEDCD"/>
            </a:solidFill>
            <a:prstDash val="solid"/>
          </a:ln>
        </p:spPr>
      </p:sp>
      <p:sp>
        <p:nvSpPr>
          <p:cNvPr id="38" name="Text 35"/>
          <p:cNvSpPr/>
          <p:nvPr/>
        </p:nvSpPr>
        <p:spPr>
          <a:xfrm>
            <a:off x="6519672" y="3547872"/>
            <a:ext cx="1188720" cy="219456"/>
          </a:xfrm>
          <a:prstGeom prst="rect">
            <a:avLst/>
          </a:prstGeom>
          <a:noFill/>
          <a:ln/>
        </p:spPr>
        <p:txBody>
          <a:bodyPr wrap="square" rtlCol="0" anchor="ctr"/>
          <a:lstStyle/>
          <a:p>
            <a:pPr algn="ctr" indent="0" marL="0">
              <a:buNone/>
            </a:pPr>
            <a:r>
              <a:rPr lang="en-US" sz="800" b="1" dirty="0">
                <a:solidFill>
                  <a:srgbClr val="7F5539"/>
                </a:solidFill>
              </a:rPr>
              <a:t>STAGE 4</a:t>
            </a:r>
            <a:endParaRPr lang="en-US" sz="800" dirty="0"/>
          </a:p>
        </p:txBody>
      </p:sp>
      <p:sp>
        <p:nvSpPr>
          <p:cNvPr id="39" name="Shape 36"/>
          <p:cNvSpPr/>
          <p:nvPr/>
        </p:nvSpPr>
        <p:spPr>
          <a:xfrm>
            <a:off x="10085832" y="3547872"/>
            <a:ext cx="1097280" cy="219456"/>
          </a:xfrm>
          <a:prstGeom prst="roundRect">
            <a:avLst>
              <a:gd name="adj" fmla="val 25000"/>
            </a:avLst>
          </a:prstGeom>
          <a:solidFill>
            <a:srgbClr val="E8F5E9"/>
          </a:solidFill>
          <a:ln w="12700">
            <a:solidFill>
              <a:srgbClr val="C8E6C9"/>
            </a:solidFill>
            <a:prstDash val="solid"/>
          </a:ln>
        </p:spPr>
      </p:sp>
      <p:sp>
        <p:nvSpPr>
          <p:cNvPr id="40" name="Text 37"/>
          <p:cNvSpPr/>
          <p:nvPr/>
        </p:nvSpPr>
        <p:spPr>
          <a:xfrm>
            <a:off x="10085832" y="3547872"/>
            <a:ext cx="1097280" cy="219456"/>
          </a:xfrm>
          <a:prstGeom prst="rect">
            <a:avLst/>
          </a:prstGeom>
          <a:noFill/>
          <a:ln/>
        </p:spPr>
        <p:txBody>
          <a:bodyPr wrap="square" rtlCol="0" anchor="ctr"/>
          <a:lstStyle/>
          <a:p>
            <a:pPr algn="ctr" indent="0" marL="0">
              <a:buNone/>
            </a:pPr>
            <a:r>
              <a:rPr lang="en-US" sz="750" b="1" dirty="0">
                <a:solidFill>
                  <a:srgbClr val="2E7D32"/>
                </a:solidFill>
              </a:rPr>
              <a:t>100% PASSED</a:t>
            </a:r>
            <a:endParaRPr lang="en-US" sz="750" dirty="0"/>
          </a:p>
        </p:txBody>
      </p:sp>
      <p:sp>
        <p:nvSpPr>
          <p:cNvPr id="41" name="Text 38"/>
          <p:cNvSpPr/>
          <p:nvPr/>
        </p:nvSpPr>
        <p:spPr>
          <a:xfrm>
            <a:off x="6519672" y="3840480"/>
            <a:ext cx="3474720" cy="274320"/>
          </a:xfrm>
          <a:prstGeom prst="rect">
            <a:avLst/>
          </a:prstGeom>
          <a:noFill/>
          <a:ln/>
        </p:spPr>
        <p:txBody>
          <a:bodyPr wrap="square" rtlCol="0" anchor="ctr"/>
          <a:lstStyle/>
          <a:p>
            <a:pPr indent="0" marL="0">
              <a:buNone/>
            </a:pPr>
            <a:r>
              <a:rPr lang="en-US" sz="1200" b="1" dirty="0">
                <a:solidFill>
                  <a:srgbClr val="5C3D28"/>
                </a:solidFill>
                <a:latin typeface="Arial" pitchFamily="34" charset="0"/>
                <a:ea typeface="Arial" pitchFamily="34" charset="-122"/>
                <a:cs typeface="Arial" pitchFamily="34" charset="-120"/>
              </a:rPr>
              <a:t>Security Testing</a:t>
            </a:r>
            <a:endParaRPr lang="en-US" sz="1200" dirty="0"/>
          </a:p>
        </p:txBody>
      </p:sp>
      <p:sp>
        <p:nvSpPr>
          <p:cNvPr id="42" name="Text 39"/>
          <p:cNvSpPr/>
          <p:nvPr/>
        </p:nvSpPr>
        <p:spPr>
          <a:xfrm>
            <a:off x="10085832" y="3858768"/>
            <a:ext cx="1097280" cy="228600"/>
          </a:xfrm>
          <a:prstGeom prst="rect">
            <a:avLst/>
          </a:prstGeom>
          <a:noFill/>
          <a:ln/>
        </p:spPr>
        <p:txBody>
          <a:bodyPr wrap="square" rtlCol="0" anchor="ctr"/>
          <a:lstStyle/>
          <a:p>
            <a:pPr algn="r" indent="0" marL="0">
              <a:buNone/>
            </a:pPr>
            <a:r>
              <a:rPr lang="en-US" sz="800" b="1" dirty="0">
                <a:solidFill>
                  <a:srgbClr val="8B5E3C"/>
                </a:solidFill>
              </a:rPr>
              <a:t>4 TEST CASES</a:t>
            </a:r>
            <a:endParaRPr lang="en-US" sz="800" dirty="0"/>
          </a:p>
        </p:txBody>
      </p:sp>
      <p:sp>
        <p:nvSpPr>
          <p:cNvPr id="43" name="Text 40"/>
          <p:cNvSpPr/>
          <p:nvPr/>
        </p:nvSpPr>
        <p:spPr>
          <a:xfrm>
            <a:off x="6519672" y="4160520"/>
            <a:ext cx="4663440" cy="82296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Penetration testing targeting SQL injection payloads, XSS script tags, and unauthorized direct URL access attempts.</a:t>
            </a:r>
            <a:endParaRPr lang="en-US" sz="850" dirty="0"/>
          </a:p>
        </p:txBody>
      </p:sp>
      <p:sp>
        <p:nvSpPr>
          <p:cNvPr id="44" name="Shape 41"/>
          <p:cNvSpPr/>
          <p:nvPr/>
        </p:nvSpPr>
        <p:spPr>
          <a:xfrm>
            <a:off x="731520" y="5440680"/>
            <a:ext cx="10725912" cy="731520"/>
          </a:xfrm>
          <a:prstGeom prst="roundRect">
            <a:avLst>
              <a:gd name="adj" fmla="val 10000"/>
            </a:avLst>
          </a:prstGeom>
          <a:solidFill>
            <a:srgbClr val="3D2B1F"/>
          </a:solidFill>
          <a:ln w="12700">
            <a:solidFill>
              <a:srgbClr val="3D2B1F"/>
            </a:solidFill>
            <a:prstDash val="solid"/>
          </a:ln>
        </p:spPr>
      </p:sp>
      <p:sp>
        <p:nvSpPr>
          <p:cNvPr id="45" name="Text 42"/>
          <p:cNvSpPr/>
          <p:nvPr/>
        </p:nvSpPr>
        <p:spPr>
          <a:xfrm>
            <a:off x="1005840" y="5559552"/>
            <a:ext cx="7772400" cy="228600"/>
          </a:xfrm>
          <a:prstGeom prst="rect">
            <a:avLst/>
          </a:prstGeom>
          <a:noFill/>
          <a:ln/>
        </p:spPr>
        <p:txBody>
          <a:bodyPr wrap="square" rtlCol="0" anchor="ctr"/>
          <a:lstStyle/>
          <a:p>
            <a:pPr indent="0" marL="0">
              <a:buNone/>
            </a:pPr>
            <a:r>
              <a:rPr lang="en-US" sz="950" b="1" dirty="0">
                <a:solidFill>
                  <a:srgbClr val="FAEDCD"/>
                </a:solidFill>
              </a:rPr>
              <a:t>QA VERIFICATION SUMMARY: 28 OUT OF 28 TEST CASES PASSED (100% SUCCESS RATE)</a:t>
            </a:r>
            <a:endParaRPr lang="en-US" sz="950" dirty="0"/>
          </a:p>
        </p:txBody>
      </p:sp>
      <p:sp>
        <p:nvSpPr>
          <p:cNvPr id="46" name="Text 43"/>
          <p:cNvSpPr/>
          <p:nvPr/>
        </p:nvSpPr>
        <p:spPr>
          <a:xfrm>
            <a:off x="1005840" y="5806440"/>
            <a:ext cx="10058400" cy="27432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Zero critical defects identified. System passed all data integrity, date overlap, and cross-browser responsiveness checks.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EVALUATION</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User Acceptance Testing (UAT Results)</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Formal evaluation with 30 real UPTM student leaders, club committees &amp; administrators</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17 of 20 | Nursyafiqah Zulaikha</a:t>
            </a:r>
            <a:endParaRPr lang="en-US" sz="800" dirty="0"/>
          </a:p>
        </p:txBody>
      </p:sp>
      <p:sp>
        <p:nvSpPr>
          <p:cNvPr id="12" name="Shape 9"/>
          <p:cNvSpPr/>
          <p:nvPr/>
        </p:nvSpPr>
        <p:spPr>
          <a:xfrm>
            <a:off x="731520" y="1463040"/>
            <a:ext cx="5029200" cy="1005840"/>
          </a:xfrm>
          <a:prstGeom prst="roundRect">
            <a:avLst>
              <a:gd name="adj" fmla="val 9091"/>
            </a:avLst>
          </a:prstGeom>
          <a:solidFill>
            <a:srgbClr val="FFFFFF"/>
          </a:solidFill>
          <a:ln w="15240">
            <a:solidFill>
              <a:srgbClr val="E8DFD5"/>
            </a:solidFill>
            <a:prstDash val="solid"/>
          </a:ln>
        </p:spPr>
      </p:sp>
      <p:sp>
        <p:nvSpPr>
          <p:cNvPr id="13" name="Text 10"/>
          <p:cNvSpPr/>
          <p:nvPr/>
        </p:nvSpPr>
        <p:spPr>
          <a:xfrm>
            <a:off x="914400" y="1600200"/>
            <a:ext cx="1371600" cy="731520"/>
          </a:xfrm>
          <a:prstGeom prst="rect">
            <a:avLst/>
          </a:prstGeom>
          <a:noFill/>
          <a:ln/>
        </p:spPr>
        <p:txBody>
          <a:bodyPr wrap="square" rtlCol="0" anchor="ctr"/>
          <a:lstStyle/>
          <a:p>
            <a:pPr indent="0" marL="0">
              <a:buNone/>
            </a:pPr>
            <a:r>
              <a:rPr lang="en-US" sz="2200" b="1" dirty="0">
                <a:solidFill>
                  <a:srgbClr val="2E7D32"/>
                </a:solidFill>
                <a:latin typeface="Arial" pitchFamily="34" charset="0"/>
                <a:ea typeface="Arial" pitchFamily="34" charset="-122"/>
                <a:cs typeface="Arial" pitchFamily="34" charset="-120"/>
              </a:rPr>
              <a:t>96.7%</a:t>
            </a:r>
            <a:endParaRPr lang="en-US" sz="2200" dirty="0"/>
          </a:p>
        </p:txBody>
      </p:sp>
      <p:sp>
        <p:nvSpPr>
          <p:cNvPr id="14" name="Text 11"/>
          <p:cNvSpPr/>
          <p:nvPr/>
        </p:nvSpPr>
        <p:spPr>
          <a:xfrm>
            <a:off x="2377440" y="1627632"/>
            <a:ext cx="3200400" cy="274320"/>
          </a:xfrm>
          <a:prstGeom prst="rect">
            <a:avLst/>
          </a:prstGeom>
          <a:noFill/>
          <a:ln/>
        </p:spPr>
        <p:txBody>
          <a:bodyPr wrap="square" rtlCol="0" anchor="ctr"/>
          <a:lstStyle/>
          <a:p>
            <a:pPr indent="0" marL="0">
              <a:buNone/>
            </a:pPr>
            <a:r>
              <a:rPr lang="en-US" sz="1150" b="1" dirty="0">
                <a:solidFill>
                  <a:srgbClr val="5C3D28"/>
                </a:solidFill>
                <a:latin typeface="Arial" pitchFamily="34" charset="0"/>
                <a:ea typeface="Arial" pitchFamily="34" charset="-122"/>
                <a:cs typeface="Arial" pitchFamily="34" charset="-120"/>
              </a:rPr>
              <a:t>Usability &amp; Interface Design</a:t>
            </a:r>
            <a:endParaRPr lang="en-US" sz="1150" dirty="0"/>
          </a:p>
        </p:txBody>
      </p:sp>
      <p:sp>
        <p:nvSpPr>
          <p:cNvPr id="15" name="Text 12"/>
          <p:cNvSpPr/>
          <p:nvPr/>
        </p:nvSpPr>
        <p:spPr>
          <a:xfrm>
            <a:off x="2377440" y="1901952"/>
            <a:ext cx="3200400" cy="4572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Evaluators commended the clean brown aesthetic, visual layout, and intuitive navigation hierarchy.</a:t>
            </a:r>
            <a:endParaRPr lang="en-US" sz="850" dirty="0"/>
          </a:p>
        </p:txBody>
      </p:sp>
      <p:sp>
        <p:nvSpPr>
          <p:cNvPr id="16" name="Shape 13"/>
          <p:cNvSpPr/>
          <p:nvPr/>
        </p:nvSpPr>
        <p:spPr>
          <a:xfrm>
            <a:off x="731520" y="2606040"/>
            <a:ext cx="5029200" cy="1005840"/>
          </a:xfrm>
          <a:prstGeom prst="roundRect">
            <a:avLst>
              <a:gd name="adj" fmla="val 9091"/>
            </a:avLst>
          </a:prstGeom>
          <a:solidFill>
            <a:srgbClr val="FFFFFF"/>
          </a:solidFill>
          <a:ln w="15240">
            <a:solidFill>
              <a:srgbClr val="E8DFD5"/>
            </a:solidFill>
            <a:prstDash val="solid"/>
          </a:ln>
        </p:spPr>
      </p:sp>
      <p:sp>
        <p:nvSpPr>
          <p:cNvPr id="17" name="Text 14"/>
          <p:cNvSpPr/>
          <p:nvPr/>
        </p:nvSpPr>
        <p:spPr>
          <a:xfrm>
            <a:off x="914400" y="2743200"/>
            <a:ext cx="1371600" cy="731520"/>
          </a:xfrm>
          <a:prstGeom prst="rect">
            <a:avLst/>
          </a:prstGeom>
          <a:noFill/>
          <a:ln/>
        </p:spPr>
        <p:txBody>
          <a:bodyPr wrap="square" rtlCol="0" anchor="ctr"/>
          <a:lstStyle/>
          <a:p>
            <a:pPr indent="0" marL="0">
              <a:buNone/>
            </a:pPr>
            <a:r>
              <a:rPr lang="en-US" sz="2200" b="1" dirty="0">
                <a:solidFill>
                  <a:srgbClr val="2E7D32"/>
                </a:solidFill>
                <a:latin typeface="Arial" pitchFamily="34" charset="0"/>
                <a:ea typeface="Arial" pitchFamily="34" charset="-122"/>
                <a:cs typeface="Arial" pitchFamily="34" charset="-120"/>
              </a:rPr>
              <a:t>93.3%</a:t>
            </a:r>
            <a:endParaRPr lang="en-US" sz="2200" dirty="0"/>
          </a:p>
        </p:txBody>
      </p:sp>
      <p:sp>
        <p:nvSpPr>
          <p:cNvPr id="18" name="Text 15"/>
          <p:cNvSpPr/>
          <p:nvPr/>
        </p:nvSpPr>
        <p:spPr>
          <a:xfrm>
            <a:off x="2377440" y="2770632"/>
            <a:ext cx="3200400" cy="274320"/>
          </a:xfrm>
          <a:prstGeom prst="rect">
            <a:avLst/>
          </a:prstGeom>
          <a:noFill/>
          <a:ln/>
        </p:spPr>
        <p:txBody>
          <a:bodyPr wrap="square" rtlCol="0" anchor="ctr"/>
          <a:lstStyle/>
          <a:p>
            <a:pPr indent="0" marL="0">
              <a:buNone/>
            </a:pPr>
            <a:r>
              <a:rPr lang="en-US" sz="1150" b="1" dirty="0">
                <a:solidFill>
                  <a:srgbClr val="5C3D28"/>
                </a:solidFill>
                <a:latin typeface="Arial" pitchFamily="34" charset="0"/>
                <a:ea typeface="Arial" pitchFamily="34" charset="-122"/>
                <a:cs typeface="Arial" pitchFamily="34" charset="-120"/>
              </a:rPr>
              <a:t>System Functionality &amp; Accuracy</a:t>
            </a:r>
            <a:endParaRPr lang="en-US" sz="1150" dirty="0"/>
          </a:p>
        </p:txBody>
      </p:sp>
      <p:sp>
        <p:nvSpPr>
          <p:cNvPr id="19" name="Text 16"/>
          <p:cNvSpPr/>
          <p:nvPr/>
        </p:nvSpPr>
        <p:spPr>
          <a:xfrm>
            <a:off x="2377440" y="3044952"/>
            <a:ext cx="3200400" cy="4572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Features operated smoothly without errors; conflict detection performed flawlessly in all test runs.</a:t>
            </a:r>
            <a:endParaRPr lang="en-US" sz="850" dirty="0"/>
          </a:p>
        </p:txBody>
      </p:sp>
      <p:sp>
        <p:nvSpPr>
          <p:cNvPr id="20" name="Shape 17"/>
          <p:cNvSpPr/>
          <p:nvPr/>
        </p:nvSpPr>
        <p:spPr>
          <a:xfrm>
            <a:off x="731520" y="3749040"/>
            <a:ext cx="5029200" cy="1005840"/>
          </a:xfrm>
          <a:prstGeom prst="roundRect">
            <a:avLst>
              <a:gd name="adj" fmla="val 9091"/>
            </a:avLst>
          </a:prstGeom>
          <a:solidFill>
            <a:srgbClr val="FFFFFF"/>
          </a:solidFill>
          <a:ln w="15240">
            <a:solidFill>
              <a:srgbClr val="E8DFD5"/>
            </a:solidFill>
            <a:prstDash val="solid"/>
          </a:ln>
        </p:spPr>
      </p:sp>
      <p:sp>
        <p:nvSpPr>
          <p:cNvPr id="21" name="Text 18"/>
          <p:cNvSpPr/>
          <p:nvPr/>
        </p:nvSpPr>
        <p:spPr>
          <a:xfrm>
            <a:off x="914400" y="3886200"/>
            <a:ext cx="1371600" cy="731520"/>
          </a:xfrm>
          <a:prstGeom prst="rect">
            <a:avLst/>
          </a:prstGeom>
          <a:noFill/>
          <a:ln/>
        </p:spPr>
        <p:txBody>
          <a:bodyPr wrap="square" rtlCol="0" anchor="ctr"/>
          <a:lstStyle/>
          <a:p>
            <a:pPr indent="0" marL="0">
              <a:buNone/>
            </a:pPr>
            <a:r>
              <a:rPr lang="en-US" sz="2200" b="1" dirty="0">
                <a:solidFill>
                  <a:srgbClr val="2E7D32"/>
                </a:solidFill>
                <a:latin typeface="Arial" pitchFamily="34" charset="0"/>
                <a:ea typeface="Arial" pitchFamily="34" charset="-122"/>
                <a:cs typeface="Arial" pitchFamily="34" charset="-120"/>
              </a:rPr>
              <a:t>96.7%</a:t>
            </a:r>
            <a:endParaRPr lang="en-US" sz="2200" dirty="0"/>
          </a:p>
        </p:txBody>
      </p:sp>
      <p:sp>
        <p:nvSpPr>
          <p:cNvPr id="22" name="Text 19"/>
          <p:cNvSpPr/>
          <p:nvPr/>
        </p:nvSpPr>
        <p:spPr>
          <a:xfrm>
            <a:off x="2377440" y="3913632"/>
            <a:ext cx="3200400" cy="274320"/>
          </a:xfrm>
          <a:prstGeom prst="rect">
            <a:avLst/>
          </a:prstGeom>
          <a:noFill/>
          <a:ln/>
        </p:spPr>
        <p:txBody>
          <a:bodyPr wrap="square" rtlCol="0" anchor="ctr"/>
          <a:lstStyle/>
          <a:p>
            <a:pPr indent="0" marL="0">
              <a:buNone/>
            </a:pPr>
            <a:r>
              <a:rPr lang="en-US" sz="1150" b="1" dirty="0">
                <a:solidFill>
                  <a:srgbClr val="5C3D28"/>
                </a:solidFill>
                <a:latin typeface="Arial" pitchFamily="34" charset="0"/>
                <a:ea typeface="Arial" pitchFamily="34" charset="-122"/>
                <a:cs typeface="Arial" pitchFamily="34" charset="-120"/>
              </a:rPr>
              <a:t>Booking Efficiency &amp; Speed</a:t>
            </a:r>
            <a:endParaRPr lang="en-US" sz="1150" dirty="0"/>
          </a:p>
        </p:txBody>
      </p:sp>
      <p:sp>
        <p:nvSpPr>
          <p:cNvPr id="23" name="Text 20"/>
          <p:cNvSpPr/>
          <p:nvPr/>
        </p:nvSpPr>
        <p:spPr>
          <a:xfrm>
            <a:off x="2377440" y="4187952"/>
            <a:ext cx="3200400" cy="4572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Confirmed booking submission time dropped drastically from 2-3 days on paper to under 2 minutes online.</a:t>
            </a:r>
            <a:endParaRPr lang="en-US" sz="850" dirty="0"/>
          </a:p>
        </p:txBody>
      </p:sp>
      <p:sp>
        <p:nvSpPr>
          <p:cNvPr id="24" name="Shape 21"/>
          <p:cNvSpPr/>
          <p:nvPr/>
        </p:nvSpPr>
        <p:spPr>
          <a:xfrm>
            <a:off x="731520" y="4892040"/>
            <a:ext cx="5029200" cy="1005840"/>
          </a:xfrm>
          <a:prstGeom prst="roundRect">
            <a:avLst>
              <a:gd name="adj" fmla="val 9091"/>
            </a:avLst>
          </a:prstGeom>
          <a:solidFill>
            <a:srgbClr val="FFFFFF"/>
          </a:solidFill>
          <a:ln w="15240">
            <a:solidFill>
              <a:srgbClr val="E8DFD5"/>
            </a:solidFill>
            <a:prstDash val="solid"/>
          </a:ln>
        </p:spPr>
      </p:sp>
      <p:sp>
        <p:nvSpPr>
          <p:cNvPr id="25" name="Text 22"/>
          <p:cNvSpPr/>
          <p:nvPr/>
        </p:nvSpPr>
        <p:spPr>
          <a:xfrm>
            <a:off x="914400" y="5029200"/>
            <a:ext cx="1371600" cy="731520"/>
          </a:xfrm>
          <a:prstGeom prst="rect">
            <a:avLst/>
          </a:prstGeom>
          <a:noFill/>
          <a:ln/>
        </p:spPr>
        <p:txBody>
          <a:bodyPr wrap="square" rtlCol="0" anchor="ctr"/>
          <a:lstStyle/>
          <a:p>
            <a:pPr indent="0" marL="0">
              <a:buNone/>
            </a:pPr>
            <a:r>
              <a:rPr lang="en-US" sz="2200" b="1" dirty="0">
                <a:solidFill>
                  <a:srgbClr val="2E7D32"/>
                </a:solidFill>
                <a:latin typeface="Arial" pitchFamily="34" charset="0"/>
                <a:ea typeface="Arial" pitchFamily="34" charset="-122"/>
                <a:cs typeface="Arial" pitchFamily="34" charset="-120"/>
              </a:rPr>
              <a:t>100.0%</a:t>
            </a:r>
            <a:endParaRPr lang="en-US" sz="2200" dirty="0"/>
          </a:p>
        </p:txBody>
      </p:sp>
      <p:sp>
        <p:nvSpPr>
          <p:cNvPr id="26" name="Text 23"/>
          <p:cNvSpPr/>
          <p:nvPr/>
        </p:nvSpPr>
        <p:spPr>
          <a:xfrm>
            <a:off x="2377440" y="5056632"/>
            <a:ext cx="3200400" cy="274320"/>
          </a:xfrm>
          <a:prstGeom prst="rect">
            <a:avLst/>
          </a:prstGeom>
          <a:noFill/>
          <a:ln/>
        </p:spPr>
        <p:txBody>
          <a:bodyPr wrap="square" rtlCol="0" anchor="ctr"/>
          <a:lstStyle/>
          <a:p>
            <a:pPr indent="0" marL="0">
              <a:buNone/>
            </a:pPr>
            <a:r>
              <a:rPr lang="en-US" sz="1150" b="1" dirty="0">
                <a:solidFill>
                  <a:srgbClr val="5C3D28"/>
                </a:solidFill>
                <a:latin typeface="Arial" pitchFamily="34" charset="0"/>
                <a:ea typeface="Arial" pitchFamily="34" charset="-122"/>
                <a:cs typeface="Arial" pitchFamily="34" charset="-120"/>
              </a:rPr>
              <a:t>Campus Adoption Willingness</a:t>
            </a:r>
            <a:endParaRPr lang="en-US" sz="1150" dirty="0"/>
          </a:p>
        </p:txBody>
      </p:sp>
      <p:sp>
        <p:nvSpPr>
          <p:cNvPr id="27" name="Text 24"/>
          <p:cNvSpPr/>
          <p:nvPr/>
        </p:nvSpPr>
        <p:spPr>
          <a:xfrm>
            <a:off x="2377440" y="5330952"/>
            <a:ext cx="3200400" cy="4572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Unanimous 30 out of 30 respondents strongly recommended university-wide adoption of PinjamGeng.</a:t>
            </a:r>
            <a:endParaRPr lang="en-US" sz="850" dirty="0"/>
          </a:p>
        </p:txBody>
      </p:sp>
      <p:sp>
        <p:nvSpPr>
          <p:cNvPr id="28" name="Shape 25"/>
          <p:cNvSpPr/>
          <p:nvPr/>
        </p:nvSpPr>
        <p:spPr>
          <a:xfrm>
            <a:off x="6035040" y="1463040"/>
            <a:ext cx="5422392" cy="4663440"/>
          </a:xfrm>
          <a:prstGeom prst="roundRect">
            <a:avLst>
              <a:gd name="adj" fmla="val 2353"/>
            </a:avLst>
          </a:prstGeom>
          <a:solidFill>
            <a:srgbClr val="FFFFFF"/>
          </a:solidFill>
          <a:ln w="15240">
            <a:solidFill>
              <a:srgbClr val="E8DFD5"/>
            </a:solidFill>
            <a:prstDash val="solid"/>
          </a:ln>
        </p:spPr>
      </p:sp>
      <p:sp>
        <p:nvSpPr>
          <p:cNvPr id="29" name="Text 26"/>
          <p:cNvSpPr/>
          <p:nvPr/>
        </p:nvSpPr>
        <p:spPr>
          <a:xfrm>
            <a:off x="6309360" y="1645920"/>
            <a:ext cx="4937760" cy="274320"/>
          </a:xfrm>
          <a:prstGeom prst="rect">
            <a:avLst/>
          </a:prstGeom>
          <a:noFill/>
          <a:ln/>
        </p:spPr>
        <p:txBody>
          <a:bodyPr wrap="square" rtlCol="0" anchor="ctr"/>
          <a:lstStyle/>
          <a:p>
            <a:pPr indent="0" marL="0">
              <a:buNone/>
            </a:pPr>
            <a:r>
              <a:rPr lang="en-US" sz="950" b="1" dirty="0">
                <a:solidFill>
                  <a:srgbClr val="8B5E3C"/>
                </a:solidFill>
              </a:rPr>
              <a:t>UAT STATISTICAL VALIDATION (FIGURE 4.1 &amp; 4.12)</a:t>
            </a:r>
            <a:endParaRPr lang="en-US" sz="950" dirty="0"/>
          </a:p>
        </p:txBody>
      </p:sp>
      <p:pic>
        <p:nvPicPr>
          <p:cNvPr id="30" name="Image 1" descr="C:\Users\User\.gemini\antigravity\scratch\smart_event_equipment\documentation\images\fig_4_1_user_questionnaire_1.png">    </p:cNvPr>
          <p:cNvPicPr>
            <a:picLocks noChangeAspect="1"/>
          </p:cNvPicPr>
          <p:nvPr/>
        </p:nvPicPr>
        <p:blipFill>
          <a:blip r:embed="rId2"/>
          <a:srcRect l="0" r="0" t="0" b="0"/>
          <a:stretch/>
        </p:blipFill>
        <p:spPr>
          <a:xfrm>
            <a:off x="6309360" y="2011680"/>
            <a:ext cx="4873752" cy="2926080"/>
          </a:xfrm>
          <a:prstGeom prst="rect">
            <a:avLst/>
          </a:prstGeom>
        </p:spPr>
      </p:pic>
      <p:sp>
        <p:nvSpPr>
          <p:cNvPr id="31" name="Shape 27"/>
          <p:cNvSpPr/>
          <p:nvPr/>
        </p:nvSpPr>
        <p:spPr>
          <a:xfrm>
            <a:off x="6309360" y="5074920"/>
            <a:ext cx="4873752" cy="868680"/>
          </a:xfrm>
          <a:prstGeom prst="roundRect">
            <a:avLst>
              <a:gd name="adj" fmla="val 8421"/>
            </a:avLst>
          </a:prstGeom>
          <a:solidFill>
            <a:srgbClr val="F4EDE4"/>
          </a:solidFill>
          <a:ln w="12700">
            <a:solidFill>
              <a:srgbClr val="E8DFD5"/>
            </a:solidFill>
            <a:prstDash val="solid"/>
          </a:ln>
        </p:spPr>
      </p:sp>
      <p:sp>
        <p:nvSpPr>
          <p:cNvPr id="32" name="Text 28"/>
          <p:cNvSpPr/>
          <p:nvPr/>
        </p:nvSpPr>
        <p:spPr>
          <a:xfrm>
            <a:off x="6446520" y="5166360"/>
            <a:ext cx="4572000" cy="6858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UAT Verdict: PinjamGeng met every single acceptance criterion established by UPTM. All 30 evaluators affirmed that the software is ready for immediate deployment across university departments.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IMPACT</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Comparative Analysis: Before vs After PinjamGeng</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Quantifiable transformation of campus event equipment operations</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18 of 20 | Nursyafiqah Zulaikha</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725912" cy="3931920"/>
        </p:xfrm>
        <a:graphic>
          <a:graphicData uri="http://schemas.openxmlformats.org/drawingml/2006/table">
            <a:tbl>
              <a:tblPr/>
              <a:tblGrid>
                <a:gridCol w="3575304"/>
                <a:gridCol w="3575304"/>
                <a:gridCol w="3575304"/>
              </a:tblGrid>
              <a:tr h="491490">
                <a:tc>
                  <a:txBody>
                    <a:bodyPr/>
                    <a:lstStyle/>
                    <a:p>
                      <a:pPr indent="0" marL="0">
                        <a:buNone/>
                      </a:pPr>
                      <a:r>
                        <a:rPr lang="en-US" sz="950" b="1" dirty="0">
                          <a:solidFill>
                            <a:srgbClr val="FFFFFF"/>
                          </a:solidFill>
                        </a:rPr>
                        <a:t>Operational Dimension</a:t>
                      </a:r>
                      <a:endParaRPr lang="en-US" sz="9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3D2B1F"/>
                    </a:solidFill>
                  </a:tcPr>
                </a:tc>
                <a:tc>
                  <a:txBody>
                    <a:bodyPr/>
                    <a:lstStyle/>
                    <a:p>
                      <a:pPr indent="0" marL="0">
                        <a:buNone/>
                      </a:pPr>
                      <a:r>
                        <a:rPr lang="en-US" sz="950" b="1" dirty="0">
                          <a:solidFill>
                            <a:srgbClr val="FFFFFF"/>
                          </a:solidFill>
                        </a:rPr>
                        <a:t>Manual System (Paper / Google Forms)</a:t>
                      </a:r>
                      <a:endParaRPr lang="en-US" sz="9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3D2B1F"/>
                    </a:solidFill>
                  </a:tcPr>
                </a:tc>
                <a:tc>
                  <a:txBody>
                    <a:bodyPr/>
                    <a:lstStyle/>
                    <a:p>
                      <a:pPr indent="0" marL="0">
                        <a:buNone/>
                      </a:pPr>
                      <a:r>
                        <a:rPr lang="en-US" sz="950" b="1" dirty="0">
                          <a:solidFill>
                            <a:srgbClr val="FAEDCD"/>
                          </a:solidFill>
                        </a:rPr>
                        <a:t>PinjamGeng Platform (Live Web)</a:t>
                      </a:r>
                      <a:endParaRPr lang="en-US" sz="9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3D2B1F"/>
                    </a:solidFill>
                  </a:tcPr>
                </a:tc>
              </a:tr>
              <a:tr h="491490">
                <a:tc>
                  <a:txBody>
                    <a:bodyPr/>
                    <a:lstStyle/>
                    <a:p>
                      <a:pPr indent="0" marL="0">
                        <a:buNone/>
                      </a:pPr>
                      <a:r>
                        <a:rPr lang="en-US" sz="900" b="1" dirty="0">
                          <a:solidFill>
                            <a:srgbClr val="000000"/>
                          </a:solidFill>
                        </a:rPr>
                        <a:t>Booking Turnaround</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rPr>
                        <a:t>2 to 3 Working Days (physical paper routing)</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indent="0" marL="0">
                        <a:buNone/>
                      </a:pPr>
                      <a:r>
                        <a:rPr lang="en-US" sz="850" b="1" dirty="0">
                          <a:solidFill>
                            <a:srgbClr val="2E7D32"/>
                          </a:solidFill>
                        </a:rPr>
                        <a:t>Under 2 Minutes (24/7 self-service)</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1F8E9"/>
                    </a:solidFill>
                  </a:tcPr>
                </a:tc>
              </a:tr>
              <a:tr h="491490">
                <a:tc>
                  <a:txBody>
                    <a:bodyPr/>
                    <a:lstStyle/>
                    <a:p>
                      <a:pPr indent="0" marL="0">
                        <a:buNone/>
                      </a:pPr>
                      <a:r>
                        <a:rPr lang="en-US" sz="900" b="1" dirty="0">
                          <a:solidFill>
                            <a:srgbClr val="000000"/>
                          </a:solidFill>
                        </a:rPr>
                        <a:t>Stock Visibility</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c>
                  <a:txBody>
                    <a:bodyPr/>
                    <a:lstStyle/>
                    <a:p>
                      <a:pPr indent="0" marL="0">
                        <a:buNone/>
                      </a:pPr>
                      <a:r>
                        <a:rPr lang="en-US" sz="850" dirty="0">
                          <a:solidFill>
                            <a:srgbClr val="000000"/>
                          </a:solidFill>
                        </a:rPr>
                        <a:t>Blind guessing; requires phone calls or counter visits</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c>
                  <a:txBody>
                    <a:bodyPr/>
                    <a:lstStyle/>
                    <a:p>
                      <a:pPr indent="0" marL="0">
                        <a:buNone/>
                      </a:pPr>
                      <a:r>
                        <a:rPr lang="en-US" sz="850" b="1" dirty="0">
                          <a:solidFill>
                            <a:srgbClr val="8B5E3C"/>
                          </a:solidFill>
                        </a:rPr>
                        <a:t>Real-time live stock display with catalog photos</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r>
              <a:tr h="491490">
                <a:tc>
                  <a:txBody>
                    <a:bodyPr/>
                    <a:lstStyle/>
                    <a:p>
                      <a:pPr indent="0" marL="0">
                        <a:buNone/>
                      </a:pPr>
                      <a:r>
                        <a:rPr lang="en-US" sz="900" b="1" dirty="0">
                          <a:solidFill>
                            <a:srgbClr val="000000"/>
                          </a:solidFill>
                        </a:rPr>
                        <a:t>Double-Booking Risk</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indent="0" marL="0">
                        <a:buNone/>
                      </a:pPr>
                      <a:r>
                        <a:rPr lang="en-US" sz="850" dirty="0">
                          <a:solidFill>
                            <a:srgbClr val="C62828"/>
                          </a:solidFill>
                        </a:rPr>
                        <a:t>High; frequent schedule collisions on peak weekends</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indent="0" marL="0">
                        <a:buNone/>
                      </a:pPr>
                      <a:r>
                        <a:rPr lang="en-US" sz="850" b="1" dirty="0">
                          <a:solidFill>
                            <a:srgbClr val="2E7D32"/>
                          </a:solidFill>
                        </a:rPr>
                        <a:t>0% Risk; automated mathematical conflict checker</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1F8E9"/>
                    </a:solidFill>
                  </a:tcPr>
                </a:tc>
              </a:tr>
              <a:tr h="491490">
                <a:tc>
                  <a:txBody>
                    <a:bodyPr/>
                    <a:lstStyle/>
                    <a:p>
                      <a:pPr indent="0" marL="0">
                        <a:buNone/>
                      </a:pPr>
                      <a:r>
                        <a:rPr lang="en-US" sz="900" b="1" dirty="0">
                          <a:solidFill>
                            <a:srgbClr val="000000"/>
                          </a:solidFill>
                        </a:rPr>
                        <a:t>Package Bundling</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c>
                  <a:txBody>
                    <a:bodyPr/>
                    <a:lstStyle/>
                    <a:p>
                      <a:pPr indent="0" marL="0">
                        <a:buNone/>
                      </a:pPr>
                      <a:r>
                        <a:rPr lang="en-US" sz="850" dirty="0">
                          <a:solidFill>
                            <a:srgbClr val="000000"/>
                          </a:solidFill>
                        </a:rPr>
                        <a:t>None; items listed individually on paper forms</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c>
                  <a:txBody>
                    <a:bodyPr/>
                    <a:lstStyle/>
                    <a:p>
                      <a:pPr indent="0" marL="0">
                        <a:buNone/>
                      </a:pPr>
                      <a:r>
                        <a:rPr lang="en-US" sz="850" b="1" dirty="0">
                          <a:solidFill>
                            <a:srgbClr val="8B5E3C"/>
                          </a:solidFill>
                        </a:rPr>
                        <a:t>1-Click curated event sets (PA set, Seminar set)</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r>
              <a:tr h="491490">
                <a:tc>
                  <a:txBody>
                    <a:bodyPr/>
                    <a:lstStyle/>
                    <a:p>
                      <a:pPr indent="0" marL="0">
                        <a:buNone/>
                      </a:pPr>
                      <a:r>
                        <a:rPr lang="en-US" sz="900" b="1" dirty="0">
                          <a:solidFill>
                            <a:srgbClr val="000000"/>
                          </a:solidFill>
                        </a:rPr>
                        <a:t>Damage Accountability</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indent="0" marL="0">
                        <a:buNone/>
                      </a:pPr>
                      <a:r>
                        <a:rPr lang="en-US" sz="850" dirty="0">
                          <a:solidFill>
                            <a:srgbClr val="C62828"/>
                          </a:solidFill>
                        </a:rPr>
                        <a:t>Unrecorded; damaged items returned unnoticed</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indent="0" marL="0">
                        <a:buNone/>
                      </a:pPr>
                      <a:r>
                        <a:rPr lang="en-US" sz="850" b="1" dirty="0">
                          <a:solidFill>
                            <a:srgbClr val="2E7D32"/>
                          </a:solidFill>
                        </a:rPr>
                        <a:t>Standardized 4-tier grading &amp; automated fine engine</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1F8E9"/>
                    </a:solidFill>
                  </a:tcPr>
                </a:tc>
              </a:tr>
              <a:tr h="491490">
                <a:tc>
                  <a:txBody>
                    <a:bodyPr/>
                    <a:lstStyle/>
                    <a:p>
                      <a:pPr indent="0" marL="0">
                        <a:buNone/>
                      </a:pPr>
                      <a:r>
                        <a:rPr lang="en-US" sz="900" b="1" dirty="0">
                          <a:solidFill>
                            <a:srgbClr val="000000"/>
                          </a:solidFill>
                        </a:rPr>
                        <a:t>Documentation &amp; Receipts</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c>
                  <a:txBody>
                    <a:bodyPr/>
                    <a:lstStyle/>
                    <a:p>
                      <a:pPr indent="0" marL="0">
                        <a:buNone/>
                      </a:pPr>
                      <a:r>
                        <a:rPr lang="en-US" sz="850" dirty="0">
                          <a:solidFill>
                            <a:srgbClr val="000000"/>
                          </a:solidFill>
                        </a:rPr>
                        <a:t>Paper chits easily lost; no centralized history</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c>
                  <a:txBody>
                    <a:bodyPr/>
                    <a:lstStyle/>
                    <a:p>
                      <a:pPr indent="0" marL="0">
                        <a:buNone/>
                      </a:pPr>
                      <a:r>
                        <a:rPr lang="en-US" sz="850" b="1" dirty="0">
                          <a:solidFill>
                            <a:srgbClr val="8B5E3C"/>
                          </a:solidFill>
                        </a:rPr>
                        <a:t>Instant printable PDF receipts &amp; central audit log</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AFAFA"/>
                    </a:solidFill>
                  </a:tcPr>
                </a:tc>
              </a:tr>
              <a:tr h="491490">
                <a:tc>
                  <a:txBody>
                    <a:bodyPr/>
                    <a:lstStyle/>
                    <a:p>
                      <a:pPr indent="0" marL="0">
                        <a:buNone/>
                      </a:pPr>
                      <a:r>
                        <a:rPr lang="en-US" sz="900" b="1" dirty="0">
                          <a:solidFill>
                            <a:srgbClr val="000000"/>
                          </a:solidFill>
                        </a:rPr>
                        <a:t>Operating Availability</a:t>
                      </a:r>
                      <a:endParaRPr lang="en-US" sz="90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rPr>
                        <a:t>Restricted to office hours (8:00 AM – 5:00 PM)</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FFFFF"/>
                    </a:solidFill>
                  </a:tcPr>
                </a:tc>
                <a:tc>
                  <a:txBody>
                    <a:bodyPr/>
                    <a:lstStyle/>
                    <a:p>
                      <a:pPr indent="0" marL="0">
                        <a:buNone/>
                      </a:pPr>
                      <a:r>
                        <a:rPr lang="en-US" sz="850" b="1" dirty="0">
                          <a:solidFill>
                            <a:srgbClr val="2E7D32"/>
                          </a:solidFill>
                        </a:rPr>
                        <a:t>Global 24/7 cloud accessibility on any device</a:t>
                      </a:r>
                      <a:endParaRPr lang="en-US" sz="850" dirty="0"/>
                    </a:p>
                  </a:txBody>
                  <a:tcPr marL="73152" marR="73152" marT="73152" marB="73152">
                    <a:lnL w="12700" cap="flat" cmpd="sng" algn="ctr">
                      <a:solidFill>
                        <a:srgbClr val="E8DFD5"/>
                      </a:solidFill>
                      <a:prstDash val="solid"/>
                      <a:round/>
                      <a:headEnd type="none" w="med" len="med"/>
                      <a:tailEnd type="none" w="med" len="med"/>
                    </a:lnL>
                    <a:lnR w="12700" cap="flat" cmpd="sng" algn="ctr">
                      <a:solidFill>
                        <a:srgbClr val="E8DFD5"/>
                      </a:solidFill>
                      <a:prstDash val="solid"/>
                      <a:round/>
                      <a:headEnd type="none" w="med" len="med"/>
                      <a:tailEnd type="none" w="med" len="med"/>
                    </a:lnR>
                    <a:lnT w="12700" cap="flat" cmpd="sng" algn="ctr">
                      <a:solidFill>
                        <a:srgbClr val="E8DFD5"/>
                      </a:solidFill>
                      <a:prstDash val="solid"/>
                      <a:round/>
                      <a:headEnd type="none" w="med" len="med"/>
                      <a:tailEnd type="none" w="med" len="med"/>
                    </a:lnT>
                    <a:lnB w="12700" cap="flat" cmpd="sng" algn="ctr">
                      <a:solidFill>
                        <a:srgbClr val="E8DFD5"/>
                      </a:solidFill>
                      <a:prstDash val="solid"/>
                      <a:round/>
                      <a:headEnd type="none" w="med" len="med"/>
                      <a:tailEnd type="none" w="med" len="med"/>
                    </a:lnB>
                    <a:solidFill>
                      <a:srgbClr val="F1F8E9"/>
                    </a:solidFill>
                  </a:tcPr>
                </a:tc>
              </a:tr>
            </a:tbl>
          </a:graphicData>
        </a:graphic>
      </p:graphicFrame>
      <p:sp>
        <p:nvSpPr>
          <p:cNvPr id="13" name="Shape 9"/>
          <p:cNvSpPr/>
          <p:nvPr/>
        </p:nvSpPr>
        <p:spPr>
          <a:xfrm>
            <a:off x="731520" y="5532120"/>
            <a:ext cx="10725912" cy="640080"/>
          </a:xfrm>
          <a:prstGeom prst="roundRect">
            <a:avLst>
              <a:gd name="adj" fmla="val 11429"/>
            </a:avLst>
          </a:prstGeom>
          <a:solidFill>
            <a:srgbClr val="F4EDE4"/>
          </a:solidFill>
          <a:ln w="12700">
            <a:solidFill>
              <a:srgbClr val="E8DFD5"/>
            </a:solidFill>
            <a:prstDash val="solid"/>
          </a:ln>
        </p:spPr>
      </p:sp>
      <p:sp>
        <p:nvSpPr>
          <p:cNvPr id="14" name="Text 10"/>
          <p:cNvSpPr/>
          <p:nvPr/>
        </p:nvSpPr>
        <p:spPr>
          <a:xfrm>
            <a:off x="1005840" y="5623560"/>
            <a:ext cx="10241280" cy="457200"/>
          </a:xfrm>
          <a:prstGeom prst="rect">
            <a:avLst/>
          </a:prstGeom>
          <a:noFill/>
          <a:ln/>
        </p:spPr>
        <p:txBody>
          <a:bodyPr wrap="square" rtlCol="0" anchor="ctr"/>
          <a:lstStyle/>
          <a:p>
            <a:pPr indent="0" marL="0">
              <a:buNone/>
            </a:pPr>
            <a:r>
              <a:rPr lang="en-US" sz="900" b="1" dirty="0">
                <a:solidFill>
                  <a:srgbClr val="3D2B1F"/>
                </a:solidFill>
                <a:latin typeface="Calibri" pitchFamily="34" charset="0"/>
                <a:ea typeface="Calibri" pitchFamily="34" charset="-122"/>
                <a:cs typeface="Calibri" pitchFamily="34" charset="-120"/>
              </a:rPr>
              <a:t>CORE IMPACT: PinjamGeng delivers an end-to-end digital transformation for UPTM, turning an error-prone, paper-heavy 3-day manual ordeal into an automated, transparent, and accountability-driven 2-minute workflow.</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B5E3C"/>
          </a:solidFill>
          <a:ln w="12700">
            <a:solidFill>
              <a:srgbClr val="8B5E3C"/>
            </a:solidFill>
            <a:prstDash val="solid"/>
          </a:ln>
        </p:spPr>
      </p:sp>
      <p:sp>
        <p:nvSpPr>
          <p:cNvPr id="3" name="Shape 1"/>
          <p:cNvSpPr/>
          <p:nvPr/>
        </p:nvSpPr>
        <p:spPr>
          <a:xfrm>
            <a:off x="731520" y="292608"/>
            <a:ext cx="2194560" cy="274320"/>
          </a:xfrm>
          <a:prstGeom prst="roundRect">
            <a:avLst>
              <a:gd name="adj" fmla="val 26667"/>
            </a:avLst>
          </a:prstGeom>
          <a:solidFill>
            <a:srgbClr val="FAEDCD"/>
          </a:solidFill>
          <a:ln w="12700">
            <a:solidFill>
              <a:srgbClr val="FAEDCD"/>
            </a:solidFill>
            <a:prstDash val="solid"/>
          </a:ln>
        </p:spPr>
      </p:sp>
      <p:sp>
        <p:nvSpPr>
          <p:cNvPr id="4" name="Text 2"/>
          <p:cNvSpPr/>
          <p:nvPr/>
        </p:nvSpPr>
        <p:spPr>
          <a:xfrm>
            <a:off x="731520" y="292608"/>
            <a:ext cx="2194560" cy="274320"/>
          </a:xfrm>
          <a:prstGeom prst="rect">
            <a:avLst/>
          </a:prstGeom>
          <a:noFill/>
          <a:ln/>
        </p:spPr>
        <p:txBody>
          <a:bodyPr wrap="square" rtlCol="0" anchor="ctr"/>
          <a:lstStyle/>
          <a:p>
            <a:pPr algn="ctr" indent="0" marL="0">
              <a:buNone/>
            </a:pPr>
            <a:r>
              <a:rPr lang="en-US" sz="900" b="1" dirty="0">
                <a:solidFill>
                  <a:srgbClr val="7F5539"/>
                </a:solidFill>
              </a:rPr>
              <a:t>FUTURE WORK</a:t>
            </a:r>
            <a:endParaRPr lang="en-US" sz="900" dirty="0"/>
          </a:p>
        </p:txBody>
      </p:sp>
      <p:sp>
        <p:nvSpPr>
          <p:cNvPr id="5" name="Text 3"/>
          <p:cNvSpPr/>
          <p:nvPr/>
        </p:nvSpPr>
        <p:spPr>
          <a:xfrm>
            <a:off x="731520" y="621792"/>
            <a:ext cx="9144000" cy="411480"/>
          </a:xfrm>
          <a:prstGeom prst="rect">
            <a:avLst/>
          </a:prstGeom>
          <a:noFill/>
          <a:ln/>
        </p:spPr>
        <p:txBody>
          <a:bodyPr wrap="square" rtlCol="0" anchor="ctr"/>
          <a:lstStyle/>
          <a:p>
            <a:pPr indent="0" marL="0">
              <a:buNone/>
            </a:pPr>
            <a:r>
              <a:rPr lang="en-US" sz="2000" b="1" dirty="0">
                <a:solidFill>
                  <a:srgbClr val="3D2B1F"/>
                </a:solidFill>
                <a:latin typeface="Arial" pitchFamily="34" charset="0"/>
                <a:ea typeface="Arial" pitchFamily="34" charset="-122"/>
                <a:cs typeface="Arial" pitchFamily="34" charset="-120"/>
              </a:rPr>
              <a:t>Project Limitations &amp; Future Enhancements</a:t>
            </a:r>
            <a:endParaRPr lang="en-US" sz="2000" dirty="0"/>
          </a:p>
        </p:txBody>
      </p:sp>
      <p:sp>
        <p:nvSpPr>
          <p:cNvPr id="6" name="Text 4"/>
          <p:cNvSpPr/>
          <p:nvPr/>
        </p:nvSpPr>
        <p:spPr>
          <a:xfrm>
            <a:off x="731520" y="1051560"/>
            <a:ext cx="9144000" cy="274320"/>
          </a:xfrm>
          <a:prstGeom prst="rect">
            <a:avLst/>
          </a:prstGeom>
          <a:noFill/>
          <a:ln/>
        </p:spPr>
        <p:txBody>
          <a:bodyPr wrap="square" rtlCol="0" anchor="ctr"/>
          <a:lstStyle/>
          <a:p>
            <a:pPr indent="0" marL="0">
              <a:buNone/>
            </a:pPr>
            <a:r>
              <a:rPr lang="en-US" sz="1100" dirty="0">
                <a:solidFill>
                  <a:srgbClr val="6C757D"/>
                </a:solidFill>
                <a:latin typeface="Calibri" pitchFamily="34" charset="0"/>
                <a:ea typeface="Calibri" pitchFamily="34" charset="-122"/>
                <a:cs typeface="Calibri" pitchFamily="34" charset="-120"/>
              </a:rPr>
              <a:t>Honest appraisal of current boundaries and structured Phase 2 commercial roadmap</a:t>
            </a:r>
            <a:endParaRPr lang="en-US" sz="1100" dirty="0"/>
          </a:p>
        </p:txBody>
      </p:sp>
      <p:pic>
        <p:nvPicPr>
          <p:cNvPr id="7" name="Image 0" descr="C:\Users\User\.gemini\antigravity\scratch\smart_event_equipment\documentation\images\uptm_logo.jpg">    </p:cNvPr>
          <p:cNvPicPr>
            <a:picLocks noChangeAspect="1"/>
          </p:cNvPicPr>
          <p:nvPr/>
        </p:nvPicPr>
        <p:blipFill>
          <a:blip r:embed="rId1"/>
          <a:srcRect l="0" r="0" t="0" b="0"/>
          <a:stretch/>
        </p:blipFill>
        <p:spPr>
          <a:xfrm>
            <a:off x="10469880" y="274320"/>
            <a:ext cx="987552" cy="731520"/>
          </a:xfrm>
          <a:prstGeom prst="rect">
            <a:avLst/>
          </a:prstGeom>
        </p:spPr>
      </p:pic>
      <p:sp>
        <p:nvSpPr>
          <p:cNvPr id="8" name="Shape 5"/>
          <p:cNvSpPr/>
          <p:nvPr/>
        </p:nvSpPr>
        <p:spPr>
          <a:xfrm>
            <a:off x="731520" y="6355080"/>
            <a:ext cx="10725912" cy="0"/>
          </a:xfrm>
          <a:prstGeom prst="line">
            <a:avLst/>
          </a:prstGeom>
          <a:noFill/>
          <a:ln w="12700">
            <a:solidFill>
              <a:srgbClr val="E8DFD5"/>
            </a:solidFill>
            <a:prstDash val="solid"/>
          </a:ln>
        </p:spPr>
      </p:sp>
      <p:sp>
        <p:nvSpPr>
          <p:cNvPr id="9" name="Text 6"/>
          <p:cNvSpPr/>
          <p:nvPr/>
        </p:nvSpPr>
        <p:spPr>
          <a:xfrm>
            <a:off x="731520" y="6419088"/>
            <a:ext cx="5029200" cy="274320"/>
          </a:xfrm>
          <a:prstGeom prst="rect">
            <a:avLst/>
          </a:prstGeom>
          <a:noFill/>
          <a:ln/>
        </p:spPr>
        <p:txBody>
          <a:bodyPr wrap="square" rtlCol="0" anchor="ctr"/>
          <a:lstStyle/>
          <a:p>
            <a:pPr indent="0" marL="0">
              <a:buNone/>
            </a:pPr>
            <a:r>
              <a:rPr lang="en-US" sz="800" b="1" dirty="0">
                <a:solidFill>
                  <a:srgbClr val="8B5E3C"/>
                </a:solidFill>
              </a:rPr>
              <a:t>Universiti Poly-Tech Malaysia (UPTM) | FCOM — Diploma in Computer Science (CC101)</a:t>
            </a:r>
            <a:endParaRPr lang="en-US" sz="800" dirty="0"/>
          </a:p>
        </p:txBody>
      </p:sp>
      <p:sp>
        <p:nvSpPr>
          <p:cNvPr id="10" name="Text 7"/>
          <p:cNvSpPr/>
          <p:nvPr/>
        </p:nvSpPr>
        <p:spPr>
          <a:xfrm>
            <a:off x="5760720" y="6419088"/>
            <a:ext cx="3200400" cy="274320"/>
          </a:xfrm>
          <a:prstGeom prst="rect">
            <a:avLst/>
          </a:prstGeom>
          <a:noFill/>
          <a:ln/>
        </p:spPr>
        <p:txBody>
          <a:bodyPr wrap="square" rtlCol="0" anchor="ctr"/>
          <a:lstStyle/>
          <a:p>
            <a:pPr algn="ctr" indent="0" marL="0">
              <a:buNone/>
            </a:pPr>
            <a:r>
              <a:rPr lang="en-US" sz="800" dirty="0">
                <a:solidFill>
                  <a:srgbClr val="6C757D"/>
                </a:solidFill>
              </a:rPr>
              <a:t>PinjamGeng: Smart Event Equipment Booking System</a:t>
            </a:r>
            <a:endParaRPr lang="en-US" sz="800" dirty="0"/>
          </a:p>
        </p:txBody>
      </p:sp>
      <p:sp>
        <p:nvSpPr>
          <p:cNvPr id="11" name="Text 8"/>
          <p:cNvSpPr/>
          <p:nvPr/>
        </p:nvSpPr>
        <p:spPr>
          <a:xfrm>
            <a:off x="8961120" y="6419088"/>
            <a:ext cx="2496312" cy="274320"/>
          </a:xfrm>
          <a:prstGeom prst="rect">
            <a:avLst/>
          </a:prstGeom>
          <a:noFill/>
          <a:ln/>
        </p:spPr>
        <p:txBody>
          <a:bodyPr wrap="square" rtlCol="0" anchor="ctr"/>
          <a:lstStyle/>
          <a:p>
            <a:pPr algn="r" indent="0" marL="0">
              <a:buNone/>
            </a:pPr>
            <a:r>
              <a:rPr lang="en-US" sz="800" b="1" dirty="0">
                <a:solidFill>
                  <a:srgbClr val="3D2B1F"/>
                </a:solidFill>
              </a:rPr>
              <a:t>Slide 19 of 20 | Nursyafiqah Zulaikha</a:t>
            </a:r>
            <a:endParaRPr lang="en-US" sz="800" dirty="0"/>
          </a:p>
        </p:txBody>
      </p:sp>
      <p:sp>
        <p:nvSpPr>
          <p:cNvPr id="12" name="Shape 9"/>
          <p:cNvSpPr/>
          <p:nvPr/>
        </p:nvSpPr>
        <p:spPr>
          <a:xfrm>
            <a:off x="731520" y="1463040"/>
            <a:ext cx="5212080" cy="4663440"/>
          </a:xfrm>
          <a:prstGeom prst="roundRect">
            <a:avLst>
              <a:gd name="adj" fmla="val 2353"/>
            </a:avLst>
          </a:prstGeom>
          <a:solidFill>
            <a:srgbClr val="FFFFFF"/>
          </a:solidFill>
          <a:ln w="15240">
            <a:solidFill>
              <a:srgbClr val="E8DFD5"/>
            </a:solidFill>
            <a:prstDash val="solid"/>
          </a:ln>
        </p:spPr>
      </p:sp>
      <p:sp>
        <p:nvSpPr>
          <p:cNvPr id="13" name="Text 10"/>
          <p:cNvSpPr/>
          <p:nvPr/>
        </p:nvSpPr>
        <p:spPr>
          <a:xfrm>
            <a:off x="1005840" y="1645920"/>
            <a:ext cx="4663440" cy="274320"/>
          </a:xfrm>
          <a:prstGeom prst="rect">
            <a:avLst/>
          </a:prstGeom>
          <a:noFill/>
          <a:ln/>
        </p:spPr>
        <p:txBody>
          <a:bodyPr wrap="square" rtlCol="0" anchor="ctr"/>
          <a:lstStyle/>
          <a:p>
            <a:pPr indent="0" marL="0">
              <a:buNone/>
            </a:pPr>
            <a:r>
              <a:rPr lang="en-US" sz="1000" b="1" dirty="0">
                <a:solidFill>
                  <a:srgbClr val="8B5E3C"/>
                </a:solidFill>
              </a:rPr>
              <a:t>CURRENT PROJECT LIMITATIONS</a:t>
            </a:r>
            <a:endParaRPr lang="en-US" sz="1000" dirty="0"/>
          </a:p>
        </p:txBody>
      </p:sp>
      <p:sp>
        <p:nvSpPr>
          <p:cNvPr id="14" name="Text 11"/>
          <p:cNvSpPr/>
          <p:nvPr/>
        </p:nvSpPr>
        <p:spPr>
          <a:xfrm>
            <a:off x="1005840" y="2011680"/>
            <a:ext cx="4663440" cy="228600"/>
          </a:xfrm>
          <a:prstGeom prst="rect">
            <a:avLst/>
          </a:prstGeom>
          <a:noFill/>
          <a:ln/>
        </p:spPr>
        <p:txBody>
          <a:bodyPr wrap="square" rtlCol="0" anchor="ctr"/>
          <a:lstStyle/>
          <a:p>
            <a:pPr indent="0" marL="0">
              <a:buNone/>
            </a:pPr>
            <a:r>
              <a:rPr lang="en-US" sz="1000" b="1" dirty="0">
                <a:solidFill>
                  <a:srgbClr val="5C3D28"/>
                </a:solidFill>
                <a:latin typeface="Arial" pitchFamily="34" charset="0"/>
                <a:ea typeface="Arial" pitchFamily="34" charset="-122"/>
                <a:cs typeface="Arial" pitchFamily="34" charset="-120"/>
              </a:rPr>
              <a:t>⚠️ Cloud Connectivity Dependency</a:t>
            </a:r>
            <a:endParaRPr lang="en-US" sz="1000" dirty="0"/>
          </a:p>
        </p:txBody>
      </p:sp>
      <p:sp>
        <p:nvSpPr>
          <p:cNvPr id="15" name="Text 12"/>
          <p:cNvSpPr/>
          <p:nvPr/>
        </p:nvSpPr>
        <p:spPr>
          <a:xfrm>
            <a:off x="1234440" y="2240280"/>
            <a:ext cx="4434840" cy="50292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The system requires active internet connectivity. Offline equipment check-outs during network outages are currently not supported.</a:t>
            </a:r>
            <a:endParaRPr lang="en-US" sz="850" dirty="0"/>
          </a:p>
        </p:txBody>
      </p:sp>
      <p:sp>
        <p:nvSpPr>
          <p:cNvPr id="16" name="Text 13"/>
          <p:cNvSpPr/>
          <p:nvPr/>
        </p:nvSpPr>
        <p:spPr>
          <a:xfrm>
            <a:off x="1005840" y="2788920"/>
            <a:ext cx="4663440" cy="228600"/>
          </a:xfrm>
          <a:prstGeom prst="rect">
            <a:avLst/>
          </a:prstGeom>
          <a:noFill/>
          <a:ln/>
        </p:spPr>
        <p:txBody>
          <a:bodyPr wrap="square" rtlCol="0" anchor="ctr"/>
          <a:lstStyle/>
          <a:p>
            <a:pPr indent="0" marL="0">
              <a:buNone/>
            </a:pPr>
            <a:r>
              <a:rPr lang="en-US" sz="1000" b="1" dirty="0">
                <a:solidFill>
                  <a:srgbClr val="5C3D28"/>
                </a:solidFill>
                <a:latin typeface="Arial" pitchFamily="34" charset="0"/>
                <a:ea typeface="Arial" pitchFamily="34" charset="-122"/>
                <a:cs typeface="Arial" pitchFamily="34" charset="-120"/>
              </a:rPr>
              <a:t>⚠️ Manual Physical Equipment Handover</a:t>
            </a:r>
            <a:endParaRPr lang="en-US" sz="1000" dirty="0"/>
          </a:p>
        </p:txBody>
      </p:sp>
      <p:sp>
        <p:nvSpPr>
          <p:cNvPr id="17" name="Text 14"/>
          <p:cNvSpPr/>
          <p:nvPr/>
        </p:nvSpPr>
        <p:spPr>
          <a:xfrm>
            <a:off x="1234440" y="3017520"/>
            <a:ext cx="4434840" cy="50292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While booking and damage assessment are digitized, the physical transfer of equipment still requires physical presence at the store.</a:t>
            </a:r>
            <a:endParaRPr lang="en-US" sz="850" dirty="0"/>
          </a:p>
        </p:txBody>
      </p:sp>
      <p:sp>
        <p:nvSpPr>
          <p:cNvPr id="18" name="Text 15"/>
          <p:cNvSpPr/>
          <p:nvPr/>
        </p:nvSpPr>
        <p:spPr>
          <a:xfrm>
            <a:off x="1005840" y="3566160"/>
            <a:ext cx="4663440" cy="228600"/>
          </a:xfrm>
          <a:prstGeom prst="rect">
            <a:avLst/>
          </a:prstGeom>
          <a:noFill/>
          <a:ln/>
        </p:spPr>
        <p:txBody>
          <a:bodyPr wrap="square" rtlCol="0" anchor="ctr"/>
          <a:lstStyle/>
          <a:p>
            <a:pPr indent="0" marL="0">
              <a:buNone/>
            </a:pPr>
            <a:r>
              <a:rPr lang="en-US" sz="1000" b="1" dirty="0">
                <a:solidFill>
                  <a:srgbClr val="5C3D28"/>
                </a:solidFill>
                <a:latin typeface="Arial" pitchFamily="34" charset="0"/>
                <a:ea typeface="Arial" pitchFamily="34" charset="-122"/>
                <a:cs typeface="Arial" pitchFamily="34" charset="-120"/>
              </a:rPr>
              <a:t>⚠️ Shared Cloud Hosting Constraints</a:t>
            </a:r>
            <a:endParaRPr lang="en-US" sz="1000" dirty="0"/>
          </a:p>
        </p:txBody>
      </p:sp>
      <p:sp>
        <p:nvSpPr>
          <p:cNvPr id="19" name="Text 16"/>
          <p:cNvSpPr/>
          <p:nvPr/>
        </p:nvSpPr>
        <p:spPr>
          <a:xfrm>
            <a:off x="1234440" y="3794760"/>
            <a:ext cx="4434840" cy="50292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Running on InfinityFree shared tier imposes standard shared CPU limits and requires keep-alive maintenance every 30 days.</a:t>
            </a:r>
            <a:endParaRPr lang="en-US" sz="850" dirty="0"/>
          </a:p>
        </p:txBody>
      </p:sp>
      <p:sp>
        <p:nvSpPr>
          <p:cNvPr id="20" name="Shape 17"/>
          <p:cNvSpPr/>
          <p:nvPr/>
        </p:nvSpPr>
        <p:spPr>
          <a:xfrm>
            <a:off x="6245352" y="1463040"/>
            <a:ext cx="5212080" cy="4663440"/>
          </a:xfrm>
          <a:prstGeom prst="roundRect">
            <a:avLst>
              <a:gd name="adj" fmla="val 2353"/>
            </a:avLst>
          </a:prstGeom>
          <a:solidFill>
            <a:srgbClr val="FFFFFF"/>
          </a:solidFill>
          <a:ln w="15240">
            <a:solidFill>
              <a:srgbClr val="E8DFD5"/>
            </a:solidFill>
            <a:prstDash val="solid"/>
          </a:ln>
        </p:spPr>
      </p:sp>
      <p:sp>
        <p:nvSpPr>
          <p:cNvPr id="21" name="Text 18"/>
          <p:cNvSpPr/>
          <p:nvPr/>
        </p:nvSpPr>
        <p:spPr>
          <a:xfrm>
            <a:off x="6519672" y="1645920"/>
            <a:ext cx="4663440" cy="274320"/>
          </a:xfrm>
          <a:prstGeom prst="rect">
            <a:avLst/>
          </a:prstGeom>
          <a:noFill/>
          <a:ln/>
        </p:spPr>
        <p:txBody>
          <a:bodyPr wrap="square" rtlCol="0" anchor="ctr"/>
          <a:lstStyle/>
          <a:p>
            <a:pPr indent="0" marL="0">
              <a:buNone/>
            </a:pPr>
            <a:r>
              <a:rPr lang="en-US" sz="1000" b="1" dirty="0">
                <a:solidFill>
                  <a:srgbClr val="5C3D28"/>
                </a:solidFill>
              </a:rPr>
              <a:t>PHASE 2 ROADMAP &amp; ENHANCEMENTS</a:t>
            </a:r>
            <a:endParaRPr lang="en-US" sz="1000" dirty="0"/>
          </a:p>
        </p:txBody>
      </p:sp>
      <p:sp>
        <p:nvSpPr>
          <p:cNvPr id="22" name="Text 19"/>
          <p:cNvSpPr/>
          <p:nvPr/>
        </p:nvSpPr>
        <p:spPr>
          <a:xfrm>
            <a:off x="6519672" y="2011680"/>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 1. IoT RFID &amp; QR / Barcode Scanner</a:t>
            </a:r>
            <a:endParaRPr lang="en-US" sz="950" dirty="0"/>
          </a:p>
        </p:txBody>
      </p:sp>
      <p:sp>
        <p:nvSpPr>
          <p:cNvPr id="23" name="Text 20"/>
          <p:cNvSpPr/>
          <p:nvPr/>
        </p:nvSpPr>
        <p:spPr>
          <a:xfrm>
            <a:off x="6720840" y="2231136"/>
            <a:ext cx="4462272" cy="384048"/>
          </a:xfrm>
          <a:prstGeom prst="rect">
            <a:avLst/>
          </a:prstGeom>
          <a:noFill/>
          <a:ln/>
        </p:spPr>
        <p:txBody>
          <a:bodyPr wrap="square" rtlCol="0" anchor="ctr"/>
          <a:lstStyle/>
          <a:p>
            <a:pPr indent="0" marL="0">
              <a:buNone/>
            </a:pPr>
            <a:r>
              <a:rPr lang="en-US" sz="820" dirty="0">
                <a:solidFill>
                  <a:srgbClr val="2B2D42"/>
                </a:solidFill>
                <a:latin typeface="Calibri" pitchFamily="34" charset="0"/>
                <a:ea typeface="Calibri" pitchFamily="34" charset="-122"/>
                <a:cs typeface="Calibri" pitchFamily="34" charset="-120"/>
              </a:rPr>
              <a:t>Instant check-in/check-out via barcode stickers on equipment scanned using smartphone cameras or handheld RFID guns.</a:t>
            </a:r>
            <a:endParaRPr lang="en-US" sz="820" dirty="0"/>
          </a:p>
        </p:txBody>
      </p:sp>
      <p:sp>
        <p:nvSpPr>
          <p:cNvPr id="24" name="Text 21"/>
          <p:cNvSpPr/>
          <p:nvPr/>
        </p:nvSpPr>
        <p:spPr>
          <a:xfrm>
            <a:off x="6519672" y="2633472"/>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 2. WhatsApp &amp; Telegram Bot Notifications</a:t>
            </a:r>
            <a:endParaRPr lang="en-US" sz="950" dirty="0"/>
          </a:p>
        </p:txBody>
      </p:sp>
      <p:sp>
        <p:nvSpPr>
          <p:cNvPr id="25" name="Text 22"/>
          <p:cNvSpPr/>
          <p:nvPr/>
        </p:nvSpPr>
        <p:spPr>
          <a:xfrm>
            <a:off x="6720840" y="2852928"/>
            <a:ext cx="4462272" cy="384048"/>
          </a:xfrm>
          <a:prstGeom prst="rect">
            <a:avLst/>
          </a:prstGeom>
          <a:noFill/>
          <a:ln/>
        </p:spPr>
        <p:txBody>
          <a:bodyPr wrap="square" rtlCol="0" anchor="ctr"/>
          <a:lstStyle/>
          <a:p>
            <a:pPr indent="0" marL="0">
              <a:buNone/>
            </a:pPr>
            <a:r>
              <a:rPr lang="en-US" sz="820" dirty="0">
                <a:solidFill>
                  <a:srgbClr val="2B2D42"/>
                </a:solidFill>
                <a:latin typeface="Calibri" pitchFamily="34" charset="0"/>
                <a:ea typeface="Calibri" pitchFamily="34" charset="-122"/>
                <a:cs typeface="Calibri" pitchFamily="34" charset="-120"/>
              </a:rPr>
              <a:t>Automated push alerts sent directly to student phones when bookings are approved, due for return, or overdue.</a:t>
            </a:r>
            <a:endParaRPr lang="en-US" sz="820" dirty="0"/>
          </a:p>
        </p:txBody>
      </p:sp>
      <p:sp>
        <p:nvSpPr>
          <p:cNvPr id="26" name="Text 23"/>
          <p:cNvSpPr/>
          <p:nvPr/>
        </p:nvSpPr>
        <p:spPr>
          <a:xfrm>
            <a:off x="6519672" y="3255264"/>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 3. Online Payment Gateway (FPX / DuitNow)</a:t>
            </a:r>
            <a:endParaRPr lang="en-US" sz="950" dirty="0"/>
          </a:p>
        </p:txBody>
      </p:sp>
      <p:sp>
        <p:nvSpPr>
          <p:cNvPr id="27" name="Text 24"/>
          <p:cNvSpPr/>
          <p:nvPr/>
        </p:nvSpPr>
        <p:spPr>
          <a:xfrm>
            <a:off x="6720840" y="3474720"/>
            <a:ext cx="4462272" cy="384048"/>
          </a:xfrm>
          <a:prstGeom prst="rect">
            <a:avLst/>
          </a:prstGeom>
          <a:noFill/>
          <a:ln/>
        </p:spPr>
        <p:txBody>
          <a:bodyPr wrap="square" rtlCol="0" anchor="ctr"/>
          <a:lstStyle/>
          <a:p>
            <a:pPr indent="0" marL="0">
              <a:buNone/>
            </a:pPr>
            <a:r>
              <a:rPr lang="en-US" sz="820" dirty="0">
                <a:solidFill>
                  <a:srgbClr val="2B2D42"/>
                </a:solidFill>
                <a:latin typeface="Calibri" pitchFamily="34" charset="0"/>
                <a:ea typeface="Calibri" pitchFamily="34" charset="-122"/>
                <a:cs typeface="Calibri" pitchFamily="34" charset="-120"/>
              </a:rPr>
              <a:t>Seamless digital settlement of damage fines and security deposits through instant bank transfer.</a:t>
            </a:r>
            <a:endParaRPr lang="en-US" sz="820" dirty="0"/>
          </a:p>
        </p:txBody>
      </p:sp>
      <p:sp>
        <p:nvSpPr>
          <p:cNvPr id="28" name="Text 25"/>
          <p:cNvSpPr/>
          <p:nvPr/>
        </p:nvSpPr>
        <p:spPr>
          <a:xfrm>
            <a:off x="6519672" y="3877056"/>
            <a:ext cx="4663440" cy="228600"/>
          </a:xfrm>
          <a:prstGeom prst="rect">
            <a:avLst/>
          </a:prstGeom>
          <a:noFill/>
          <a:ln/>
        </p:spPr>
        <p:txBody>
          <a:bodyPr wrap="square" rtlCol="0" anchor="ctr"/>
          <a:lstStyle/>
          <a:p>
            <a:pPr indent="0" marL="0">
              <a:buNone/>
            </a:pPr>
            <a:r>
              <a:rPr lang="en-US" sz="950" b="1" dirty="0">
                <a:solidFill>
                  <a:srgbClr val="8B5E3C"/>
                </a:solidFill>
                <a:latin typeface="Arial" pitchFamily="34" charset="0"/>
                <a:ea typeface="Arial" pitchFamily="34" charset="-122"/>
                <a:cs typeface="Arial" pitchFamily="34" charset="-120"/>
              </a:rPr>
              <a:t>🚀 4. AI Demand Forecasting &amp; Analytics</a:t>
            </a:r>
            <a:endParaRPr lang="en-US" sz="950" dirty="0"/>
          </a:p>
        </p:txBody>
      </p:sp>
      <p:sp>
        <p:nvSpPr>
          <p:cNvPr id="29" name="Text 26"/>
          <p:cNvSpPr/>
          <p:nvPr/>
        </p:nvSpPr>
        <p:spPr>
          <a:xfrm>
            <a:off x="6720840" y="4096512"/>
            <a:ext cx="4462272" cy="384048"/>
          </a:xfrm>
          <a:prstGeom prst="rect">
            <a:avLst/>
          </a:prstGeom>
          <a:noFill/>
          <a:ln/>
        </p:spPr>
        <p:txBody>
          <a:bodyPr wrap="square" rtlCol="0" anchor="ctr"/>
          <a:lstStyle/>
          <a:p>
            <a:pPr indent="0" marL="0">
              <a:buNone/>
            </a:pPr>
            <a:r>
              <a:rPr lang="en-US" sz="820" dirty="0">
                <a:solidFill>
                  <a:srgbClr val="2B2D42"/>
                </a:solidFill>
                <a:latin typeface="Calibri" pitchFamily="34" charset="0"/>
                <a:ea typeface="Calibri" pitchFamily="34" charset="-122"/>
                <a:cs typeface="Calibri" pitchFamily="34" charset="-120"/>
              </a:rPr>
              <a:t>Predictive machine learning algorithms forecasting peak equipment demand based on UPTM semester event cycles.</a:t>
            </a:r>
            <a:endParaRPr lang="en-US" sz="8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8B5E3C"/>
          </a:solidFill>
          <a:ln w="12700">
            <a:solidFill>
              <a:srgbClr val="8B5E3C"/>
            </a:solidFill>
            <a:prstDash val="solid"/>
          </a:ln>
        </p:spPr>
      </p:sp>
      <p:pic>
        <p:nvPicPr>
          <p:cNvPr id="3" name="Image 0" descr="C:\Users\User\.gemini\antigravity\scratch\smart_event_equipment\documentation\images\uptm_logo.jpg">    </p:cNvPr>
          <p:cNvPicPr>
            <a:picLocks noChangeAspect="1"/>
          </p:cNvPicPr>
          <p:nvPr/>
        </p:nvPicPr>
        <p:blipFill>
          <a:blip r:embed="rId1"/>
          <a:srcRect l="0" r="0" t="0" b="0"/>
          <a:stretch/>
        </p:blipFill>
        <p:spPr>
          <a:xfrm>
            <a:off x="731520" y="365760"/>
            <a:ext cx="1280160" cy="822960"/>
          </a:xfrm>
          <a:prstGeom prst="rect">
            <a:avLst/>
          </a:prstGeom>
        </p:spPr>
      </p:pic>
      <p:sp>
        <p:nvSpPr>
          <p:cNvPr id="4" name="Text 1"/>
          <p:cNvSpPr/>
          <p:nvPr/>
        </p:nvSpPr>
        <p:spPr>
          <a:xfrm>
            <a:off x="2194560" y="457200"/>
            <a:ext cx="9144000" cy="274320"/>
          </a:xfrm>
          <a:prstGeom prst="rect">
            <a:avLst/>
          </a:prstGeom>
          <a:noFill/>
          <a:ln/>
        </p:spPr>
        <p:txBody>
          <a:bodyPr wrap="square" rtlCol="0" anchor="ctr"/>
          <a:lstStyle/>
          <a:p>
            <a:pPr indent="0" marL="0">
              <a:buNone/>
            </a:pPr>
            <a:r>
              <a:rPr lang="en-US" sz="1100" b="1" dirty="0">
                <a:solidFill>
                  <a:srgbClr val="5C3D28"/>
                </a:solidFill>
                <a:latin typeface="Arial" pitchFamily="34" charset="0"/>
                <a:ea typeface="Arial" pitchFamily="34" charset="-122"/>
                <a:cs typeface="Arial" pitchFamily="34" charset="-120"/>
              </a:rPr>
              <a:t>UNIVERSITI POLY-TECH MALAYSIA (UPTM) | FACULTY OF COMPUTING &amp; MULTIMEDIA</a:t>
            </a:r>
            <a:endParaRPr lang="en-US" sz="1100" dirty="0"/>
          </a:p>
        </p:txBody>
      </p:sp>
      <p:sp>
        <p:nvSpPr>
          <p:cNvPr id="5" name="Text 2"/>
          <p:cNvSpPr/>
          <p:nvPr/>
        </p:nvSpPr>
        <p:spPr>
          <a:xfrm>
            <a:off x="2194560" y="713232"/>
            <a:ext cx="9144000" cy="228600"/>
          </a:xfrm>
          <a:prstGeom prst="rect">
            <a:avLst/>
          </a:prstGeom>
          <a:noFill/>
          <a:ln/>
        </p:spPr>
        <p:txBody>
          <a:bodyPr wrap="square" rtlCol="0" anchor="ctr"/>
          <a:lstStyle/>
          <a:p>
            <a:pPr indent="0" marL="0">
              <a:buNone/>
            </a:pPr>
            <a:r>
              <a:rPr lang="en-US" sz="900" b="1" dirty="0">
                <a:solidFill>
                  <a:srgbClr val="8B5E3C"/>
                </a:solidFill>
              </a:rPr>
              <a:t>DIPLOMA IN COMPUTER SCIENCE (CC101) — FINAL YEAR PROJECT (FYP3024)</a:t>
            </a:r>
            <a:endParaRPr lang="en-US" sz="900" dirty="0"/>
          </a:p>
        </p:txBody>
      </p:sp>
      <p:sp>
        <p:nvSpPr>
          <p:cNvPr id="6" name="Shape 3"/>
          <p:cNvSpPr/>
          <p:nvPr/>
        </p:nvSpPr>
        <p:spPr>
          <a:xfrm>
            <a:off x="731520" y="1325880"/>
            <a:ext cx="10725912" cy="3108960"/>
          </a:xfrm>
          <a:prstGeom prst="roundRect">
            <a:avLst>
              <a:gd name="adj" fmla="val 4412"/>
            </a:avLst>
          </a:prstGeom>
          <a:solidFill>
            <a:srgbClr val="3D2B1F"/>
          </a:solidFill>
          <a:ln w="12700">
            <a:solidFill>
              <a:srgbClr val="3D2B1F"/>
            </a:solidFill>
            <a:prstDash val="solid"/>
          </a:ln>
        </p:spPr>
      </p:sp>
      <p:sp>
        <p:nvSpPr>
          <p:cNvPr id="7" name="Text 4"/>
          <p:cNvSpPr/>
          <p:nvPr/>
        </p:nvSpPr>
        <p:spPr>
          <a:xfrm>
            <a:off x="1097280" y="1554480"/>
            <a:ext cx="9601200" cy="274320"/>
          </a:xfrm>
          <a:prstGeom prst="rect">
            <a:avLst/>
          </a:prstGeom>
          <a:noFill/>
          <a:ln/>
        </p:spPr>
        <p:txBody>
          <a:bodyPr wrap="square" rtlCol="0" anchor="ctr"/>
          <a:lstStyle/>
          <a:p>
            <a:pPr indent="0" marL="0">
              <a:buNone/>
            </a:pPr>
            <a:r>
              <a:rPr lang="en-US" sz="1000" b="1" dirty="0">
                <a:solidFill>
                  <a:srgbClr val="FAEDCD"/>
                </a:solidFill>
              </a:rPr>
              <a:t>PROJECT CONCLUSION &amp; SUMMARY</a:t>
            </a:r>
            <a:endParaRPr lang="en-US" sz="1000" dirty="0"/>
          </a:p>
        </p:txBody>
      </p:sp>
      <p:sp>
        <p:nvSpPr>
          <p:cNvPr id="8" name="Text 5"/>
          <p:cNvSpPr/>
          <p:nvPr/>
        </p:nvSpPr>
        <p:spPr>
          <a:xfrm>
            <a:off x="1097280" y="1874520"/>
            <a:ext cx="96012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PinjamGeng Successfully Achieved All Objectives!</a:t>
            </a:r>
            <a:endParaRPr lang="en-US" sz="2200" dirty="0"/>
          </a:p>
        </p:txBody>
      </p:sp>
      <p:sp>
        <p:nvSpPr>
          <p:cNvPr id="9" name="Text 6"/>
          <p:cNvSpPr/>
          <p:nvPr/>
        </p:nvSpPr>
        <p:spPr>
          <a:xfrm>
            <a:off x="1097280" y="2377440"/>
            <a:ext cx="9601200" cy="1005840"/>
          </a:xfrm>
          <a:prstGeom prst="rect">
            <a:avLst/>
          </a:prstGeom>
          <a:noFill/>
          <a:ln/>
        </p:spPr>
        <p:txBody>
          <a:bodyPr wrap="square" rtlCol="0" anchor="ctr"/>
          <a:lstStyle/>
          <a:p>
            <a:pPr indent="0" marL="0">
              <a:buNone/>
            </a:pPr>
            <a:r>
              <a:rPr lang="en-US" sz="1050" dirty="0">
                <a:solidFill>
                  <a:srgbClr val="FAEDCD"/>
                </a:solidFill>
                <a:latin typeface="Calibri" pitchFamily="34" charset="0"/>
                <a:ea typeface="Calibri" pitchFamily="34" charset="-122"/>
                <a:cs typeface="Calibri" pitchFamily="34" charset="-120"/>
              </a:rPr>
              <a:t>✓ Objective 1: Responsive 24/7 web-based booking portal successfully developed.</a:t>
            </a:r>
            <a:endParaRPr lang="en-US" sz="1050" dirty="0"/>
          </a:p>
          <a:p>
            <a:pPr indent="0" marL="0">
              <a:buNone/>
            </a:pPr>
            <a:r>
              <a:rPr lang="en-US" sz="1050" dirty="0">
                <a:solidFill>
                  <a:srgbClr val="FAEDCD"/>
                </a:solidFill>
                <a:latin typeface="Calibri" pitchFamily="34" charset="0"/>
                <a:ea typeface="Calibri" pitchFamily="34" charset="-122"/>
                <a:cs typeface="Calibri" pitchFamily="34" charset="-120"/>
              </a:rPr>
              <a:t>✓ Objective 2: Intelligent conflict detection and event package bundling implemented.</a:t>
            </a:r>
            <a:endParaRPr lang="en-US" sz="1050" dirty="0"/>
          </a:p>
          <a:p>
            <a:pPr indent="0" marL="0">
              <a:buNone/>
            </a:pPr>
            <a:r>
              <a:rPr lang="en-US" sz="1050" dirty="0">
                <a:solidFill>
                  <a:srgbClr val="FAEDCD"/>
                </a:solidFill>
                <a:latin typeface="Calibri" pitchFamily="34" charset="0"/>
                <a:ea typeface="Calibri" pitchFamily="34" charset="-122"/>
                <a:cs typeface="Calibri" pitchFamily="34" charset="-120"/>
              </a:rPr>
              <a:t>✓ Objective 3: 4-tier damage inspection, fine calculation, and digital audit trail established.</a:t>
            </a:r>
            <a:endParaRPr lang="en-US" sz="1050" dirty="0"/>
          </a:p>
          <a:p>
            <a:pPr indent="0" marL="0">
              <a:buNone/>
            </a:pPr>
            <a:r>
              <a:rPr lang="en-US" sz="1050" dirty="0">
                <a:solidFill>
                  <a:srgbClr val="FAEDCD"/>
                </a:solidFill>
                <a:latin typeface="Calibri" pitchFamily="34" charset="0"/>
                <a:ea typeface="Calibri" pitchFamily="34" charset="-122"/>
                <a:cs typeface="Calibri" pitchFamily="34" charset="-120"/>
              </a:rPr>
              <a:t>✓ Objective 4: 100% acceptance confirmed through rigorous 30-respondent UAT.</a:t>
            </a:r>
            <a:endParaRPr lang="en-US" sz="1050" dirty="0"/>
          </a:p>
        </p:txBody>
      </p:sp>
      <p:sp>
        <p:nvSpPr>
          <p:cNvPr id="10" name="Text 7"/>
          <p:cNvSpPr/>
          <p:nvPr/>
        </p:nvSpPr>
        <p:spPr>
          <a:xfrm>
            <a:off x="1097280" y="3520440"/>
            <a:ext cx="9601200"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Transforming campus equipment logistics into a paperless, transparent, and accountability-driven digital ecosystem.</a:t>
            </a:r>
            <a:endParaRPr lang="en-US" sz="1100" dirty="0"/>
          </a:p>
        </p:txBody>
      </p:sp>
      <p:sp>
        <p:nvSpPr>
          <p:cNvPr id="11" name="Shape 8"/>
          <p:cNvSpPr/>
          <p:nvPr/>
        </p:nvSpPr>
        <p:spPr>
          <a:xfrm>
            <a:off x="731520" y="4572000"/>
            <a:ext cx="5212080" cy="1645920"/>
          </a:xfrm>
          <a:prstGeom prst="roundRect">
            <a:avLst>
              <a:gd name="adj" fmla="val 6667"/>
            </a:avLst>
          </a:prstGeom>
          <a:solidFill>
            <a:srgbClr val="FFFFFF"/>
          </a:solidFill>
          <a:ln w="15240">
            <a:solidFill>
              <a:srgbClr val="E8DFD5"/>
            </a:solidFill>
            <a:prstDash val="solid"/>
          </a:ln>
        </p:spPr>
      </p:sp>
      <p:sp>
        <p:nvSpPr>
          <p:cNvPr id="12" name="Text 9"/>
          <p:cNvSpPr/>
          <p:nvPr/>
        </p:nvSpPr>
        <p:spPr>
          <a:xfrm>
            <a:off x="1005840" y="4709160"/>
            <a:ext cx="4663440" cy="228600"/>
          </a:xfrm>
          <a:prstGeom prst="rect">
            <a:avLst/>
          </a:prstGeom>
          <a:noFill/>
          <a:ln/>
        </p:spPr>
        <p:txBody>
          <a:bodyPr wrap="square" rtlCol="0" anchor="ctr"/>
          <a:lstStyle/>
          <a:p>
            <a:pPr indent="0" marL="0">
              <a:buNone/>
            </a:pPr>
            <a:r>
              <a:rPr lang="en-US" sz="900" b="1" dirty="0">
                <a:solidFill>
                  <a:srgbClr val="8B5E3C"/>
                </a:solidFill>
              </a:rPr>
              <a:t>SESI SOAL JAWAB (Q&amp;A)</a:t>
            </a:r>
            <a:endParaRPr lang="en-US" sz="900" dirty="0"/>
          </a:p>
        </p:txBody>
      </p:sp>
      <p:sp>
        <p:nvSpPr>
          <p:cNvPr id="13" name="Text 10"/>
          <p:cNvSpPr/>
          <p:nvPr/>
        </p:nvSpPr>
        <p:spPr>
          <a:xfrm>
            <a:off x="1005840" y="4937760"/>
            <a:ext cx="4663440" cy="365760"/>
          </a:xfrm>
          <a:prstGeom prst="rect">
            <a:avLst/>
          </a:prstGeom>
          <a:noFill/>
          <a:ln/>
        </p:spPr>
        <p:txBody>
          <a:bodyPr wrap="square" rtlCol="0" anchor="ctr"/>
          <a:lstStyle/>
          <a:p>
            <a:pPr indent="0" marL="0">
              <a:buNone/>
            </a:pPr>
            <a:r>
              <a:rPr lang="en-US" sz="1600" b="1" dirty="0">
                <a:solidFill>
                  <a:srgbClr val="5C3D28"/>
                </a:solidFill>
                <a:latin typeface="Arial" pitchFamily="34" charset="0"/>
                <a:ea typeface="Arial" pitchFamily="34" charset="-122"/>
                <a:cs typeface="Arial" pitchFamily="34" charset="-120"/>
              </a:rPr>
              <a:t>Thank You / Terima Kasih!</a:t>
            </a:r>
            <a:endParaRPr lang="en-US" sz="1600" dirty="0"/>
          </a:p>
        </p:txBody>
      </p:sp>
      <p:sp>
        <p:nvSpPr>
          <p:cNvPr id="14" name="Text 11"/>
          <p:cNvSpPr/>
          <p:nvPr/>
        </p:nvSpPr>
        <p:spPr>
          <a:xfrm>
            <a:off x="1005840" y="5349240"/>
            <a:ext cx="4663440" cy="685800"/>
          </a:xfrm>
          <a:prstGeom prst="rect">
            <a:avLst/>
          </a:prstGeom>
          <a:noFill/>
          <a:ln/>
        </p:spPr>
        <p:txBody>
          <a:bodyPr wrap="square" rtlCol="0" anchor="ctr"/>
          <a:lstStyle/>
          <a:p>
            <a:pPr indent="0" marL="0">
              <a:buNone/>
            </a:pPr>
            <a:r>
              <a:rPr lang="en-US" sz="850" dirty="0">
                <a:solidFill>
                  <a:srgbClr val="2B2D42"/>
                </a:solidFill>
                <a:latin typeface="Calibri" pitchFamily="34" charset="0"/>
                <a:ea typeface="Calibri" pitchFamily="34" charset="-122"/>
                <a:cs typeface="Calibri" pitchFamily="34" charset="-120"/>
              </a:rPr>
              <a:t>Special gratitude to my project supervisor, Madam Jihadah Binti Ahmad, and the FCOM evaluation committee for their invaluable guidance.</a:t>
            </a:r>
            <a:endParaRPr lang="en-US" sz="850" dirty="0"/>
          </a:p>
        </p:txBody>
      </p:sp>
      <p:sp>
        <p:nvSpPr>
          <p:cNvPr id="15" name="Shape 12"/>
          <p:cNvSpPr/>
          <p:nvPr/>
        </p:nvSpPr>
        <p:spPr>
          <a:xfrm>
            <a:off x="6245352" y="4572000"/>
            <a:ext cx="5212080" cy="1645920"/>
          </a:xfrm>
          <a:prstGeom prst="roundRect">
            <a:avLst>
              <a:gd name="adj" fmla="val 6667"/>
            </a:avLst>
          </a:prstGeom>
          <a:solidFill>
            <a:srgbClr val="FFFFFF"/>
          </a:solidFill>
          <a:ln w="15240">
            <a:solidFill>
              <a:srgbClr val="E8DFD5"/>
            </a:solidFill>
            <a:prstDash val="solid"/>
          </a:ln>
        </p:spPr>
      </p:sp>
      <p:sp>
        <p:nvSpPr>
          <p:cNvPr id="16" name="Text 13"/>
          <p:cNvSpPr/>
          <p:nvPr/>
        </p:nvSpPr>
        <p:spPr>
          <a:xfrm>
            <a:off x="6519672" y="4709160"/>
            <a:ext cx="4663440" cy="228600"/>
          </a:xfrm>
          <a:prstGeom prst="rect">
            <a:avLst/>
          </a:prstGeom>
          <a:noFill/>
          <a:ln/>
        </p:spPr>
        <p:txBody>
          <a:bodyPr wrap="square" rtlCol="0" anchor="ctr"/>
          <a:lstStyle/>
          <a:p>
            <a:pPr indent="0" marL="0">
              <a:buNone/>
            </a:pPr>
            <a:r>
              <a:rPr lang="en-US" sz="900" b="1" dirty="0">
                <a:solidFill>
                  <a:srgbClr val="8B5E3C"/>
                </a:solidFill>
              </a:rPr>
              <a:t>CANDIDATE INFORMATION &amp; LIVE SYSTEM</a:t>
            </a:r>
            <a:endParaRPr lang="en-US" sz="900" dirty="0"/>
          </a:p>
        </p:txBody>
      </p:sp>
      <p:sp>
        <p:nvSpPr>
          <p:cNvPr id="17" name="Text 14"/>
          <p:cNvSpPr/>
          <p:nvPr/>
        </p:nvSpPr>
        <p:spPr>
          <a:xfrm>
            <a:off x="6519672" y="4937760"/>
            <a:ext cx="4663440" cy="320040"/>
          </a:xfrm>
          <a:prstGeom prst="rect">
            <a:avLst/>
          </a:prstGeom>
          <a:noFill/>
          <a:ln/>
        </p:spPr>
        <p:txBody>
          <a:bodyPr wrap="square" rtlCol="0" anchor="ctr"/>
          <a:lstStyle/>
          <a:p>
            <a:pPr indent="0" marL="0">
              <a:buNone/>
            </a:pPr>
            <a:r>
              <a:rPr lang="en-US" sz="1100" b="1" dirty="0">
                <a:solidFill>
                  <a:srgbClr val="3D2B1F"/>
                </a:solidFill>
                <a:latin typeface="Arial" pitchFamily="34" charset="0"/>
                <a:ea typeface="Arial" pitchFamily="34" charset="-122"/>
                <a:cs typeface="Arial" pitchFamily="34" charset="-120"/>
              </a:rPr>
              <a:t>Nursyafiqah Zulaikha Binti Zilkamal (AM2412018113)</a:t>
            </a:r>
            <a:endParaRPr lang="en-US" sz="1100" dirty="0"/>
          </a:p>
        </p:txBody>
      </p:sp>
      <p:sp>
        <p:nvSpPr>
          <p:cNvPr id="18" name="Text 15"/>
          <p:cNvSpPr/>
          <p:nvPr/>
        </p:nvSpPr>
        <p:spPr>
          <a:xfrm>
            <a:off x="6519672" y="5257800"/>
            <a:ext cx="4663440" cy="457200"/>
          </a:xfrm>
          <a:prstGeom prst="rect">
            <a:avLst/>
          </a:prstGeom>
          <a:noFill/>
          <a:ln/>
        </p:spPr>
        <p:txBody>
          <a:bodyPr wrap="square" rtlCol="0" anchor="ctr"/>
          <a:lstStyle/>
          <a:p>
            <a:pPr indent="0" marL="0">
              <a:buNone/>
            </a:pPr>
            <a:r>
              <a:rPr lang="en-US" sz="900" dirty="0">
                <a:solidFill>
                  <a:srgbClr val="2B2D42"/>
                </a:solidFill>
                <a:latin typeface="Calibri" pitchFamily="34" charset="0"/>
                <a:ea typeface="Calibri" pitchFamily="34" charset="-122"/>
                <a:cs typeface="Calibri" pitchFamily="34" charset="-120"/>
              </a:rPr>
              <a:t>Supervisor: Madam Jihadah Binti Ahmad</a:t>
            </a:r>
            <a:endParaRPr lang="en-US" sz="900" dirty="0"/>
          </a:p>
          <a:p>
            <a:pPr indent="0" marL="0">
              <a:buNone/>
            </a:pPr>
            <a:r>
              <a:rPr lang="en-US" sz="900" dirty="0">
                <a:solidFill>
                  <a:srgbClr val="2B2D42"/>
                </a:solidFill>
                <a:latin typeface="Calibri" pitchFamily="34" charset="0"/>
                <a:ea typeface="Calibri" pitchFamily="34" charset="-122"/>
                <a:cs typeface="Calibri" pitchFamily="34" charset="-120"/>
              </a:rPr>
              <a:t>Live Cloud URL: https://pinjamgeng.infinityfreeapp.com</a:t>
            </a:r>
            <a:endParaRPr lang="en-US" sz="900" dirty="0"/>
          </a:p>
        </p:txBody>
      </p:sp>
      <p:sp>
        <p:nvSpPr>
          <p:cNvPr id="19" name="Text 16"/>
          <p:cNvSpPr/>
          <p:nvPr/>
        </p:nvSpPr>
        <p:spPr>
          <a:xfrm>
            <a:off x="6519672" y="5760720"/>
            <a:ext cx="4663440" cy="320040"/>
          </a:xfrm>
          <a:prstGeom prst="rect">
            <a:avLst/>
          </a:prstGeom>
          <a:noFill/>
          <a:ln/>
        </p:spPr>
        <p:txBody>
          <a:bodyPr wrap="square" rtlCol="0" anchor="ctr"/>
          <a:lstStyle/>
          <a:p>
            <a:pPr indent="0" marL="0">
              <a:buNone/>
            </a:pPr>
            <a:r>
              <a:rPr lang="en-US" sz="850" b="1" dirty="0">
                <a:solidFill>
                  <a:srgbClr val="2E7D32"/>
                </a:solidFill>
                <a:latin typeface="Calibri" pitchFamily="34" charset="0"/>
                <a:ea typeface="Calibri" pitchFamily="34" charset="-122"/>
                <a:cs typeface="Calibri" pitchFamily="34" charset="-120"/>
              </a:rPr>
              <a:t>The floor is now open for questions, comments, and feedback.</a:t>
            </a:r>
            <a:endParaRPr lang="en-US" sz="850" dirty="0"/>
          </a:p>
        </p:txBody>
      </p:sp>
      <p:sp>
        <p:nvSpPr>
          <p:cNvPr id="20" name="Shape 17"/>
          <p:cNvSpPr/>
          <p:nvPr/>
        </p:nvSpPr>
        <p:spPr>
          <a:xfrm>
            <a:off x="731520" y="6355080"/>
            <a:ext cx="10725912" cy="0"/>
          </a:xfrm>
          <a:prstGeom prst="line">
            <a:avLst/>
          </a:prstGeom>
          <a:noFill/>
          <a:ln w="12700">
            <a:solidFill>
              <a:srgbClr val="E8DFD5"/>
            </a:solidFill>
            <a:prstDash val="solid"/>
          </a:ln>
        </p:spPr>
      </p:sp>
      <p:sp>
        <p:nvSpPr>
          <p:cNvPr id="21" name="Text 18"/>
          <p:cNvSpPr/>
          <p:nvPr/>
        </p:nvSpPr>
        <p:spPr>
          <a:xfrm>
            <a:off x="731520" y="6419088"/>
            <a:ext cx="10725912" cy="274320"/>
          </a:xfrm>
          <a:prstGeom prst="rect">
            <a:avLst/>
          </a:prstGeom>
          <a:noFill/>
          <a:ln/>
        </p:spPr>
        <p:txBody>
          <a:bodyPr wrap="square" rtlCol="0" anchor="ctr"/>
          <a:lstStyle/>
          <a:p>
            <a:pPr algn="ctr" indent="0" marL="0">
              <a:buNone/>
            </a:pPr>
            <a:r>
              <a:rPr lang="en-US" sz="800" dirty="0">
                <a:solidFill>
                  <a:srgbClr val="6C757D"/>
                </a:solidFill>
              </a:rPr>
              <a:t>Universiti Poly-Tech Malaysia (UPTM) | FCOM — Diploma in Computer Science (CC101) | FYP3024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2026-10-04T17:32:04Z</dcterms:created>
  <dcterms:modified xsi:type="dcterms:W3CDTF">2026-10-04T17:32:04Z</dcterms:modified>
</cp:coreProperties>
</file>