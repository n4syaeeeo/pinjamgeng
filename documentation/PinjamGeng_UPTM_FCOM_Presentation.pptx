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Assalamu'alaikum and a very good day to our respected evaluation committee, examiners, and my supervisor, Madam Jihadah Binti Ahmad.
My name is Nursyafiqah Zulaikha Binti Zilkamal, matric number AM2412018113, from the Diploma in Computer Science program (CC101), Faculty of Computing and Multimedia, Universiti Poly-Tech Malaysia.
Today, I am proud to present my Final Year Project entitled: "PinjamGeng: Smart Event Equipment Booking and Inventory Management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PROJECT BACKGROUND]
To provide context, PinjamGeng was engineered to modernize UPTM's event equipment loan workflow. Student societies frequently organize seminars, cultural events, and workshops requiring microphones, PA systems, and projectors. PinjamGeng provides a centralized 24/7 portal that replaces paper forms and gives students and facility staff transparent, real-time inventory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PROBLEM STATEMENTS]
Our investigation identified two primary operational challenges at UPTM:
First, the current manual or uncentralised booking process makes checking availability difficult and record management inefficient, leading to clashes, missing records, and delays.
Second, users struggle to identify appropriate equipment for specific event types because existing tools focus only on individual items without event-based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PROJECT OBJECTIVES]
In direct response, we formulated two core objectives to be completed within the 12-week development period:
Objective 1: Develop the web-based booking and inventory management platform for live availability, request tracking, and admin approvals.
Objective 2: Implement the event-based package feature with predefined bundles for at least 4 event types: seminars, workshops, meetings, and photography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LITERATURE REVIEW: EXISTING SYSTEM]
To establish a functional benchmark, we critically evaluated three industry-leading equipment management systems:
First, Cheqroom offers kit bundling and asset tracking, but carries high enterprise SaaS subscription fees and corporate features unsuitable for campus budgets.
Second, Booqable features an intuitive booking wizard, but is designed for commercial rentals requiring invoices, deposits, and credit card payments.
Third, EZOfficeInventory excels in asset maintenance tracking, but suffers from a steep learning curve and data-dense interface for student borrowers.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COMPARISON &amp; RESEARCH GAP]
This comparative matrix illustrates our research gap. While existing tools provide online booking and availability checks, they require expensive commercial subscriptions and lack institutional loan agreements. PinjamGeng bridges this gap by delivering curated event packages, automated conflict detection, and official digital A4 loan slips tailored specifically for UPTM at zero licensing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AGILE METHODOLOGY]
We adopted the Agile Scrum methodology divided into 5 two-week sprints. The iterative cycle—Plan, Design, Develop, Test, Deploy, Review—ensured regular milestone reviews with Madam Jihadah, enabling us to refine the conflict algorithm and user interface dynamically.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UNIT TESTING]
In our quality assurance phase, Unit Testing verified isolated algorithms. All 5 critical functions—including password verification, dynamic stock subtraction, date validation, and automatic maintenance ticket creation upon damaged return—passed 100% with zero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INTEGRATION TESTING]
Integration Testing verified cross-module data integrity between frontend forms, MySQL transaction rollback mechanisms, and role-based access middleware. All tests achieved 100% pass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UAT OVERVIEW]
Following development and deployment, we conducted formal User Acceptance Testing with 30 target users at UPTM. We designed a comprehensive 6-section post-development questionnaire to capture empirical evidence of user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SECTION A]
Section A establishes respondent credibility: 96.7% of evaluators were active student club leaders and event organizers, with 95% having extensive active borrowing experience at UPTM.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SECTION B]
Section B evaluated usability: 79.3% rated system navigation easy or very easy, and 93.4% praised our 2-step booking wizard for simplifying complex equipment requisitions.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13: SECTION C]
Section C confirmed functional accuracy: 89.7% endorsed 1-click Smart Packages, 86.7% confirmed real-time stock counters were accurate, and 89.7% verified that double-booking clashes were completely eliminated.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14: SECTION D]
Section D examined operational efficiency: 86.7% confirmed equipment requisition is significantly faster, 82.8% endorsed printable A4 loan agreements, and 83.3% supported return desk damage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15: SECTION E]
Section E validated overall user satisfaction: Real-Time Stock Counters (70.0%) and Smart Packages (63.3%) emerged as the most valued features. Overall satisfaction reached 90.0% positive/neutral, with 76.7% awarding 4 to 5 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16: SECTION F]
Section F recorded qualitative feedback: 13 respondents submitted written praise for the clean layout and automated stock indicators, while suggesting additional presets for outdoor campus sports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17: CORE INNOVATIONS]
PinjamGeng delivers three core technical innovations: our mathematical conflict detection engine, 1-click event packages, and return condition accountability. The entire platform is deployed live on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18: FUTURE WORKS]
For Phase 2 enhancements, we plan to integrate IoT Barcode/QR scanning for instant check-in, automated WhatsApp push notifications, and FPX payment gateway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19: CONCLUSION]
In conclusion, PinjamGeng successfully fulfills both project objectives. We transformed manual paperwork into a seamless cloud web experience. I express my deepest gratitude to Madam Jihadah Binti Ahmad for her continuous support and guidance throughout this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20: Q&amp;A]
Thank you very much. I now warmly invite our respected examiners and evaluation committee to ask any questions or share their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User\.gemini\antigravity\scratch\smart_event_equipment\documentation\images\brown_cover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457200"/>
            <a:ext cx="2651760" cy="685800"/>
          </a:xfrm>
          <a:prstGeom prst="rect">
            <a:avLst/>
          </a:prstGeom>
        </p:spPr>
      </p:pic>
      <p:sp>
        <p:nvSpPr>
          <p:cNvPr id="4" name="Text 0"/>
          <p:cNvSpPr/>
          <p:nvPr/>
        </p:nvSpPr>
        <p:spPr>
          <a:xfrm>
            <a:off x="914400" y="1645920"/>
            <a:ext cx="10360152" cy="457200"/>
          </a:xfrm>
          <a:prstGeom prst="rect">
            <a:avLst/>
          </a:prstGeom>
          <a:noFill/>
          <a:ln/>
        </p:spPr>
        <p:txBody>
          <a:bodyPr wrap="square"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FYP PRESENTATION</a:t>
            </a:r>
            <a:endParaRPr lang="en-US" sz="2400" dirty="0"/>
          </a:p>
        </p:txBody>
      </p:sp>
      <p:sp>
        <p:nvSpPr>
          <p:cNvPr id="5" name="Text 1"/>
          <p:cNvSpPr/>
          <p:nvPr/>
        </p:nvSpPr>
        <p:spPr>
          <a:xfrm>
            <a:off x="914400" y="2240280"/>
            <a:ext cx="10360152" cy="1005840"/>
          </a:xfrm>
          <a:prstGeom prst="rect">
            <a:avLst/>
          </a:prstGeom>
          <a:noFill/>
          <a:ln/>
        </p:spPr>
        <p:txBody>
          <a:bodyPr wrap="square" rtlCol="0" anchor="ctr"/>
          <a:lstStyle/>
          <a:p>
            <a:pPr algn="ctr" indent="0" marL="0">
              <a:buNone/>
            </a:pPr>
            <a:r>
              <a:rPr lang="en-US" sz="5400" b="1" dirty="0">
                <a:solidFill>
                  <a:srgbClr val="FFFFFF"/>
                </a:solidFill>
                <a:latin typeface="Arial Black" pitchFamily="34" charset="0"/>
                <a:ea typeface="Arial Black" pitchFamily="34" charset="-122"/>
                <a:cs typeface="Arial Black" pitchFamily="34" charset="-120"/>
              </a:rPr>
              <a:t>PINJAMGENG</a:t>
            </a:r>
            <a:endParaRPr lang="en-US" sz="5400" dirty="0"/>
          </a:p>
        </p:txBody>
      </p:sp>
      <p:sp>
        <p:nvSpPr>
          <p:cNvPr id="6" name="Text 2"/>
          <p:cNvSpPr/>
          <p:nvPr/>
        </p:nvSpPr>
        <p:spPr>
          <a:xfrm>
            <a:off x="914400" y="3246120"/>
            <a:ext cx="10360152" cy="365760"/>
          </a:xfrm>
          <a:prstGeom prst="rect">
            <a:avLst/>
          </a:prstGeom>
          <a:noFill/>
          <a:ln/>
        </p:spPr>
        <p:txBody>
          <a:bodyPr wrap="square" rtlCol="0" anchor="ctr"/>
          <a:lstStyle/>
          <a:p>
            <a:pPr algn="ctr" indent="0" marL="0">
              <a:buNone/>
            </a:pPr>
            <a:r>
              <a:rPr lang="en-US" sz="1300" b="1" dirty="0">
                <a:solidFill>
                  <a:srgbClr val="FDF8F3"/>
                </a:solidFill>
                <a:latin typeface="Arial" pitchFamily="34" charset="0"/>
                <a:ea typeface="Arial" pitchFamily="34" charset="-122"/>
                <a:cs typeface="Arial" pitchFamily="34" charset="-120"/>
              </a:rPr>
              <a:t>SMART EVENT EQUIPMENT BOOKING AND INVENTORY MANAGEMENT SYSTEM</a:t>
            </a:r>
            <a:endParaRPr lang="en-US" sz="1300" dirty="0"/>
          </a:p>
        </p:txBody>
      </p:sp>
      <p:sp>
        <p:nvSpPr>
          <p:cNvPr id="7" name="Text 3"/>
          <p:cNvSpPr/>
          <p:nvPr/>
        </p:nvSpPr>
        <p:spPr>
          <a:xfrm>
            <a:off x="914400" y="3794760"/>
            <a:ext cx="10360152" cy="1143000"/>
          </a:xfrm>
          <a:prstGeom prst="rect">
            <a:avLst/>
          </a:prstGeom>
          <a:noFill/>
          <a:ln/>
        </p:spPr>
        <p:txBody>
          <a:bodyPr wrap="square" rtlCol="0" anchor="ctr"/>
          <a:lstStyle/>
          <a:p>
            <a:pPr algn="ctr" indent="0" marL="0">
              <a:lnSpc>
                <a:spcPts val="2600"/>
              </a:lnSpc>
              <a:buNone/>
            </a:pPr>
            <a:r>
              <a:rPr lang="en-US" sz="2000" b="1" dirty="0">
                <a:solidFill>
                  <a:srgbClr val="FFFFFF"/>
                </a:solidFill>
                <a:latin typeface="Arial Black" pitchFamily="34" charset="0"/>
                <a:ea typeface="Arial Black" pitchFamily="34" charset="-122"/>
                <a:cs typeface="Arial Black" pitchFamily="34" charset="-120"/>
              </a:rPr>
              <a:t>NURSYAFIQAH ZULAIKHA</a:t>
            </a:r>
            <a:endParaRPr lang="en-US" sz="2000" dirty="0"/>
          </a:p>
          <a:p>
            <a:pPr algn="ctr" indent="0" marL="0">
              <a:lnSpc>
                <a:spcPts val="2600"/>
              </a:lnSpc>
              <a:buNone/>
            </a:pPr>
            <a:r>
              <a:rPr lang="en-US" sz="2000" b="1" dirty="0">
                <a:solidFill>
                  <a:srgbClr val="FFFFFF"/>
                </a:solidFill>
                <a:latin typeface="Arial Black" pitchFamily="34" charset="0"/>
                <a:ea typeface="Arial Black" pitchFamily="34" charset="-122"/>
                <a:cs typeface="Arial Black" pitchFamily="34" charset="-120"/>
              </a:rPr>
              <a:t>BINTI ZILKAMAL</a:t>
            </a:r>
            <a:endParaRPr lang="en-US" sz="2000" dirty="0"/>
          </a:p>
          <a:p>
            <a:pPr algn="ctr" indent="0" marL="0">
              <a:lnSpc>
                <a:spcPts val="2600"/>
              </a:lnSpc>
              <a:buNone/>
            </a:pPr>
            <a:r>
              <a:rPr lang="en-US" sz="2000" b="1" dirty="0">
                <a:solidFill>
                  <a:srgbClr val="FFFFFF"/>
                </a:solidFill>
                <a:latin typeface="Arial Black" pitchFamily="34" charset="0"/>
                <a:ea typeface="Arial Black" pitchFamily="34" charset="-122"/>
                <a:cs typeface="Arial Black" pitchFamily="34" charset="-120"/>
              </a:rPr>
              <a:t>AM2412018113</a:t>
            </a:r>
            <a:endParaRPr lang="en-US" sz="2000" dirty="0"/>
          </a:p>
        </p:txBody>
      </p:sp>
      <p:sp>
        <p:nvSpPr>
          <p:cNvPr id="8" name="Text 4"/>
          <p:cNvSpPr/>
          <p:nvPr/>
        </p:nvSpPr>
        <p:spPr>
          <a:xfrm>
            <a:off x="914400" y="5166360"/>
            <a:ext cx="10360152" cy="36576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SUPERVISOR: MADAM JIHADAH BINTI AHMAD</a:t>
            </a:r>
            <a:endParaRPr lang="en-US" sz="1600" dirty="0"/>
          </a:p>
        </p:txBody>
      </p:sp>
      <p:sp>
        <p:nvSpPr>
          <p:cNvPr id="9" name="Shape 5"/>
          <p:cNvSpPr/>
          <p:nvPr/>
        </p:nvSpPr>
        <p:spPr>
          <a:xfrm>
            <a:off x="1371600" y="5806440"/>
            <a:ext cx="9445752" cy="0"/>
          </a:xfrm>
          <a:prstGeom prst="line">
            <a:avLst/>
          </a:prstGeom>
          <a:noFill/>
          <a:ln w="19050">
            <a:solidFill>
              <a:srgbClr val="E8D6C5"/>
            </a:solidFill>
            <a:prstDash val="solid"/>
          </a:ln>
        </p:spPr>
      </p:sp>
      <p:sp>
        <p:nvSpPr>
          <p:cNvPr id="10" name="Text 6"/>
          <p:cNvSpPr/>
          <p:nvPr/>
        </p:nvSpPr>
        <p:spPr>
          <a:xfrm>
            <a:off x="1371600" y="5989320"/>
            <a:ext cx="3200400" cy="365760"/>
          </a:xfrm>
          <a:prstGeom prst="rect">
            <a:avLst/>
          </a:prstGeom>
          <a:noFill/>
          <a:ln/>
        </p:spPr>
        <p:txBody>
          <a:bodyPr wrap="square"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FYP3024</a:t>
            </a:r>
            <a:endParaRPr lang="en-US" sz="1600" dirty="0"/>
          </a:p>
        </p:txBody>
      </p:sp>
      <p:sp>
        <p:nvSpPr>
          <p:cNvPr id="11" name="Text 7"/>
          <p:cNvSpPr/>
          <p:nvPr/>
        </p:nvSpPr>
        <p:spPr>
          <a:xfrm>
            <a:off x="5029200" y="5989320"/>
            <a:ext cx="2130552" cy="365760"/>
          </a:xfrm>
          <a:prstGeom prst="rect">
            <a:avLst/>
          </a:prstGeom>
          <a:noFill/>
          <a:ln/>
        </p:spPr>
        <p:txBody>
          <a:bodyPr wrap="square" rtlCol="0" anchor="ctr"/>
          <a:lstStyle/>
          <a:p>
            <a:pPr algn="ctr" indent="0" marL="0">
              <a:buNone/>
            </a:pPr>
            <a:r>
              <a:rPr lang="en-US" sz="1600" dirty="0">
                <a:solidFill>
                  <a:srgbClr val="E8D6C5"/>
                </a:solidFill>
                <a:latin typeface="Arial" pitchFamily="34" charset="0"/>
                <a:ea typeface="Arial" pitchFamily="34" charset="-122"/>
                <a:cs typeface="Arial" pitchFamily="34" charset="-120"/>
              </a:rPr>
              <a:t>|</a:t>
            </a:r>
            <a:endParaRPr lang="en-US" sz="1600" dirty="0"/>
          </a:p>
        </p:txBody>
      </p:sp>
      <p:sp>
        <p:nvSpPr>
          <p:cNvPr id="12" name="Text 8"/>
          <p:cNvSpPr/>
          <p:nvPr/>
        </p:nvSpPr>
        <p:spPr>
          <a:xfrm>
            <a:off x="7616952" y="5989320"/>
            <a:ext cx="3200400" cy="365760"/>
          </a:xfrm>
          <a:prstGeom prst="rect">
            <a:avLst/>
          </a:prstGeom>
          <a:noFill/>
          <a:ln/>
        </p:spPr>
        <p:txBody>
          <a:bodyPr wrap="square" rtlCol="0" anchor="ctr"/>
          <a:lstStyle/>
          <a:p>
            <a:pPr algn="r" indent="0" marL="0">
              <a:buNone/>
            </a:pPr>
            <a:r>
              <a:rPr lang="en-US" sz="1600" b="1" dirty="0">
                <a:solidFill>
                  <a:srgbClr val="FFFFFF"/>
                </a:solidFill>
                <a:latin typeface="Arial" pitchFamily="34" charset="0"/>
                <a:ea typeface="Arial" pitchFamily="34" charset="-122"/>
                <a:cs typeface="Arial" pitchFamily="34" charset="-120"/>
              </a:rPr>
              <a:t>CC101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PROJECT BACKGROUND</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7" name="Text 3"/>
          <p:cNvSpPr/>
          <p:nvPr/>
        </p:nvSpPr>
        <p:spPr>
          <a:xfrm>
            <a:off x="914400" y="2103120"/>
            <a:ext cx="10360152" cy="3840480"/>
          </a:xfrm>
          <a:prstGeom prst="rect">
            <a:avLst/>
          </a:prstGeom>
          <a:noFill/>
          <a:ln/>
        </p:spPr>
        <p:txBody>
          <a:bodyPr wrap="square" rtlCol="0" anchor="t"/>
          <a:lstStyle/>
          <a:p>
            <a:pPr algn="l" indent="0" marL="0">
              <a:lnSpc>
                <a:spcPts val="2800"/>
              </a:lnSpc>
              <a:buNone/>
            </a:pPr>
            <a:r>
              <a:rPr lang="en-US" sz="1800" dirty="0">
                <a:solidFill>
                  <a:srgbClr val="28211D"/>
                </a:solidFill>
              </a:rPr>
              <a:t>• PinjamGeng is a responsive web-based equipment booking and inventory management application tailored specifically for Universiti Poly-Tech Malaysia (UPTM), built using PHP 8.2, MySQL InnoDB, and Tailwind CSS.</a:t>
            </a:r>
            <a:pPr algn="l" indent="0" marL="0">
              <a:lnSpc>
                <a:spcPts val="2800"/>
              </a:lnSpc>
              <a:buNone/>
            </a:pPr>
            <a:endParaRPr lang="en-US" sz="1800" dirty="0"/>
          </a:p>
          <a:p>
            <a:pPr algn="l" indent="0" marL="0">
              <a:lnSpc>
                <a:spcPts val="2800"/>
              </a:lnSpc>
              <a:buNone/>
            </a:pPr>
            <a:endParaRPr lang="en-US" sz="1800" dirty="0"/>
          </a:p>
          <a:p>
            <a:pPr algn="l" indent="0" marL="0">
              <a:lnSpc>
                <a:spcPts val="2800"/>
              </a:lnSpc>
              <a:buNone/>
            </a:pPr>
            <a:r>
              <a:rPr lang="en-US" sz="1800" dirty="0">
                <a:solidFill>
                  <a:srgbClr val="28211D"/>
                </a:solidFill>
              </a:rPr>
              <a:t>• It allows student club executive committees, event coordinators, and university societies to browse verified audio-visual and IT hardware, view real-time available stock counters, and submit reservation requests 24/7 online.</a:t>
            </a:r>
            <a:endParaRPr lang="en-US" sz="1800" dirty="0"/>
          </a:p>
          <a:p>
            <a:pPr algn="l" indent="0" marL="0">
              <a:lnSpc>
                <a:spcPts val="2800"/>
              </a:lnSpc>
              <a:buNone/>
            </a:pPr>
            <a:endParaRPr lang="en-US" sz="1800" dirty="0"/>
          </a:p>
          <a:p>
            <a:pPr algn="l" indent="0" marL="0">
              <a:lnSpc>
                <a:spcPts val="2800"/>
              </a:lnSpc>
              <a:buNone/>
            </a:pPr>
            <a:endParaRPr lang="en-US" sz="1800" dirty="0"/>
          </a:p>
          <a:p>
            <a:pPr algn="l" indent="0" marL="0">
              <a:lnSpc>
                <a:spcPts val="2800"/>
              </a:lnSpc>
              <a:buNone/>
            </a:pPr>
            <a:r>
              <a:rPr lang="en-US" sz="1800" dirty="0">
                <a:solidFill>
                  <a:srgbClr val="28211D"/>
                </a:solidFill>
              </a:rPr>
              <a:t>• The system eliminates reliance on slow paper logbooks, prevents catastrophic double-booking clashes, and establishes end-to-end return accountability across campus facilities.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PROBLEM STATEMENTS</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7" name="Shape 3"/>
          <p:cNvSpPr/>
          <p:nvPr/>
        </p:nvSpPr>
        <p:spPr>
          <a:xfrm>
            <a:off x="731520" y="2194560"/>
            <a:ext cx="1005840" cy="1005840"/>
          </a:xfrm>
          <a:prstGeom prst="roundRect">
            <a:avLst>
              <a:gd name="adj" fmla="val 31818"/>
            </a:avLst>
          </a:prstGeom>
          <a:solidFill>
            <a:srgbClr val="A86538"/>
          </a:solidFill>
          <a:ln w="12700">
            <a:solidFill>
              <a:srgbClr val="A86538"/>
            </a:solidFill>
            <a:prstDash val="solid"/>
          </a:ln>
        </p:spPr>
      </p:sp>
      <p:sp>
        <p:nvSpPr>
          <p:cNvPr id="8" name="Text 4"/>
          <p:cNvSpPr/>
          <p:nvPr/>
        </p:nvSpPr>
        <p:spPr>
          <a:xfrm>
            <a:off x="731520" y="2194560"/>
            <a:ext cx="100584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1</a:t>
            </a:r>
            <a:endParaRPr lang="en-US" sz="3200" dirty="0"/>
          </a:p>
        </p:txBody>
      </p:sp>
      <p:sp>
        <p:nvSpPr>
          <p:cNvPr id="9" name="Text 5"/>
          <p:cNvSpPr/>
          <p:nvPr/>
        </p:nvSpPr>
        <p:spPr>
          <a:xfrm>
            <a:off x="2011680" y="2148840"/>
            <a:ext cx="9052560" cy="1188720"/>
          </a:xfrm>
          <a:prstGeom prst="rect">
            <a:avLst/>
          </a:prstGeom>
          <a:noFill/>
          <a:ln/>
        </p:spPr>
        <p:txBody>
          <a:bodyPr wrap="square" lIns="0" tIns="0" rIns="0" bIns="0" rtlCol="0" anchor="ctr"/>
          <a:lstStyle/>
          <a:p>
            <a:pPr indent="0" marL="0">
              <a:buNone/>
            </a:pPr>
            <a:r>
              <a:rPr lang="en-US" sz="1800" b="1" dirty="0">
                <a:solidFill>
                  <a:srgbClr val="42220F"/>
                </a:solidFill>
              </a:rPr>
              <a:t>Manual &amp; Uncentralised Booking Process
</a:t>
            </a:r>
            <a:pPr indent="0" marL="0">
              <a:lnSpc>
                <a:spcPts val="2200"/>
              </a:lnSpc>
              <a:buNone/>
            </a:pPr>
            <a:r>
              <a:rPr lang="en-US" sz="1400" dirty="0">
                <a:solidFill>
                  <a:srgbClr val="28211D"/>
                </a:solidFill>
              </a:rPr>
              <a:t>Manual, uncentralised processes make verifying live equipment availability and managing records difficult, causing reservation clashes, communication breakdowns, missing records, and time-consuming workflows.</a:t>
            </a:r>
            <a:endParaRPr lang="en-US" sz="1800" dirty="0"/>
          </a:p>
        </p:txBody>
      </p:sp>
      <p:sp>
        <p:nvSpPr>
          <p:cNvPr id="10" name="Shape 6"/>
          <p:cNvSpPr/>
          <p:nvPr/>
        </p:nvSpPr>
        <p:spPr>
          <a:xfrm>
            <a:off x="731520" y="4023360"/>
            <a:ext cx="1005840" cy="1005840"/>
          </a:xfrm>
          <a:prstGeom prst="roundRect">
            <a:avLst>
              <a:gd name="adj" fmla="val 31818"/>
            </a:avLst>
          </a:prstGeom>
          <a:solidFill>
            <a:srgbClr val="A86538"/>
          </a:solidFill>
          <a:ln w="12700">
            <a:solidFill>
              <a:srgbClr val="A86538"/>
            </a:solidFill>
            <a:prstDash val="solid"/>
          </a:ln>
        </p:spPr>
      </p:sp>
      <p:sp>
        <p:nvSpPr>
          <p:cNvPr id="11" name="Text 7"/>
          <p:cNvSpPr/>
          <p:nvPr/>
        </p:nvSpPr>
        <p:spPr>
          <a:xfrm>
            <a:off x="731520" y="4023360"/>
            <a:ext cx="100584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2</a:t>
            </a:r>
            <a:endParaRPr lang="en-US" sz="3200" dirty="0"/>
          </a:p>
        </p:txBody>
      </p:sp>
      <p:sp>
        <p:nvSpPr>
          <p:cNvPr id="12" name="Text 8"/>
          <p:cNvSpPr/>
          <p:nvPr/>
        </p:nvSpPr>
        <p:spPr>
          <a:xfrm>
            <a:off x="2011680" y="3977640"/>
            <a:ext cx="9052560" cy="1188720"/>
          </a:xfrm>
          <a:prstGeom prst="rect">
            <a:avLst/>
          </a:prstGeom>
          <a:noFill/>
          <a:ln/>
        </p:spPr>
        <p:txBody>
          <a:bodyPr wrap="square" lIns="0" tIns="0" rIns="0" bIns="0" rtlCol="0" anchor="ctr"/>
          <a:lstStyle/>
          <a:p>
            <a:pPr indent="0" marL="0">
              <a:buNone/>
            </a:pPr>
            <a:r>
              <a:rPr lang="en-US" sz="1800" b="1" dirty="0">
                <a:solidFill>
                  <a:srgbClr val="42220F"/>
                </a:solidFill>
              </a:rPr>
              <a:t>Equipment Selection Difficulty &amp; Lack of Packages
</a:t>
            </a:r>
            <a:pPr indent="0" marL="0">
              <a:lnSpc>
                <a:spcPts val="2200"/>
              </a:lnSpc>
              <a:buNone/>
            </a:pPr>
            <a:r>
              <a:rPr lang="en-US" sz="1400" dirty="0">
                <a:solidFill>
                  <a:srgbClr val="28211D"/>
                </a:solidFill>
              </a:rPr>
              <a:t>Users struggle to identify suitable gear for diverse event types when equipment information and booking records are managed separately; existing systems focus solely on individual items rather than convenient event-based packages.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PROJECT OBJECTIVES</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7" name="Shape 3"/>
          <p:cNvSpPr/>
          <p:nvPr/>
        </p:nvSpPr>
        <p:spPr>
          <a:xfrm>
            <a:off x="731520" y="2194560"/>
            <a:ext cx="1005840" cy="1005840"/>
          </a:xfrm>
          <a:prstGeom prst="roundRect">
            <a:avLst>
              <a:gd name="adj" fmla="val 31818"/>
            </a:avLst>
          </a:prstGeom>
          <a:solidFill>
            <a:srgbClr val="A86538"/>
          </a:solidFill>
          <a:ln w="12700">
            <a:solidFill>
              <a:srgbClr val="A86538"/>
            </a:solidFill>
            <a:prstDash val="solid"/>
          </a:ln>
        </p:spPr>
      </p:sp>
      <p:sp>
        <p:nvSpPr>
          <p:cNvPr id="8" name="Text 4"/>
          <p:cNvSpPr/>
          <p:nvPr/>
        </p:nvSpPr>
        <p:spPr>
          <a:xfrm>
            <a:off x="731520" y="2194560"/>
            <a:ext cx="100584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1</a:t>
            </a:r>
            <a:endParaRPr lang="en-US" sz="3200" dirty="0"/>
          </a:p>
        </p:txBody>
      </p:sp>
      <p:sp>
        <p:nvSpPr>
          <p:cNvPr id="9" name="Text 5"/>
          <p:cNvSpPr/>
          <p:nvPr/>
        </p:nvSpPr>
        <p:spPr>
          <a:xfrm>
            <a:off x="2011680" y="2148840"/>
            <a:ext cx="9052560" cy="1188720"/>
          </a:xfrm>
          <a:prstGeom prst="rect">
            <a:avLst/>
          </a:prstGeom>
          <a:noFill/>
          <a:ln/>
        </p:spPr>
        <p:txBody>
          <a:bodyPr wrap="square" lIns="0" tIns="0" rIns="0" bIns="0" rtlCol="0" anchor="ctr"/>
          <a:lstStyle/>
          <a:p>
            <a:pPr indent="0" marL="0">
              <a:buNone/>
            </a:pPr>
            <a:r>
              <a:rPr lang="en-US" sz="1800" b="1" dirty="0">
                <a:solidFill>
                  <a:srgbClr val="42220F"/>
                </a:solidFill>
              </a:rPr>
              <a:t>To Develop an Event Equipment Booking &amp; Inventory Management System
</a:t>
            </a:r>
            <a:pPr indent="0" marL="0">
              <a:lnSpc>
                <a:spcPts val="2200"/>
              </a:lnSpc>
              <a:buNone/>
            </a:pPr>
            <a:r>
              <a:rPr lang="en-US" sz="1400" dirty="0">
                <a:solidFill>
                  <a:srgbClr val="28211D"/>
                </a:solidFill>
              </a:rPr>
              <a:t>To develop a responsive web-based system enabling users to check equipment availability, submit, and track booking requests, while allowing administrators to manage equipment records and booking approvals within the 12-week development period.</a:t>
            </a:r>
            <a:endParaRPr lang="en-US" sz="1800" dirty="0"/>
          </a:p>
        </p:txBody>
      </p:sp>
      <p:sp>
        <p:nvSpPr>
          <p:cNvPr id="10" name="Shape 6"/>
          <p:cNvSpPr/>
          <p:nvPr/>
        </p:nvSpPr>
        <p:spPr>
          <a:xfrm>
            <a:off x="731520" y="4023360"/>
            <a:ext cx="1005840" cy="1005840"/>
          </a:xfrm>
          <a:prstGeom prst="roundRect">
            <a:avLst>
              <a:gd name="adj" fmla="val 31818"/>
            </a:avLst>
          </a:prstGeom>
          <a:solidFill>
            <a:srgbClr val="A86538"/>
          </a:solidFill>
          <a:ln w="12700">
            <a:solidFill>
              <a:srgbClr val="A86538"/>
            </a:solidFill>
            <a:prstDash val="solid"/>
          </a:ln>
        </p:spPr>
      </p:sp>
      <p:sp>
        <p:nvSpPr>
          <p:cNvPr id="11" name="Text 7"/>
          <p:cNvSpPr/>
          <p:nvPr/>
        </p:nvSpPr>
        <p:spPr>
          <a:xfrm>
            <a:off x="731520" y="4023360"/>
            <a:ext cx="100584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2</a:t>
            </a:r>
            <a:endParaRPr lang="en-US" sz="3200" dirty="0"/>
          </a:p>
        </p:txBody>
      </p:sp>
      <p:sp>
        <p:nvSpPr>
          <p:cNvPr id="12" name="Text 8"/>
          <p:cNvSpPr/>
          <p:nvPr/>
        </p:nvSpPr>
        <p:spPr>
          <a:xfrm>
            <a:off x="2011680" y="3977640"/>
            <a:ext cx="9052560" cy="1188720"/>
          </a:xfrm>
          <a:prstGeom prst="rect">
            <a:avLst/>
          </a:prstGeom>
          <a:noFill/>
          <a:ln/>
        </p:spPr>
        <p:txBody>
          <a:bodyPr wrap="square" lIns="0" tIns="0" rIns="0" bIns="0" rtlCol="0" anchor="ctr"/>
          <a:lstStyle/>
          <a:p>
            <a:pPr indent="0" marL="0">
              <a:buNone/>
            </a:pPr>
            <a:r>
              <a:rPr lang="en-US" sz="1800" b="1" dirty="0">
                <a:solidFill>
                  <a:srgbClr val="42220F"/>
                </a:solidFill>
              </a:rPr>
              <a:t>To Implement an Event-Based Equipment Package Feature
</a:t>
            </a:r>
            <a:pPr indent="0" marL="0">
              <a:lnSpc>
                <a:spcPts val="2200"/>
              </a:lnSpc>
              <a:buNone/>
            </a:pPr>
            <a:r>
              <a:rPr lang="en-US" sz="1400" dirty="0">
                <a:solidFill>
                  <a:srgbClr val="28211D"/>
                </a:solidFill>
              </a:rPr>
              <a:t>To provide curated, predefined equipment packages for at least four event types—including seminars, workshops, meetings, and photography events—within the 12-week development period.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LITERATURE REVIEW: EXISTING SYSTEM</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7" name="Shape 3"/>
          <p:cNvSpPr/>
          <p:nvPr/>
        </p:nvSpPr>
        <p:spPr>
          <a:xfrm>
            <a:off x="731520" y="1965960"/>
            <a:ext cx="10515600" cy="1371600"/>
          </a:xfrm>
          <a:prstGeom prst="roundRect">
            <a:avLst>
              <a:gd name="adj" fmla="val 10000"/>
            </a:avLst>
          </a:prstGeom>
          <a:solidFill>
            <a:srgbClr val="FFFFFF"/>
          </a:solidFill>
          <a:ln w="12700">
            <a:solidFill>
              <a:srgbClr val="E6D8CA"/>
            </a:solidFill>
            <a:prstDash val="solid"/>
          </a:ln>
        </p:spPr>
      </p:sp>
      <p:sp>
        <p:nvSpPr>
          <p:cNvPr id="8" name="Text 4"/>
          <p:cNvSpPr/>
          <p:nvPr/>
        </p:nvSpPr>
        <p:spPr>
          <a:xfrm>
            <a:off x="914400" y="2039112"/>
            <a:ext cx="10149840" cy="320040"/>
          </a:xfrm>
          <a:prstGeom prst="rect">
            <a:avLst/>
          </a:prstGeom>
          <a:noFill/>
          <a:ln/>
        </p:spPr>
        <p:txBody>
          <a:bodyPr wrap="square" lIns="0" tIns="0" rIns="0" bIns="0" rtlCol="0" anchor="ctr"/>
          <a:lstStyle/>
          <a:p>
            <a:pPr indent="0" marL="0">
              <a:buNone/>
            </a:pPr>
            <a:r>
              <a:rPr lang="en-US" sz="1600" b="1" dirty="0">
                <a:solidFill>
                  <a:srgbClr val="42220F"/>
                </a:solidFill>
                <a:latin typeface="Arial Black" pitchFamily="34" charset="0"/>
                <a:ea typeface="Arial Black" pitchFamily="34" charset="-122"/>
                <a:cs typeface="Arial Black" pitchFamily="34" charset="-120"/>
              </a:rPr>
              <a:t>Cheqroom</a:t>
            </a:r>
            <a:endParaRPr lang="en-US" sz="1600" dirty="0"/>
          </a:p>
        </p:txBody>
      </p:sp>
      <p:sp>
        <p:nvSpPr>
          <p:cNvPr id="9" name="Text 5"/>
          <p:cNvSpPr/>
          <p:nvPr/>
        </p:nvSpPr>
        <p:spPr>
          <a:xfrm>
            <a:off x="914400" y="2350008"/>
            <a:ext cx="10149840" cy="896112"/>
          </a:xfrm>
          <a:prstGeom prst="rect">
            <a:avLst/>
          </a:prstGeom>
          <a:noFill/>
          <a:ln/>
        </p:spPr>
        <p:txBody>
          <a:bodyPr wrap="square" lIns="0" tIns="0" rIns="0" bIns="0" rtlCol="0" anchor="t"/>
          <a:lstStyle/>
          <a:p>
            <a:pPr indent="0" marL="0">
              <a:buNone/>
            </a:pPr>
            <a:r>
              <a:rPr lang="en-US" sz="1250" dirty="0">
                <a:solidFill>
                  <a:srgbClr val="28211D"/>
                </a:solidFill>
              </a:rPr>
              <a:t>• Provides cloud-based asset tracking with equipment kit bundling and calendar reservation.
</a:t>
            </a:r>
            <a:pPr indent="0" marL="0">
              <a:buNone/>
            </a:pPr>
            <a:r>
              <a:rPr lang="en-US" sz="1250" dirty="0">
                <a:solidFill>
                  <a:srgbClr val="28211D"/>
                </a:solidFill>
              </a:rPr>
              <a:t>• Supports barcode/QR code custody tracking and item condition check-in logging.
</a:t>
            </a:r>
            <a:pPr indent="0" marL="0">
              <a:buNone/>
            </a:pPr>
            <a:r>
              <a:rPr lang="en-US" sz="1200" b="1" dirty="0">
                <a:solidFill>
                  <a:srgbClr val="A86538"/>
                </a:solidFill>
              </a:rPr>
              <a:t>Limitation: </a:t>
            </a:r>
            <a:pPr indent="0" marL="0">
              <a:buNone/>
            </a:pPr>
            <a:r>
              <a:rPr lang="en-US" sz="1200" i="1" dirty="0">
                <a:solidFill>
                  <a:srgbClr val="61544D"/>
                </a:solidFill>
              </a:rPr>
              <a:t>High annual enterprise subscription cost with excessive corporate features (geofencing, insurance depreciation) impractical for localized campus budgets.</a:t>
            </a:r>
            <a:endParaRPr lang="en-US" sz="1250" dirty="0"/>
          </a:p>
        </p:txBody>
      </p:sp>
      <p:sp>
        <p:nvSpPr>
          <p:cNvPr id="10" name="Shape 6"/>
          <p:cNvSpPr/>
          <p:nvPr/>
        </p:nvSpPr>
        <p:spPr>
          <a:xfrm>
            <a:off x="731520" y="3474720"/>
            <a:ext cx="10515600" cy="1371600"/>
          </a:xfrm>
          <a:prstGeom prst="roundRect">
            <a:avLst>
              <a:gd name="adj" fmla="val 10000"/>
            </a:avLst>
          </a:prstGeom>
          <a:solidFill>
            <a:srgbClr val="FFFFFF"/>
          </a:solidFill>
          <a:ln w="12700">
            <a:solidFill>
              <a:srgbClr val="E6D8CA"/>
            </a:solidFill>
            <a:prstDash val="solid"/>
          </a:ln>
        </p:spPr>
      </p:sp>
      <p:sp>
        <p:nvSpPr>
          <p:cNvPr id="11" name="Text 7"/>
          <p:cNvSpPr/>
          <p:nvPr/>
        </p:nvSpPr>
        <p:spPr>
          <a:xfrm>
            <a:off x="914400" y="3547872"/>
            <a:ext cx="10149840" cy="320040"/>
          </a:xfrm>
          <a:prstGeom prst="rect">
            <a:avLst/>
          </a:prstGeom>
          <a:noFill/>
          <a:ln/>
        </p:spPr>
        <p:txBody>
          <a:bodyPr wrap="square" lIns="0" tIns="0" rIns="0" bIns="0" rtlCol="0" anchor="ctr"/>
          <a:lstStyle/>
          <a:p>
            <a:pPr indent="0" marL="0">
              <a:buNone/>
            </a:pPr>
            <a:r>
              <a:rPr lang="en-US" sz="1600" b="1" dirty="0">
                <a:solidFill>
                  <a:srgbClr val="42220F"/>
                </a:solidFill>
                <a:latin typeface="Arial Black" pitchFamily="34" charset="0"/>
                <a:ea typeface="Arial Black" pitchFamily="34" charset="-122"/>
                <a:cs typeface="Arial Black" pitchFamily="34" charset="-120"/>
              </a:rPr>
              <a:t>Booqable</a:t>
            </a:r>
            <a:endParaRPr lang="en-US" sz="1600" dirty="0"/>
          </a:p>
        </p:txBody>
      </p:sp>
      <p:sp>
        <p:nvSpPr>
          <p:cNvPr id="12" name="Text 8"/>
          <p:cNvSpPr/>
          <p:nvPr/>
        </p:nvSpPr>
        <p:spPr>
          <a:xfrm>
            <a:off x="914400" y="3858768"/>
            <a:ext cx="10149840" cy="896112"/>
          </a:xfrm>
          <a:prstGeom prst="rect">
            <a:avLst/>
          </a:prstGeom>
          <a:noFill/>
          <a:ln/>
        </p:spPr>
        <p:txBody>
          <a:bodyPr wrap="square" lIns="0" tIns="0" rIns="0" bIns="0" rtlCol="0" anchor="t"/>
          <a:lstStyle/>
          <a:p>
            <a:pPr indent="0" marL="0">
              <a:buNone/>
            </a:pPr>
            <a:r>
              <a:rPr lang="en-US" sz="1250" dirty="0">
                <a:solidFill>
                  <a:srgbClr val="28211D"/>
                </a:solidFill>
              </a:rPr>
              <a:t>• Offers an intuitive step-by-step booking wizard with real-time stock availability verification.
</a:t>
            </a:r>
            <a:pPr indent="0" marL="0">
              <a:buNone/>
            </a:pPr>
            <a:r>
              <a:rPr lang="en-US" sz="1250" dirty="0">
                <a:solidFill>
                  <a:srgbClr val="28211D"/>
                </a:solidFill>
              </a:rPr>
              <a:t>• Visualizes equipment dispatch schedules using color-coded order timeline bars.
</a:t>
            </a:r>
            <a:pPr indent="0" marL="0">
              <a:buNone/>
            </a:pPr>
            <a:r>
              <a:rPr lang="en-US" sz="1200" b="1" dirty="0">
                <a:solidFill>
                  <a:srgbClr val="A86538"/>
                </a:solidFill>
              </a:rPr>
              <a:t>Limitation: </a:t>
            </a:r>
            <a:pPr indent="0" marL="0">
              <a:buNone/>
            </a:pPr>
            <a:r>
              <a:rPr lang="en-US" sz="1200" i="1" dirty="0">
                <a:solidFill>
                  <a:srgbClr val="61544D"/>
                </a:solidFill>
              </a:rPr>
              <a:t>Heavily oriented toward commercial rental businesses requiring customer invoicing, security deposits, and credit card payments rather than university club loan rules.</a:t>
            </a:r>
            <a:endParaRPr lang="en-US" sz="1250" dirty="0"/>
          </a:p>
        </p:txBody>
      </p:sp>
      <p:sp>
        <p:nvSpPr>
          <p:cNvPr id="13" name="Shape 9"/>
          <p:cNvSpPr/>
          <p:nvPr/>
        </p:nvSpPr>
        <p:spPr>
          <a:xfrm>
            <a:off x="731520" y="4983480"/>
            <a:ext cx="10515600" cy="1371600"/>
          </a:xfrm>
          <a:prstGeom prst="roundRect">
            <a:avLst>
              <a:gd name="adj" fmla="val 10000"/>
            </a:avLst>
          </a:prstGeom>
          <a:solidFill>
            <a:srgbClr val="FFFFFF"/>
          </a:solidFill>
          <a:ln w="12700">
            <a:solidFill>
              <a:srgbClr val="E6D8CA"/>
            </a:solidFill>
            <a:prstDash val="solid"/>
          </a:ln>
        </p:spPr>
      </p:sp>
      <p:sp>
        <p:nvSpPr>
          <p:cNvPr id="14" name="Text 10"/>
          <p:cNvSpPr/>
          <p:nvPr/>
        </p:nvSpPr>
        <p:spPr>
          <a:xfrm>
            <a:off x="914400" y="5056632"/>
            <a:ext cx="10149840" cy="320040"/>
          </a:xfrm>
          <a:prstGeom prst="rect">
            <a:avLst/>
          </a:prstGeom>
          <a:noFill/>
          <a:ln/>
        </p:spPr>
        <p:txBody>
          <a:bodyPr wrap="square" lIns="0" tIns="0" rIns="0" bIns="0" rtlCol="0" anchor="ctr"/>
          <a:lstStyle/>
          <a:p>
            <a:pPr indent="0" marL="0">
              <a:buNone/>
            </a:pPr>
            <a:r>
              <a:rPr lang="en-US" sz="1600" b="1" dirty="0">
                <a:solidFill>
                  <a:srgbClr val="42220F"/>
                </a:solidFill>
                <a:latin typeface="Arial Black" pitchFamily="34" charset="0"/>
                <a:ea typeface="Arial Black" pitchFamily="34" charset="-122"/>
                <a:cs typeface="Arial Black" pitchFamily="34" charset="-120"/>
              </a:rPr>
              <a:t>EZOfficeInventory</a:t>
            </a:r>
            <a:endParaRPr lang="en-US" sz="1600" dirty="0"/>
          </a:p>
        </p:txBody>
      </p:sp>
      <p:sp>
        <p:nvSpPr>
          <p:cNvPr id="15" name="Text 11"/>
          <p:cNvSpPr/>
          <p:nvPr/>
        </p:nvSpPr>
        <p:spPr>
          <a:xfrm>
            <a:off x="914400" y="5367528"/>
            <a:ext cx="10149840" cy="896112"/>
          </a:xfrm>
          <a:prstGeom prst="rect">
            <a:avLst/>
          </a:prstGeom>
          <a:noFill/>
          <a:ln/>
        </p:spPr>
        <p:txBody>
          <a:bodyPr wrap="square" lIns="0" tIns="0" rIns="0" bIns="0" rtlCol="0" anchor="t"/>
          <a:lstStyle/>
          <a:p>
            <a:pPr indent="0" marL="0">
              <a:buNone/>
            </a:pPr>
            <a:r>
              <a:rPr lang="en-US" sz="1250" dirty="0">
                <a:solidFill>
                  <a:srgbClr val="28211D"/>
                </a:solidFill>
              </a:rPr>
              <a:t>• Provides comprehensive asset lifecycle tracking with service tickets and "Under Maintenance" status flags.
</a:t>
            </a:r>
            <a:pPr indent="0" marL="0">
              <a:buNone/>
            </a:pPr>
            <a:r>
              <a:rPr lang="en-US" sz="1250" dirty="0">
                <a:solidFill>
                  <a:srgbClr val="28211D"/>
                </a:solidFill>
              </a:rPr>
              <a:t>• Generates exportable utilization and equipment condition audit reports.
</a:t>
            </a:r>
            <a:pPr indent="0" marL="0">
              <a:buNone/>
            </a:pPr>
            <a:r>
              <a:rPr lang="en-US" sz="1200" b="1" dirty="0">
                <a:solidFill>
                  <a:srgbClr val="A86538"/>
                </a:solidFill>
              </a:rPr>
              <a:t>Limitation: </a:t>
            </a:r>
            <a:pPr indent="0" marL="0">
              <a:buNone/>
            </a:pPr>
            <a:r>
              <a:rPr lang="en-US" sz="1200" i="1" dirty="0">
                <a:solidFill>
                  <a:srgbClr val="61544D"/>
                </a:solidFill>
              </a:rPr>
              <a:t>Complex and data-dense enterprise interface with a steep learning curve for student borrowers; lacks quick event-based packages.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COMPARISON &amp; RESEARCH GAP</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011680"/>
          <a:ext cx="10515600" cy="4206240"/>
        </p:xfrm>
        <a:graphic>
          <a:graphicData uri="http://schemas.openxmlformats.org/drawingml/2006/table">
            <a:tbl>
              <a:tblPr/>
              <a:tblGrid>
                <a:gridCol w="3017520"/>
                <a:gridCol w="1645920"/>
                <a:gridCol w="1645920"/>
                <a:gridCol w="1828800"/>
                <a:gridCol w="2377440"/>
              </a:tblGrid>
              <a:tr h="525780">
                <a:tc>
                  <a:txBody>
                    <a:bodyPr/>
                    <a:lstStyle/>
                    <a:p>
                      <a:pPr algn="l" indent="0" marL="0">
                        <a:buNone/>
                      </a:pPr>
                      <a:r>
                        <a:rPr lang="en-US" sz="1200" b="1" dirty="0">
                          <a:solidFill>
                            <a:srgbClr val="42220F"/>
                          </a:solidFill>
                        </a:rPr>
                        <a:t>Feature / Capability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42220F"/>
                          </a:solidFill>
                        </a:rPr>
                        <a:t>Cheqroom</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42220F"/>
                          </a:solidFill>
                        </a:rPr>
                        <a:t>Booqable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42220F"/>
                          </a:solidFill>
                        </a:rPr>
                        <a:t>EZOfficeInventory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FFFFFF"/>
                          </a:solidFill>
                        </a:rPr>
                        <a:t>Proposed System</a:t>
                      </a:r>
                      <a:endParaRPr lang="en-US" sz="1200" dirty="0"/>
                    </a:p>
                    <a:p>
                      <a:pPr algn="ctr" indent="0" marL="0">
                        <a:buNone/>
                      </a:pPr>
                      <a:r>
                        <a:rPr lang="en-US" sz="1200" b="1" dirty="0">
                          <a:solidFill>
                            <a:srgbClr val="FFFFFF"/>
                          </a:solidFill>
                        </a:rPr>
                        <a:t>(PinjamGeng)</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5C3214"/>
                    </a:solidFill>
                  </a:tcPr>
                </a:tc>
              </a:tr>
              <a:tr h="525780">
                <a:tc>
                  <a:txBody>
                    <a:bodyPr/>
                    <a:lstStyle/>
                    <a:p>
                      <a:pPr indent="0" marL="0">
                        <a:buNone/>
                      </a:pPr>
                      <a:r>
                        <a:rPr lang="en-US" sz="1200" b="1" dirty="0">
                          <a:solidFill>
                            <a:srgbClr val="000000"/>
                          </a:solidFill>
                        </a:rPr>
                        <a:t>Online Equipment Booking</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Real-Time Stock Availability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Event-Based Equipment Packages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8211D"/>
                          </a:solidFill>
                        </a:rPr>
                        <a:t>✓ (Kits)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8211D"/>
                          </a:solidFill>
                        </a:rPr>
                        <a:t>✓ (Bundles)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dedicated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 (Smart Packages)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Automated Conflict Engine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Return Condition &amp; Maintenance Log</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dedicated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Official Digital A4 Loan Slip</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found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dedicated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dedicated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 (Standardized A4)</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r h="525780">
                <a:tc>
                  <a:txBody>
                    <a:bodyPr/>
                    <a:lstStyle/>
                    <a:p>
                      <a:pPr indent="0" marL="0">
                        <a:buNone/>
                      </a:pPr>
                      <a:r>
                        <a:rPr lang="en-US" sz="1200" b="1" dirty="0">
                          <a:solidFill>
                            <a:srgbClr val="000000"/>
                          </a:solidFill>
                        </a:rPr>
                        <a:t>Zero Subscription (Campus Tailored)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found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found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1544D"/>
                          </a:solidFill>
                        </a:rPr>
                        <a:t>Not found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 (100% Free Campus)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9F5F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AGILE METHODOLOGY</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6</a:t>
            </a:r>
            <a:endParaRPr lang="en-US" sz="1600" dirty="0"/>
          </a:p>
        </p:txBody>
      </p:sp>
      <p:pic>
        <p:nvPicPr>
          <p:cNvPr id="7" name="Image 2" descr="C:\Users\User\.gemini\antigravity\scratch\smart_event_equipment\documentation\images\agile_wheel.png">    </p:cNvPr>
          <p:cNvPicPr>
            <a:picLocks noChangeAspect="1"/>
          </p:cNvPicPr>
          <p:nvPr/>
        </p:nvPicPr>
        <p:blipFill>
          <a:blip r:embed="rId3"/>
          <a:stretch>
            <a:fillRect/>
          </a:stretch>
        </p:blipFill>
        <p:spPr>
          <a:xfrm>
            <a:off x="731520" y="1920240"/>
            <a:ext cx="4389120" cy="4389120"/>
          </a:xfrm>
          <a:prstGeom prst="rect">
            <a:avLst/>
          </a:prstGeom>
        </p:spPr>
      </p:pic>
      <p:sp>
        <p:nvSpPr>
          <p:cNvPr id="8" name="Shape 3"/>
          <p:cNvSpPr/>
          <p:nvPr/>
        </p:nvSpPr>
        <p:spPr>
          <a:xfrm>
            <a:off x="5486400" y="2011680"/>
            <a:ext cx="0" cy="4206240"/>
          </a:xfrm>
          <a:prstGeom prst="line">
            <a:avLst/>
          </a:prstGeom>
          <a:noFill/>
          <a:ln w="31750">
            <a:solidFill>
              <a:srgbClr val="A86538"/>
            </a:solidFill>
            <a:prstDash val="solid"/>
          </a:ln>
        </p:spPr>
      </p:sp>
      <p:sp>
        <p:nvSpPr>
          <p:cNvPr id="9" name="Text 4"/>
          <p:cNvSpPr/>
          <p:nvPr/>
        </p:nvSpPr>
        <p:spPr>
          <a:xfrm>
            <a:off x="5852160" y="2011680"/>
            <a:ext cx="5303520" cy="4206240"/>
          </a:xfrm>
          <a:prstGeom prst="rect">
            <a:avLst/>
          </a:prstGeom>
          <a:noFill/>
          <a:ln/>
        </p:spPr>
        <p:txBody>
          <a:bodyPr wrap="square" rtlCol="0" anchor="ctr"/>
          <a:lstStyle/>
          <a:p>
            <a:pPr algn="l" indent="0" marL="0">
              <a:lnSpc>
                <a:spcPts val="2400"/>
              </a:lnSpc>
              <a:buNone/>
            </a:pPr>
            <a:r>
              <a:rPr lang="en-US" sz="1600" dirty="0">
                <a:solidFill>
                  <a:srgbClr val="28211D"/>
                </a:solidFill>
              </a:rPr>
              <a:t>• A software development methodology whereby work is broken into small, dynamic, iterative increments called sprints.</a:t>
            </a:r>
            <a:pPr algn="l" indent="0" marL="0">
              <a:lnSpc>
                <a:spcPts val="2400"/>
              </a:lnSpc>
              <a:buNone/>
            </a:pPr>
            <a:endParaRPr lang="en-US" sz="1600" dirty="0"/>
          </a:p>
          <a:p>
            <a:pPr algn="l" indent="0" marL="0">
              <a:lnSpc>
                <a:spcPts val="2400"/>
              </a:lnSpc>
              <a:buNone/>
            </a:pPr>
            <a:endParaRPr lang="en-US" sz="1600" dirty="0"/>
          </a:p>
          <a:p>
            <a:pPr algn="l" indent="0" marL="0">
              <a:lnSpc>
                <a:spcPts val="2400"/>
              </a:lnSpc>
              <a:buNone/>
            </a:pPr>
            <a:r>
              <a:rPr lang="en-US" sz="1600" dirty="0">
                <a:solidFill>
                  <a:srgbClr val="28211D"/>
                </a:solidFill>
              </a:rPr>
              <a:t>• Utilizes an iterative approach in software development, allowing continuous reviews with supervisor Madam Jihadah Binti Ahmad and adaptive enhancements.</a:t>
            </a:r>
            <a:endParaRPr lang="en-US" sz="1600" dirty="0"/>
          </a:p>
          <a:p>
            <a:pPr algn="l" indent="0" marL="0">
              <a:lnSpc>
                <a:spcPts val="2400"/>
              </a:lnSpc>
              <a:buNone/>
            </a:pPr>
            <a:endParaRPr lang="en-US" sz="1600" dirty="0"/>
          </a:p>
          <a:p>
            <a:pPr algn="l" indent="0" marL="0">
              <a:lnSpc>
                <a:spcPts val="2400"/>
              </a:lnSpc>
              <a:buNone/>
            </a:pPr>
            <a:endParaRPr lang="en-US" sz="1600" dirty="0"/>
          </a:p>
          <a:p>
            <a:pPr algn="l" indent="0" marL="0">
              <a:lnSpc>
                <a:spcPts val="2400"/>
              </a:lnSpc>
              <a:buNone/>
            </a:pPr>
            <a:r>
              <a:rPr lang="en-US" sz="1600" dirty="0">
                <a:solidFill>
                  <a:srgbClr val="28211D"/>
                </a:solidFill>
              </a:rPr>
              <a:t>• Executed across 5 two-week sprints: Sprint 1 (Architecture &amp; Database), Sprint 2 (Authentication &amp; Inventory CRUD), Sprint 3 (Booking Engine &amp; Packages), Sprint 4 (Return &amp; Damage Tracking), and Sprint 5 (Cloud Deployment &amp; UAT).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TESTING AND RESULT</a:t>
            </a:r>
            <a:endParaRPr lang="en-US" sz="2800" dirty="0"/>
          </a:p>
          <a:p>
            <a:pPr indent="0" marL="0">
              <a:buNone/>
            </a:pPr>
            <a:r>
              <a:rPr lang="en-US" sz="2800" b="1" dirty="0">
                <a:solidFill>
                  <a:srgbClr val="42220F"/>
                </a:solidFill>
                <a:latin typeface="Arial Black" pitchFamily="34" charset="0"/>
                <a:ea typeface="Arial Black" pitchFamily="34" charset="-122"/>
                <a:cs typeface="Arial Black" pitchFamily="34" charset="-120"/>
              </a:rPr>
              <a:t>UNIT TESTING</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7</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194560"/>
          <a:ext cx="10515600" cy="3840480"/>
        </p:xfrm>
        <a:graphic>
          <a:graphicData uri="http://schemas.openxmlformats.org/drawingml/2006/table">
            <a:tbl>
              <a:tblPr/>
              <a:tblGrid>
                <a:gridCol w="1005840"/>
                <a:gridCol w="1188720"/>
                <a:gridCol w="2468880"/>
                <a:gridCol w="2103120"/>
                <a:gridCol w="2834640"/>
                <a:gridCol w="914400"/>
              </a:tblGrid>
              <a:tr h="640080">
                <a:tc>
                  <a:txBody>
                    <a:bodyPr/>
                    <a:lstStyle/>
                    <a:p>
                      <a:pPr algn="ctr" indent="0" marL="0">
                        <a:buNone/>
                      </a:pPr>
                      <a:r>
                        <a:rPr lang="en-US" sz="1200" b="1" dirty="0">
                          <a:solidFill>
                            <a:srgbClr val="42220F"/>
                          </a:solidFill>
                        </a:rPr>
                        <a:t>Test ID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Module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Test Description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Input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Expected Output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42220F"/>
                          </a:solidFill>
                        </a:rPr>
                        <a:t>Status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r>
              <a:tr h="640080">
                <a:tc>
                  <a:txBody>
                    <a:bodyPr/>
                    <a:lstStyle/>
                    <a:p>
                      <a:pPr algn="ctr" indent="0" marL="0">
                        <a:buNone/>
                      </a:pPr>
                      <a:r>
                        <a:rPr lang="en-US" sz="1200" b="1" dirty="0">
                          <a:solidFill>
                            <a:srgbClr val="000000"/>
                          </a:solidFill>
                        </a:rPr>
                        <a:t>UT01</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Auth</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Validate user login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Valid email &amp; password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Login success, session created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UT02</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Auth</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Invalid password check</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Wrong password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Error message displayed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UT03</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Inventory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Stock availability calculation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Total qty &amp; active loans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Correct available qty returned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UT04</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Booking</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Date range validation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End date &lt;= Start date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Validation error triggered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UT05</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Returns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Auto maintenance ticket on damage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Item condition = 'Damaged'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Status set to 'Under Maintenance' &amp; ticket created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TESTING AND RESULT</a:t>
            </a:r>
            <a:endParaRPr lang="en-US" sz="2800" dirty="0"/>
          </a:p>
          <a:p>
            <a:pPr indent="0" marL="0">
              <a:buNone/>
            </a:pPr>
            <a:r>
              <a:rPr lang="en-US" sz="2800" b="1" dirty="0">
                <a:solidFill>
                  <a:srgbClr val="42220F"/>
                </a:solidFill>
                <a:latin typeface="Arial Black" pitchFamily="34" charset="0"/>
                <a:ea typeface="Arial Black" pitchFamily="34" charset="-122"/>
                <a:cs typeface="Arial Black" pitchFamily="34" charset="-120"/>
              </a:rPr>
              <a:t>INTEGRATION TESTING</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8</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2194560"/>
          <a:ext cx="10515600" cy="3840480"/>
        </p:xfrm>
        <a:graphic>
          <a:graphicData uri="http://schemas.openxmlformats.org/drawingml/2006/table">
            <a:tbl>
              <a:tblPr/>
              <a:tblGrid>
                <a:gridCol w="1005840"/>
                <a:gridCol w="2103120"/>
                <a:gridCol w="3108960"/>
                <a:gridCol w="3383280"/>
                <a:gridCol w="914400"/>
              </a:tblGrid>
              <a:tr h="640080">
                <a:tc>
                  <a:txBody>
                    <a:bodyPr/>
                    <a:lstStyle/>
                    <a:p>
                      <a:pPr algn="ctr" indent="0" marL="0">
                        <a:buNone/>
                      </a:pPr>
                      <a:r>
                        <a:rPr lang="en-US" sz="1200" b="1" dirty="0">
                          <a:solidFill>
                            <a:srgbClr val="42220F"/>
                          </a:solidFill>
                        </a:rPr>
                        <a:t>Test ID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Integration Area</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Test Description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indent="0" marL="0">
                        <a:buNone/>
                      </a:pPr>
                      <a:r>
                        <a:rPr lang="en-US" sz="1200" b="1" dirty="0">
                          <a:solidFill>
                            <a:srgbClr val="42220F"/>
                          </a:solidFill>
                        </a:rPr>
                        <a:t>Expected Result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c>
                  <a:txBody>
                    <a:bodyPr/>
                    <a:lstStyle/>
                    <a:p>
                      <a:pPr algn="ctr" indent="0" marL="0">
                        <a:buNone/>
                      </a:pPr>
                      <a:r>
                        <a:rPr lang="en-US" sz="1200" b="1" dirty="0">
                          <a:solidFill>
                            <a:srgbClr val="42220F"/>
                          </a:solidFill>
                        </a:rPr>
                        <a:t>Status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DECAB6"/>
                    </a:solidFill>
                  </a:tcPr>
                </a:tc>
              </a:tr>
              <a:tr h="640080">
                <a:tc>
                  <a:txBody>
                    <a:bodyPr/>
                    <a:lstStyle/>
                    <a:p>
                      <a:pPr algn="ctr" indent="0" marL="0">
                        <a:buNone/>
                      </a:pPr>
                      <a:r>
                        <a:rPr lang="en-US" sz="1200" b="1" dirty="0">
                          <a:solidFill>
                            <a:srgbClr val="000000"/>
                          </a:solidFill>
                        </a:rPr>
                        <a:t>IT01</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Frontend–Backend</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Booking form submission via POST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Request saved with unique Ref No</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IT02</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Booking–Inventory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Admin approval stock decrement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Available stock decremented automatically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IT03</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Auth–Protected API</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Direct access to admin routes as student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Unauthorized access redirected to login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IT04</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Package–Booking</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Bundled item cascading insert</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All package components populated into loan</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r h="640080">
                <a:tc>
                  <a:txBody>
                    <a:bodyPr/>
                    <a:lstStyle/>
                    <a:p>
                      <a:pPr algn="ctr" indent="0" marL="0">
                        <a:buNone/>
                      </a:pPr>
                      <a:r>
                        <a:rPr lang="en-US" sz="1200" b="1" dirty="0">
                          <a:solidFill>
                            <a:srgbClr val="000000"/>
                          </a:solidFill>
                        </a:rPr>
                        <a:t>IT05</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Return–Inventory</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Return desk good condition restore</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Stock returned to available inventory pool</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rPr>
                        <a:t>Pass</a:t>
                      </a:r>
                      <a:endParaRPr lang="en-US" sz="1200" dirty="0"/>
                    </a:p>
                  </a:txBody>
                  <a:tcPr marL="91440" marR="91440" marT="45720" marB="45720" anchor="ctr">
                    <a:lnL w="12700" cap="flat" cmpd="sng" algn="ctr">
                      <a:solidFill>
                        <a:srgbClr val="D2BEAC"/>
                      </a:solidFill>
                      <a:prstDash val="solid"/>
                      <a:round/>
                      <a:headEnd type="none" w="med" len="med"/>
                      <a:tailEnd type="none" w="med" len="med"/>
                    </a:lnL>
                    <a:lnR w="12700" cap="flat" cmpd="sng" algn="ctr">
                      <a:solidFill>
                        <a:srgbClr val="D2BEAC"/>
                      </a:solidFill>
                      <a:prstDash val="solid"/>
                      <a:round/>
                      <a:headEnd type="none" w="med" len="med"/>
                      <a:tailEnd type="none" w="med" len="med"/>
                    </a:lnR>
                    <a:lnT w="12700" cap="flat" cmpd="sng" algn="ctr">
                      <a:solidFill>
                        <a:srgbClr val="D2BEAC"/>
                      </a:solidFill>
                      <a:prstDash val="solid"/>
                      <a:round/>
                      <a:headEnd type="none" w="med" len="med"/>
                      <a:tailEnd type="none" w="med" len="med"/>
                    </a:lnT>
                    <a:lnB w="12700" cap="flat" cmpd="sng" algn="ctr">
                      <a:solidFill>
                        <a:srgbClr val="D2BEA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TESTING AND RESULT</a:t>
            </a:r>
            <a:endParaRPr lang="en-US" sz="2800" dirty="0"/>
          </a:p>
          <a:p>
            <a:pPr indent="0" marL="0">
              <a:buNone/>
            </a:pPr>
            <a:r>
              <a:rPr lang="en-US" sz="2800" b="1" dirty="0">
                <a:solidFill>
                  <a:srgbClr val="42220F"/>
                </a:solidFill>
                <a:latin typeface="Arial Black" pitchFamily="34" charset="0"/>
                <a:ea typeface="Arial Black" pitchFamily="34" charset="-122"/>
                <a:cs typeface="Arial Black" pitchFamily="34" charset="-120"/>
              </a:rPr>
              <a:t>UAT / POST-DEVELOPMENT QUESTIONNAIRE</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9</a:t>
            </a:r>
            <a:endParaRPr lang="en-US" sz="1600" dirty="0"/>
          </a:p>
        </p:txBody>
      </p:sp>
      <p:sp>
        <p:nvSpPr>
          <p:cNvPr id="7" name="Text 3"/>
          <p:cNvSpPr/>
          <p:nvPr/>
        </p:nvSpPr>
        <p:spPr>
          <a:xfrm>
            <a:off x="731520" y="2194560"/>
            <a:ext cx="5669280" cy="4023360"/>
          </a:xfrm>
          <a:prstGeom prst="rect">
            <a:avLst/>
          </a:prstGeom>
          <a:noFill/>
          <a:ln/>
        </p:spPr>
        <p:txBody>
          <a:bodyPr wrap="square" rtlCol="0" anchor="t"/>
          <a:lstStyle/>
          <a:p>
            <a:pPr algn="l" indent="0" marL="0">
              <a:lnSpc>
                <a:spcPts val="2400"/>
              </a:lnSpc>
              <a:buNone/>
            </a:pPr>
            <a:r>
              <a:rPr lang="en-US" sz="1600" dirty="0">
                <a:solidFill>
                  <a:srgbClr val="28211D"/>
                </a:solidFill>
              </a:rPr>
              <a:t>• A formal User Acceptance Testing (UAT) survey was administered to evaluate user satisfaction, system usability, and operational efficiency.</a:t>
            </a:r>
            <a:pPr algn="l" indent="0" marL="0">
              <a:lnSpc>
                <a:spcPts val="2400"/>
              </a:lnSpc>
              <a:buNone/>
            </a:pPr>
            <a:endParaRPr lang="en-US" sz="1600" dirty="0"/>
          </a:p>
          <a:p>
            <a:pPr algn="l" indent="0" marL="0">
              <a:lnSpc>
                <a:spcPts val="2400"/>
              </a:lnSpc>
              <a:buNone/>
            </a:pPr>
            <a:endParaRPr lang="en-US" sz="1600" dirty="0"/>
          </a:p>
          <a:p>
            <a:pPr algn="l" indent="0" marL="0">
              <a:lnSpc>
                <a:spcPts val="2400"/>
              </a:lnSpc>
              <a:buNone/>
            </a:pPr>
            <a:r>
              <a:rPr lang="en-US" sz="1600" dirty="0">
                <a:solidFill>
                  <a:srgbClr val="28211D"/>
                </a:solidFill>
              </a:rPr>
              <a:t>• Conducted with 30 verified UPTM respondents, comprising active student club executive committees, society presidents, event organizers, and faculty advisors.</a:t>
            </a:r>
            <a:endParaRPr lang="en-US" sz="1600" dirty="0"/>
          </a:p>
          <a:p>
            <a:pPr algn="l" indent="0" marL="0">
              <a:lnSpc>
                <a:spcPts val="2400"/>
              </a:lnSpc>
              <a:buNone/>
            </a:pPr>
            <a:endParaRPr lang="en-US" sz="1600" dirty="0"/>
          </a:p>
          <a:p>
            <a:pPr algn="l" indent="0" marL="0">
              <a:lnSpc>
                <a:spcPts val="2400"/>
              </a:lnSpc>
              <a:buNone/>
            </a:pPr>
            <a:endParaRPr lang="en-US" sz="1600" dirty="0"/>
          </a:p>
          <a:p>
            <a:pPr algn="l" indent="0" marL="0">
              <a:lnSpc>
                <a:spcPts val="2400"/>
              </a:lnSpc>
              <a:buNone/>
            </a:pPr>
            <a:r>
              <a:rPr lang="en-US" sz="1600" dirty="0">
                <a:solidFill>
                  <a:srgbClr val="28211D"/>
                </a:solidFill>
              </a:rPr>
              <a:t>• Structured across 6 evaluation sections: User Profile, Usability, Functionality, User Experience, Reliability, and Open-Ended Feedback.</a:t>
            </a:r>
            <a:endParaRPr lang="en-US" sz="1600" dirty="0"/>
          </a:p>
        </p:txBody>
      </p:sp>
      <p:pic>
        <p:nvPicPr>
          <p:cNvPr id="8" name="Image 2" descr="C:\Users\User\.gemini\antigravity\scratch\smart_event_equipment\documentation\images\real_card_header.png">    </p:cNvPr>
          <p:cNvPicPr>
            <a:picLocks noChangeAspect="1"/>
          </p:cNvPicPr>
          <p:nvPr/>
        </p:nvPicPr>
        <p:blipFill>
          <a:blip r:embed="rId3"/>
          <a:stretch>
            <a:fillRect/>
          </a:stretch>
        </p:blipFill>
        <p:spPr>
          <a:xfrm>
            <a:off x="6675120" y="2011680"/>
            <a:ext cx="4846320" cy="2194560"/>
          </a:xfrm>
          <a:prstGeom prst="rect">
            <a:avLst/>
          </a:prstGeom>
        </p:spPr>
      </p:pic>
      <p:sp>
        <p:nvSpPr>
          <p:cNvPr id="9" name="Shape 4"/>
          <p:cNvSpPr/>
          <p:nvPr/>
        </p:nvSpPr>
        <p:spPr>
          <a:xfrm>
            <a:off x="6675120" y="4389120"/>
            <a:ext cx="4846320" cy="1645920"/>
          </a:xfrm>
          <a:prstGeom prst="roundRect">
            <a:avLst>
              <a:gd name="adj" fmla="val 8333"/>
            </a:avLst>
          </a:prstGeom>
          <a:solidFill>
            <a:srgbClr val="F5EDE4"/>
          </a:solidFill>
          <a:ln w="19050">
            <a:solidFill>
              <a:srgbClr val="D9C2AD"/>
            </a:solidFill>
            <a:prstDash val="solid"/>
          </a:ln>
        </p:spPr>
      </p:sp>
      <p:sp>
        <p:nvSpPr>
          <p:cNvPr id="10" name="Text 5"/>
          <p:cNvSpPr/>
          <p:nvPr/>
        </p:nvSpPr>
        <p:spPr>
          <a:xfrm>
            <a:off x="6858000" y="4480560"/>
            <a:ext cx="4480560" cy="1463040"/>
          </a:xfrm>
          <a:prstGeom prst="rect">
            <a:avLst/>
          </a:prstGeom>
          <a:noFill/>
          <a:ln/>
        </p:spPr>
        <p:txBody>
          <a:bodyPr wrap="square" rtlCol="0" anchor="ctr"/>
          <a:lstStyle/>
          <a:p>
            <a:pPr indent="0" marL="0">
              <a:lnSpc>
                <a:spcPts val="1800"/>
              </a:lnSpc>
              <a:buNone/>
            </a:pPr>
            <a:r>
              <a:rPr lang="en-US" sz="1200" b="1" dirty="0">
                <a:solidFill>
                  <a:srgbClr val="42220F"/>
                </a:solidFill>
              </a:rPr>
              <a:t>📋 FORM STRUCTURE &amp; AUTHENTIC PARTICIPATION:</a:t>
            </a:r>
            <a:endParaRPr lang="en-US" sz="1200" dirty="0"/>
          </a:p>
          <a:p>
            <a:pPr indent="0" marL="0">
              <a:lnSpc>
                <a:spcPts val="1800"/>
              </a:lnSpc>
              <a:buNone/>
            </a:pPr>
            <a:r>
              <a:rPr lang="en-US" sz="1200" b="1" dirty="0">
                <a:solidFill>
                  <a:srgbClr val="42220F"/>
                </a:solidFill>
              </a:rPr>
              <a:t>• 30 Verified Campus Evaluators</a:t>
            </a:r>
            <a:endParaRPr lang="en-US" sz="1200" dirty="0"/>
          </a:p>
          <a:p>
            <a:pPr indent="0" marL="0">
              <a:lnSpc>
                <a:spcPts val="1800"/>
              </a:lnSpc>
              <a:buNone/>
            </a:pPr>
            <a:r>
              <a:rPr lang="en-US" sz="1200" b="1" dirty="0">
                <a:solidFill>
                  <a:srgbClr val="42220F"/>
                </a:solidFill>
              </a:rPr>
              <a:t>• Google Forms Cloud Analytics Sync</a:t>
            </a:r>
            <a:endParaRPr lang="en-US" sz="1200" dirty="0"/>
          </a:p>
          <a:p>
            <a:pPr indent="0" marL="0">
              <a:lnSpc>
                <a:spcPts val="1800"/>
              </a:lnSpc>
              <a:buNone/>
            </a:pPr>
            <a:r>
              <a:rPr lang="en-US" sz="1200" b="1" dirty="0">
                <a:solidFill>
                  <a:srgbClr val="42220F"/>
                </a:solidFill>
              </a:rPr>
              <a:t>• 6 Structured Evaluation Sections (Sections A to F)</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A: USER PROFILE</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10</a:t>
            </a:r>
            <a:endParaRPr lang="en-US" sz="1600" dirty="0"/>
          </a:p>
        </p:txBody>
      </p:sp>
      <p:pic>
        <p:nvPicPr>
          <p:cNvPr id="7" name="Image 2" descr="C:\Users\User\.gemini\antigravity\scratch\smart_event_equipment\documentation\images\real_card_role.png">    </p:cNvPr>
          <p:cNvPicPr>
            <a:picLocks noChangeAspect="1"/>
          </p:cNvPicPr>
          <p:nvPr/>
        </p:nvPicPr>
        <p:blipFill>
          <a:blip r:embed="rId3"/>
          <a:stretch>
            <a:fillRect/>
          </a:stretch>
        </p:blipFill>
        <p:spPr>
          <a:xfrm>
            <a:off x="731520" y="2103120"/>
            <a:ext cx="3383280" cy="3474720"/>
          </a:xfrm>
          <a:prstGeom prst="rect">
            <a:avLst/>
          </a:prstGeom>
        </p:spPr>
      </p:pic>
      <p:pic>
        <p:nvPicPr>
          <p:cNvPr id="8" name="Image 3" descr="C:\Users\User\.gemini\antigravity\scratch\smart_event_equipment\documentation\images\real_card_experience.png">    </p:cNvPr>
          <p:cNvPicPr>
            <a:picLocks noChangeAspect="1"/>
          </p:cNvPicPr>
          <p:nvPr/>
        </p:nvPicPr>
        <p:blipFill>
          <a:blip r:embed="rId4"/>
          <a:stretch>
            <a:fillRect/>
          </a:stretch>
        </p:blipFill>
        <p:spPr>
          <a:xfrm>
            <a:off x="4389120" y="2103120"/>
            <a:ext cx="3383280" cy="3474720"/>
          </a:xfrm>
          <a:prstGeom prst="rect">
            <a:avLst/>
          </a:prstGeom>
        </p:spPr>
      </p:pic>
      <p:pic>
        <p:nvPicPr>
          <p:cNvPr id="9" name="Image 4" descr="C:\Users\User\.gemini\antigravity\scratch\smart_event_equipment\documentation\images\real_card_frequency.png">    </p:cNvPr>
          <p:cNvPicPr>
            <a:picLocks noChangeAspect="1"/>
          </p:cNvPicPr>
          <p:nvPr/>
        </p:nvPicPr>
        <p:blipFill>
          <a:blip r:embed="rId5"/>
          <a:stretch>
            <a:fillRect/>
          </a:stretch>
        </p:blipFill>
        <p:spPr>
          <a:xfrm>
            <a:off x="8046720" y="2103120"/>
            <a:ext cx="3383280"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B: USABILITY EVALUATION</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11</a:t>
            </a:r>
            <a:endParaRPr lang="en-US" sz="1600" dirty="0"/>
          </a:p>
        </p:txBody>
      </p:sp>
      <p:pic>
        <p:nvPicPr>
          <p:cNvPr id="7" name="Image 2" descr="C:\Users\User\.gemini\antigravity\scratch\smart_event_equipment\documentation\images\real_card_navigation.png">    </p:cNvPr>
          <p:cNvPicPr>
            <a:picLocks noChangeAspect="1"/>
          </p:cNvPicPr>
          <p:nvPr/>
        </p:nvPicPr>
        <p:blipFill>
          <a:blip r:embed="rId3"/>
          <a:stretch>
            <a:fillRect/>
          </a:stretch>
        </p:blipFill>
        <p:spPr>
          <a:xfrm>
            <a:off x="731520" y="2103120"/>
            <a:ext cx="5120640" cy="3840480"/>
          </a:xfrm>
          <a:prstGeom prst="rect">
            <a:avLst/>
          </a:prstGeom>
        </p:spPr>
      </p:pic>
      <p:pic>
        <p:nvPicPr>
          <p:cNvPr id="8" name="Image 3" descr="C:\Users\User\.gemini\antigravity\scratch\smart_event_equipment\documentation\images\real_card_wizard.png">    </p:cNvPr>
          <p:cNvPicPr>
            <a:picLocks noChangeAspect="1"/>
          </p:cNvPicPr>
          <p:nvPr/>
        </p:nvPicPr>
        <p:blipFill>
          <a:blip r:embed="rId4"/>
          <a:stretch>
            <a:fillRect/>
          </a:stretch>
        </p:blipFill>
        <p:spPr>
          <a:xfrm>
            <a:off x="6217920" y="2103120"/>
            <a:ext cx="5120640" cy="3840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C: FUNCTIONALITY EVALUATION</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12</a:t>
            </a:r>
            <a:endParaRPr lang="en-US" sz="1600" dirty="0"/>
          </a:p>
        </p:txBody>
      </p:sp>
      <p:pic>
        <p:nvPicPr>
          <p:cNvPr id="7" name="Image 2" descr="C:\Users\User\.gemini\antigravity\scratch\smart_event_equipment\documentation\images\real_card_packages.png">    </p:cNvPr>
          <p:cNvPicPr>
            <a:picLocks noChangeAspect="1"/>
          </p:cNvPicPr>
          <p:nvPr/>
        </p:nvPicPr>
        <p:blipFill>
          <a:blip r:embed="rId3"/>
          <a:stretch>
            <a:fillRect/>
          </a:stretch>
        </p:blipFill>
        <p:spPr>
          <a:xfrm>
            <a:off x="731520" y="2103120"/>
            <a:ext cx="3383280" cy="3474720"/>
          </a:xfrm>
          <a:prstGeom prst="rect">
            <a:avLst/>
          </a:prstGeom>
        </p:spPr>
      </p:pic>
      <p:pic>
        <p:nvPicPr>
          <p:cNvPr id="8" name="Image 3" descr="C:\Users\User\.gemini\antigravity\scratch\smart_event_equipment\documentation\images\real_card_stock.png">    </p:cNvPr>
          <p:cNvPicPr>
            <a:picLocks noChangeAspect="1"/>
          </p:cNvPicPr>
          <p:nvPr/>
        </p:nvPicPr>
        <p:blipFill>
          <a:blip r:embed="rId4"/>
          <a:stretch>
            <a:fillRect/>
          </a:stretch>
        </p:blipFill>
        <p:spPr>
          <a:xfrm>
            <a:off x="4389120" y="2103120"/>
            <a:ext cx="3383280" cy="3474720"/>
          </a:xfrm>
          <a:prstGeom prst="rect">
            <a:avLst/>
          </a:prstGeom>
        </p:spPr>
      </p:pic>
      <p:pic>
        <p:nvPicPr>
          <p:cNvPr id="9" name="Image 4" descr="C:\Users\User\.gemini\antigravity\scratch\smart_event_equipment\documentation\images\real_card_conflict.png">    </p:cNvPr>
          <p:cNvPicPr>
            <a:picLocks noChangeAspect="1"/>
          </p:cNvPicPr>
          <p:nvPr/>
        </p:nvPicPr>
        <p:blipFill>
          <a:blip r:embed="rId5"/>
          <a:stretch>
            <a:fillRect/>
          </a:stretch>
        </p:blipFill>
        <p:spPr>
          <a:xfrm>
            <a:off x="8046720" y="2103120"/>
            <a:ext cx="3383280" cy="3474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D: REQUISITION EFFICIENCY &amp; DOCUMENTATION</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13</a:t>
            </a:r>
            <a:endParaRPr lang="en-US" sz="1600" dirty="0"/>
          </a:p>
        </p:txBody>
      </p:sp>
      <p:pic>
        <p:nvPicPr>
          <p:cNvPr id="7" name="Image 2" descr="C:\Users\User\.gemini\antigravity\scratch\smart_event_equipment\documentation\images\real_card_speed.png">    </p:cNvPr>
          <p:cNvPicPr>
            <a:picLocks noChangeAspect="1"/>
          </p:cNvPicPr>
          <p:nvPr/>
        </p:nvPicPr>
        <p:blipFill>
          <a:blip r:embed="rId3"/>
          <a:stretch>
            <a:fillRect/>
          </a:stretch>
        </p:blipFill>
        <p:spPr>
          <a:xfrm>
            <a:off x="731520" y="2103120"/>
            <a:ext cx="3383280" cy="3474720"/>
          </a:xfrm>
          <a:prstGeom prst="rect">
            <a:avLst/>
          </a:prstGeom>
        </p:spPr>
      </p:pic>
      <p:pic>
        <p:nvPicPr>
          <p:cNvPr id="8" name="Image 3" descr="C:\Users\User\.gemini\antigravity\scratch\smart_event_equipment\documentation\images\real_card_slip.png">    </p:cNvPr>
          <p:cNvPicPr>
            <a:picLocks noChangeAspect="1"/>
          </p:cNvPicPr>
          <p:nvPr/>
        </p:nvPicPr>
        <p:blipFill>
          <a:blip r:embed="rId4"/>
          <a:stretch>
            <a:fillRect/>
          </a:stretch>
        </p:blipFill>
        <p:spPr>
          <a:xfrm>
            <a:off x="4389120" y="2103120"/>
            <a:ext cx="3383280" cy="3474720"/>
          </a:xfrm>
          <a:prstGeom prst="rect">
            <a:avLst/>
          </a:prstGeom>
        </p:spPr>
      </p:pic>
      <p:pic>
        <p:nvPicPr>
          <p:cNvPr id="9" name="Image 4" descr="C:\Users\User\.gemini\antigravity\scratch\smart_event_equipment\documentation\images\real_card_return.png">    </p:cNvPr>
          <p:cNvPicPr>
            <a:picLocks noChangeAspect="1"/>
          </p:cNvPicPr>
          <p:nvPr/>
        </p:nvPicPr>
        <p:blipFill>
          <a:blip r:embed="rId5"/>
          <a:stretch>
            <a:fillRect/>
          </a:stretch>
        </p:blipFill>
        <p:spPr>
          <a:xfrm>
            <a:off x="8046720" y="2103120"/>
            <a:ext cx="3383280" cy="3474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E: OVERALL SATISFACTION</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14</a:t>
            </a:r>
            <a:endParaRPr lang="en-US" sz="1600" dirty="0"/>
          </a:p>
        </p:txBody>
      </p:sp>
      <p:pic>
        <p:nvPicPr>
          <p:cNvPr id="7" name="Image 2" descr="C:\Users\User\.gemini\antigravity\scratch\smart_event_equipment\documentation\images\real_card_features.png">    </p:cNvPr>
          <p:cNvPicPr>
            <a:picLocks noChangeAspect="1"/>
          </p:cNvPicPr>
          <p:nvPr/>
        </p:nvPicPr>
        <p:blipFill>
          <a:blip r:embed="rId3"/>
          <a:stretch>
            <a:fillRect/>
          </a:stretch>
        </p:blipFill>
        <p:spPr>
          <a:xfrm>
            <a:off x="731520" y="2103120"/>
            <a:ext cx="5120640" cy="3840480"/>
          </a:xfrm>
          <a:prstGeom prst="rect">
            <a:avLst/>
          </a:prstGeom>
        </p:spPr>
      </p:pic>
      <p:pic>
        <p:nvPicPr>
          <p:cNvPr id="8" name="Image 3" descr="C:\Users\User\.gemini\antigravity\scratch\smart_event_equipment\documentation\images\real_card_satisfaction.png">    </p:cNvPr>
          <p:cNvPicPr>
            <a:picLocks noChangeAspect="1"/>
          </p:cNvPicPr>
          <p:nvPr/>
        </p:nvPicPr>
        <p:blipFill>
          <a:blip r:embed="rId4"/>
          <a:stretch>
            <a:fillRect/>
          </a:stretch>
        </p:blipFill>
        <p:spPr>
          <a:xfrm>
            <a:off x="6217920" y="2103120"/>
            <a:ext cx="5120640" cy="3840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SECTION F: OPEN-ENDED FEEDBACK</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15</a:t>
            </a:r>
            <a:endParaRPr lang="en-US" sz="1600" dirty="0"/>
          </a:p>
        </p:txBody>
      </p:sp>
      <p:pic>
        <p:nvPicPr>
          <p:cNvPr id="7" name="Image 2" descr="C:\Users\User\.gemini\antigravity\scratch\smart_event_equipment\documentation\images\real_card_feedback.png">    </p:cNvPr>
          <p:cNvPicPr>
            <a:picLocks noChangeAspect="1"/>
          </p:cNvPicPr>
          <p:nvPr/>
        </p:nvPicPr>
        <p:blipFill>
          <a:blip r:embed="rId3"/>
          <a:stretch>
            <a:fillRect/>
          </a:stretch>
        </p:blipFill>
        <p:spPr>
          <a:xfrm>
            <a:off x="731520" y="1920240"/>
            <a:ext cx="5303520" cy="4297680"/>
          </a:xfrm>
          <a:prstGeom prst="rect">
            <a:avLst/>
          </a:prstGeom>
        </p:spPr>
      </p:pic>
      <p:sp>
        <p:nvSpPr>
          <p:cNvPr id="8" name="Shape 3"/>
          <p:cNvSpPr/>
          <p:nvPr/>
        </p:nvSpPr>
        <p:spPr>
          <a:xfrm>
            <a:off x="6309360" y="1920240"/>
            <a:ext cx="5120640" cy="4297680"/>
          </a:xfrm>
          <a:prstGeom prst="roundRect">
            <a:avLst>
              <a:gd name="adj" fmla="val 4255"/>
            </a:avLst>
          </a:prstGeom>
          <a:solidFill>
            <a:srgbClr val="FFFFFF"/>
          </a:solidFill>
          <a:ln w="25400">
            <a:solidFill>
              <a:srgbClr val="E6D8CA"/>
            </a:solidFill>
            <a:prstDash val="solid"/>
          </a:ln>
        </p:spPr>
      </p:sp>
      <p:sp>
        <p:nvSpPr>
          <p:cNvPr id="9" name="Text 4"/>
          <p:cNvSpPr/>
          <p:nvPr/>
        </p:nvSpPr>
        <p:spPr>
          <a:xfrm>
            <a:off x="6583680" y="2103120"/>
            <a:ext cx="4572000" cy="3931920"/>
          </a:xfrm>
          <a:prstGeom prst="rect">
            <a:avLst/>
          </a:prstGeom>
          <a:noFill/>
          <a:ln/>
        </p:spPr>
        <p:txBody>
          <a:bodyPr wrap="square" rtlCol="0" anchor="t"/>
          <a:lstStyle/>
          <a:p>
            <a:pPr indent="0" marL="0">
              <a:buNone/>
            </a:pPr>
            <a:r>
              <a:rPr lang="en-US" sz="1400" b="1" dirty="0">
                <a:solidFill>
                  <a:srgbClr val="42220F"/>
                </a:solidFill>
              </a:rPr>
              <a:t>KEY RESPONDENT SUGGESTIONS &amp; FEEDBACK:
</a:t>
            </a:r>
            <a:pPr indent="0" marL="0">
              <a:buNone/>
            </a:pPr>
            <a:r>
              <a:rPr lang="en-US" sz="1200" i="1" dirty="0">
                <a:solidFill>
                  <a:srgbClr val="28211D"/>
                </a:solidFill>
              </a:rPr>
              <a:t>• "Pakej barang sangat membantu kelab kami pilih barang tanpa tertinggal kabel atau mic."
</a:t>
            </a:r>
            <a:pPr indent="0" marL="0">
              <a:buNone/>
            </a:pPr>
            <a:r>
              <a:rPr lang="en-US" sz="1200" i="1" dirty="0">
                <a:solidFill>
                  <a:srgbClr val="28211D"/>
                </a:solidFill>
              </a:rPr>
              <a:t>• "Sistem semak stok live sangat memudahkan. Tak perlu turun naik makmal tanya pegawai."
</a:t>
            </a:r>
            <a:pPr indent="0" marL="0">
              <a:buNone/>
            </a:pPr>
            <a:r>
              <a:rPr lang="en-US" sz="1200" i="1" dirty="0">
                <a:solidFill>
                  <a:srgbClr val="28211D"/>
                </a:solidFill>
              </a:rPr>
              <a:t>• "Cadangan: Tambah lebih banyak pilihan pakej preset untuk program outdoor / sukan kampus."
</a:t>
            </a:r>
            <a:pPr indent="0" marL="0">
              <a:buNone/>
            </a:pPr>
            <a:r>
              <a:rPr lang="en-US" sz="1200" i="1" dirty="0">
                <a:solidFill>
                  <a:srgbClr val="28211D"/>
                </a:solidFill>
              </a:rPr>
              <a:t>• "Design kemas, warna brown aesthetic nampak profesional dan mudah difahami."</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CORE INNOVATIONS &amp; LIVE CLOUD</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16</a:t>
            </a:r>
            <a:endParaRPr lang="en-US" sz="1600" dirty="0"/>
          </a:p>
        </p:txBody>
      </p:sp>
      <p:sp>
        <p:nvSpPr>
          <p:cNvPr id="7" name="Shape 3"/>
          <p:cNvSpPr/>
          <p:nvPr/>
        </p:nvSpPr>
        <p:spPr>
          <a:xfrm>
            <a:off x="731520" y="2011680"/>
            <a:ext cx="3383280" cy="3291840"/>
          </a:xfrm>
          <a:prstGeom prst="roundRect">
            <a:avLst>
              <a:gd name="adj" fmla="val 5556"/>
            </a:avLst>
          </a:prstGeom>
          <a:solidFill>
            <a:srgbClr val="FFFFFF"/>
          </a:solidFill>
          <a:ln w="25400">
            <a:solidFill>
              <a:srgbClr val="E6D8CA"/>
            </a:solidFill>
            <a:prstDash val="solid"/>
          </a:ln>
        </p:spPr>
      </p:sp>
      <p:sp>
        <p:nvSpPr>
          <p:cNvPr id="8" name="Text 4"/>
          <p:cNvSpPr/>
          <p:nvPr/>
        </p:nvSpPr>
        <p:spPr>
          <a:xfrm>
            <a:off x="1005840" y="2194560"/>
            <a:ext cx="2834640" cy="457200"/>
          </a:xfrm>
          <a:prstGeom prst="rect">
            <a:avLst/>
          </a:prstGeom>
          <a:noFill/>
          <a:ln/>
        </p:spPr>
        <p:txBody>
          <a:bodyPr wrap="square" rtlCol="0" anchor="ctr"/>
          <a:lstStyle/>
          <a:p>
            <a:pPr indent="0" marL="0">
              <a:buNone/>
            </a:pPr>
            <a:r>
              <a:rPr lang="en-US" sz="2800" b="1" dirty="0">
                <a:solidFill>
                  <a:srgbClr val="A86538"/>
                </a:solidFill>
                <a:latin typeface="Arial Black" pitchFamily="34" charset="0"/>
                <a:ea typeface="Arial Black" pitchFamily="34" charset="-122"/>
                <a:cs typeface="Arial Black" pitchFamily="34" charset="-120"/>
              </a:rPr>
              <a:t>01</a:t>
            </a:r>
            <a:endParaRPr lang="en-US" sz="2800" dirty="0"/>
          </a:p>
        </p:txBody>
      </p:sp>
      <p:sp>
        <p:nvSpPr>
          <p:cNvPr id="9" name="Text 5"/>
          <p:cNvSpPr/>
          <p:nvPr/>
        </p:nvSpPr>
        <p:spPr>
          <a:xfrm>
            <a:off x="1005840" y="2743200"/>
            <a:ext cx="2834640" cy="731520"/>
          </a:xfrm>
          <a:prstGeom prst="rect">
            <a:avLst/>
          </a:prstGeom>
          <a:noFill/>
          <a:ln/>
        </p:spPr>
        <p:txBody>
          <a:bodyPr wrap="square" rtlCol="0" anchor="ctr"/>
          <a:lstStyle/>
          <a:p>
            <a:pPr indent="0" marL="0">
              <a:buNone/>
            </a:pPr>
            <a:r>
              <a:rPr lang="en-US" sz="1500" b="1" dirty="0">
                <a:solidFill>
                  <a:srgbClr val="42220F"/>
                </a:solidFill>
                <a:latin typeface="Arial Black" pitchFamily="34" charset="0"/>
                <a:ea typeface="Arial Black" pitchFamily="34" charset="-122"/>
                <a:cs typeface="Arial Black" pitchFamily="34" charset="-120"/>
              </a:rPr>
              <a:t>Automated Conflict Detection Engine</a:t>
            </a:r>
            <a:endParaRPr lang="en-US" sz="1500" dirty="0"/>
          </a:p>
        </p:txBody>
      </p:sp>
      <p:sp>
        <p:nvSpPr>
          <p:cNvPr id="10" name="Text 6"/>
          <p:cNvSpPr/>
          <p:nvPr/>
        </p:nvSpPr>
        <p:spPr>
          <a:xfrm>
            <a:off x="1005840" y="3474720"/>
            <a:ext cx="2834640" cy="1645920"/>
          </a:xfrm>
          <a:prstGeom prst="rect">
            <a:avLst/>
          </a:prstGeom>
          <a:noFill/>
          <a:ln/>
        </p:spPr>
        <p:txBody>
          <a:bodyPr wrap="square" rtlCol="0" anchor="ctr"/>
          <a:lstStyle/>
          <a:p>
            <a:pPr indent="0" marL="0">
              <a:buNone/>
            </a:pPr>
            <a:r>
              <a:rPr lang="en-US" sz="1200" dirty="0">
                <a:solidFill>
                  <a:srgbClr val="28211D"/>
                </a:solidFill>
                <a:latin typeface="Arial" pitchFamily="34" charset="0"/>
                <a:ea typeface="Arial" pitchFamily="34" charset="-122"/>
                <a:cs typeface="Arial" pitchFamily="34" charset="-120"/>
              </a:rPr>
              <a:t>Mathematical date-range verification blocks overlapping bookings in real time, guaranteeing 0% double bookings.</a:t>
            </a:r>
            <a:endParaRPr lang="en-US" sz="1200" dirty="0"/>
          </a:p>
        </p:txBody>
      </p:sp>
      <p:sp>
        <p:nvSpPr>
          <p:cNvPr id="11" name="Shape 7"/>
          <p:cNvSpPr/>
          <p:nvPr/>
        </p:nvSpPr>
        <p:spPr>
          <a:xfrm>
            <a:off x="4297680" y="2011680"/>
            <a:ext cx="3383280" cy="3291840"/>
          </a:xfrm>
          <a:prstGeom prst="roundRect">
            <a:avLst>
              <a:gd name="adj" fmla="val 5556"/>
            </a:avLst>
          </a:prstGeom>
          <a:solidFill>
            <a:srgbClr val="FFFFFF"/>
          </a:solidFill>
          <a:ln w="25400">
            <a:solidFill>
              <a:srgbClr val="E6D8CA"/>
            </a:solidFill>
            <a:prstDash val="solid"/>
          </a:ln>
        </p:spPr>
      </p:sp>
      <p:sp>
        <p:nvSpPr>
          <p:cNvPr id="12" name="Text 8"/>
          <p:cNvSpPr/>
          <p:nvPr/>
        </p:nvSpPr>
        <p:spPr>
          <a:xfrm>
            <a:off x="4572000" y="2194560"/>
            <a:ext cx="2834640" cy="457200"/>
          </a:xfrm>
          <a:prstGeom prst="rect">
            <a:avLst/>
          </a:prstGeom>
          <a:noFill/>
          <a:ln/>
        </p:spPr>
        <p:txBody>
          <a:bodyPr wrap="square" rtlCol="0" anchor="ctr"/>
          <a:lstStyle/>
          <a:p>
            <a:pPr indent="0" marL="0">
              <a:buNone/>
            </a:pPr>
            <a:r>
              <a:rPr lang="en-US" sz="2800" b="1" dirty="0">
                <a:solidFill>
                  <a:srgbClr val="A86538"/>
                </a:solidFill>
                <a:latin typeface="Arial Black" pitchFamily="34" charset="0"/>
                <a:ea typeface="Arial Black" pitchFamily="34" charset="-122"/>
                <a:cs typeface="Arial Black" pitchFamily="34" charset="-120"/>
              </a:rPr>
              <a:t>02</a:t>
            </a:r>
            <a:endParaRPr lang="en-US" sz="2800" dirty="0"/>
          </a:p>
        </p:txBody>
      </p:sp>
      <p:sp>
        <p:nvSpPr>
          <p:cNvPr id="13" name="Text 9"/>
          <p:cNvSpPr/>
          <p:nvPr/>
        </p:nvSpPr>
        <p:spPr>
          <a:xfrm>
            <a:off x="4572000" y="2743200"/>
            <a:ext cx="2834640" cy="731520"/>
          </a:xfrm>
          <a:prstGeom prst="rect">
            <a:avLst/>
          </a:prstGeom>
          <a:noFill/>
          <a:ln/>
        </p:spPr>
        <p:txBody>
          <a:bodyPr wrap="square" rtlCol="0" anchor="ctr"/>
          <a:lstStyle/>
          <a:p>
            <a:pPr indent="0" marL="0">
              <a:buNone/>
            </a:pPr>
            <a:r>
              <a:rPr lang="en-US" sz="1500" b="1" dirty="0">
                <a:solidFill>
                  <a:srgbClr val="42220F"/>
                </a:solidFill>
                <a:latin typeface="Arial Black" pitchFamily="34" charset="0"/>
                <a:ea typeface="Arial Black" pitchFamily="34" charset="-122"/>
                <a:cs typeface="Arial Black" pitchFamily="34" charset="-120"/>
              </a:rPr>
              <a:t>1-Click Smart Event Packages</a:t>
            </a:r>
            <a:endParaRPr lang="en-US" sz="1500" dirty="0"/>
          </a:p>
        </p:txBody>
      </p:sp>
      <p:sp>
        <p:nvSpPr>
          <p:cNvPr id="14" name="Text 10"/>
          <p:cNvSpPr/>
          <p:nvPr/>
        </p:nvSpPr>
        <p:spPr>
          <a:xfrm>
            <a:off x="4572000" y="3474720"/>
            <a:ext cx="2834640" cy="1645920"/>
          </a:xfrm>
          <a:prstGeom prst="rect">
            <a:avLst/>
          </a:prstGeom>
          <a:noFill/>
          <a:ln/>
        </p:spPr>
        <p:txBody>
          <a:bodyPr wrap="square" rtlCol="0" anchor="ctr"/>
          <a:lstStyle/>
          <a:p>
            <a:pPr indent="0" marL="0">
              <a:buNone/>
            </a:pPr>
            <a:r>
              <a:rPr lang="en-US" sz="1200" dirty="0">
                <a:solidFill>
                  <a:srgbClr val="28211D"/>
                </a:solidFill>
                <a:latin typeface="Arial" pitchFamily="34" charset="0"/>
                <a:ea typeface="Arial" pitchFamily="34" charset="-122"/>
                <a:cs typeface="Arial" pitchFamily="34" charset="-120"/>
              </a:rPr>
              <a:t>Pre-bundled gear sets (Basic PA, Auditorium, Seminar) slash requisition submission time from 15 mins to under 60 seconds (85% reduction).</a:t>
            </a:r>
            <a:endParaRPr lang="en-US" sz="1200" dirty="0"/>
          </a:p>
        </p:txBody>
      </p:sp>
      <p:sp>
        <p:nvSpPr>
          <p:cNvPr id="15" name="Shape 11"/>
          <p:cNvSpPr/>
          <p:nvPr/>
        </p:nvSpPr>
        <p:spPr>
          <a:xfrm>
            <a:off x="7863840" y="2011680"/>
            <a:ext cx="3383280" cy="3291840"/>
          </a:xfrm>
          <a:prstGeom prst="roundRect">
            <a:avLst>
              <a:gd name="adj" fmla="val 5556"/>
            </a:avLst>
          </a:prstGeom>
          <a:solidFill>
            <a:srgbClr val="FFFFFF"/>
          </a:solidFill>
          <a:ln w="25400">
            <a:solidFill>
              <a:srgbClr val="E6D8CA"/>
            </a:solidFill>
            <a:prstDash val="solid"/>
          </a:ln>
        </p:spPr>
      </p:sp>
      <p:sp>
        <p:nvSpPr>
          <p:cNvPr id="16" name="Text 12"/>
          <p:cNvSpPr/>
          <p:nvPr/>
        </p:nvSpPr>
        <p:spPr>
          <a:xfrm>
            <a:off x="8138160" y="2194560"/>
            <a:ext cx="2834640" cy="457200"/>
          </a:xfrm>
          <a:prstGeom prst="rect">
            <a:avLst/>
          </a:prstGeom>
          <a:noFill/>
          <a:ln/>
        </p:spPr>
        <p:txBody>
          <a:bodyPr wrap="square" rtlCol="0" anchor="ctr"/>
          <a:lstStyle/>
          <a:p>
            <a:pPr indent="0" marL="0">
              <a:buNone/>
            </a:pPr>
            <a:r>
              <a:rPr lang="en-US" sz="2800" b="1" dirty="0">
                <a:solidFill>
                  <a:srgbClr val="A86538"/>
                </a:solidFill>
                <a:latin typeface="Arial Black" pitchFamily="34" charset="0"/>
                <a:ea typeface="Arial Black" pitchFamily="34" charset="-122"/>
                <a:cs typeface="Arial Black" pitchFamily="34" charset="-120"/>
              </a:rPr>
              <a:t>03</a:t>
            </a:r>
            <a:endParaRPr lang="en-US" sz="2800" dirty="0"/>
          </a:p>
        </p:txBody>
      </p:sp>
      <p:sp>
        <p:nvSpPr>
          <p:cNvPr id="17" name="Text 13"/>
          <p:cNvSpPr/>
          <p:nvPr/>
        </p:nvSpPr>
        <p:spPr>
          <a:xfrm>
            <a:off x="8138160" y="2743200"/>
            <a:ext cx="2834640" cy="731520"/>
          </a:xfrm>
          <a:prstGeom prst="rect">
            <a:avLst/>
          </a:prstGeom>
          <a:noFill/>
          <a:ln/>
        </p:spPr>
        <p:txBody>
          <a:bodyPr wrap="square" rtlCol="0" anchor="ctr"/>
          <a:lstStyle/>
          <a:p>
            <a:pPr indent="0" marL="0">
              <a:buNone/>
            </a:pPr>
            <a:r>
              <a:rPr lang="en-US" sz="1500" b="1" dirty="0">
                <a:solidFill>
                  <a:srgbClr val="42220F"/>
                </a:solidFill>
                <a:latin typeface="Arial Black" pitchFamily="34" charset="0"/>
                <a:ea typeface="Arial Black" pitchFamily="34" charset="-122"/>
                <a:cs typeface="Arial Black" pitchFamily="34" charset="-120"/>
              </a:rPr>
              <a:t>Return Desk &amp; Condition Audit Engine</a:t>
            </a:r>
            <a:endParaRPr lang="en-US" sz="1500" dirty="0"/>
          </a:p>
        </p:txBody>
      </p:sp>
      <p:sp>
        <p:nvSpPr>
          <p:cNvPr id="18" name="Text 14"/>
          <p:cNvSpPr/>
          <p:nvPr/>
        </p:nvSpPr>
        <p:spPr>
          <a:xfrm>
            <a:off x="8138160" y="3474720"/>
            <a:ext cx="2834640" cy="1645920"/>
          </a:xfrm>
          <a:prstGeom prst="rect">
            <a:avLst/>
          </a:prstGeom>
          <a:noFill/>
          <a:ln/>
        </p:spPr>
        <p:txBody>
          <a:bodyPr wrap="square" rtlCol="0" anchor="ctr"/>
          <a:lstStyle/>
          <a:p>
            <a:pPr indent="0" marL="0">
              <a:buNone/>
            </a:pPr>
            <a:r>
              <a:rPr lang="en-US" sz="1200" dirty="0">
                <a:solidFill>
                  <a:srgbClr val="28211D"/>
                </a:solidFill>
                <a:latin typeface="Arial" pitchFamily="34" charset="0"/>
                <a:ea typeface="Arial" pitchFamily="34" charset="-122"/>
                <a:cs typeface="Arial" pitchFamily="34" charset="-120"/>
              </a:rPr>
              <a:t>Standardized physical condition inspection (Good vs Damaged) with automated maintenance ticket creation and instant inventory pool locking.</a:t>
            </a:r>
            <a:endParaRPr lang="en-US" sz="1200" dirty="0"/>
          </a:p>
        </p:txBody>
      </p:sp>
      <p:sp>
        <p:nvSpPr>
          <p:cNvPr id="19" name="Shape 15"/>
          <p:cNvSpPr/>
          <p:nvPr/>
        </p:nvSpPr>
        <p:spPr>
          <a:xfrm>
            <a:off x="731520" y="5486400"/>
            <a:ext cx="9966960" cy="731520"/>
          </a:xfrm>
          <a:prstGeom prst="roundRect">
            <a:avLst>
              <a:gd name="adj" fmla="val 18750"/>
            </a:avLst>
          </a:prstGeom>
          <a:solidFill>
            <a:srgbClr val="F5EBE1"/>
          </a:solidFill>
          <a:ln w="19050">
            <a:solidFill>
              <a:srgbClr val="D9C0A8"/>
            </a:solidFill>
            <a:prstDash val="solid"/>
          </a:ln>
        </p:spPr>
      </p:sp>
      <p:sp>
        <p:nvSpPr>
          <p:cNvPr id="20" name="Text 16"/>
          <p:cNvSpPr/>
          <p:nvPr/>
        </p:nvSpPr>
        <p:spPr>
          <a:xfrm>
            <a:off x="914400" y="5486400"/>
            <a:ext cx="9601200" cy="731520"/>
          </a:xfrm>
          <a:prstGeom prst="rect">
            <a:avLst/>
          </a:prstGeom>
          <a:noFill/>
          <a:ln/>
        </p:spPr>
        <p:txBody>
          <a:bodyPr wrap="square" rtlCol="0" anchor="ctr"/>
          <a:lstStyle/>
          <a:p>
            <a:pPr algn="ctr" indent="0" marL="0">
              <a:buNone/>
            </a:pPr>
            <a:r>
              <a:rPr lang="en-US" sz="1300" b="1" dirty="0">
                <a:solidFill>
                  <a:srgbClr val="5C3214"/>
                </a:solidFill>
                <a:latin typeface="Arial Black" pitchFamily="34" charset="0"/>
                <a:ea typeface="Arial Black" pitchFamily="34" charset="-122"/>
                <a:cs typeface="Arial Black" pitchFamily="34" charset="-120"/>
              </a:rPr>
              <a:t>🌐 LIVE CLOUD DEPLOYMENT: https://pinjamgeng.infinityfreeapp.com/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FUTURE WORKS</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17</a:t>
            </a:r>
            <a:endParaRPr lang="en-US" sz="1600" dirty="0"/>
          </a:p>
        </p:txBody>
      </p:sp>
      <p:sp>
        <p:nvSpPr>
          <p:cNvPr id="7" name="Shape 3"/>
          <p:cNvSpPr/>
          <p:nvPr/>
        </p:nvSpPr>
        <p:spPr>
          <a:xfrm>
            <a:off x="731520" y="2103120"/>
            <a:ext cx="822960" cy="822960"/>
          </a:xfrm>
          <a:prstGeom prst="roundRect">
            <a:avLst>
              <a:gd name="adj" fmla="val 44444"/>
            </a:avLst>
          </a:prstGeom>
          <a:solidFill>
            <a:srgbClr val="A86538"/>
          </a:solidFill>
          <a:ln w="12700">
            <a:solidFill>
              <a:srgbClr val="A86538"/>
            </a:solidFill>
            <a:prstDash val="solid"/>
          </a:ln>
        </p:spPr>
      </p:sp>
      <p:sp>
        <p:nvSpPr>
          <p:cNvPr id="8" name="Text 4"/>
          <p:cNvSpPr/>
          <p:nvPr/>
        </p:nvSpPr>
        <p:spPr>
          <a:xfrm>
            <a:off x="731520" y="21031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1</a:t>
            </a:r>
            <a:endParaRPr lang="en-US" sz="2600" dirty="0"/>
          </a:p>
        </p:txBody>
      </p:sp>
      <p:sp>
        <p:nvSpPr>
          <p:cNvPr id="9" name="Text 5"/>
          <p:cNvSpPr/>
          <p:nvPr/>
        </p:nvSpPr>
        <p:spPr>
          <a:xfrm>
            <a:off x="1737360" y="2057400"/>
            <a:ext cx="9144000" cy="914400"/>
          </a:xfrm>
          <a:prstGeom prst="rect">
            <a:avLst/>
          </a:prstGeom>
          <a:noFill/>
          <a:ln/>
        </p:spPr>
        <p:txBody>
          <a:bodyPr wrap="square" lIns="0" tIns="0" rIns="0" bIns="0" rtlCol="0" anchor="ctr"/>
          <a:lstStyle/>
          <a:p>
            <a:pPr indent="0" marL="0">
              <a:buNone/>
            </a:pPr>
            <a:r>
              <a:rPr lang="en-US" sz="1700" b="1" dirty="0">
                <a:solidFill>
                  <a:srgbClr val="42220F"/>
                </a:solidFill>
              </a:rPr>
              <a:t>IoT Barcode &amp; QR Code Hardware Scanning Integration
</a:t>
            </a:r>
            <a:pPr indent="0" marL="0">
              <a:buNone/>
            </a:pPr>
            <a:r>
              <a:rPr lang="en-US" sz="1300" dirty="0">
                <a:solidFill>
                  <a:srgbClr val="28211D"/>
                </a:solidFill>
              </a:rPr>
              <a:t>Direct physical scanning of asset tags during counter checkout and return to achieve sub-second verification and eliminate manual entry.</a:t>
            </a:r>
            <a:endParaRPr lang="en-US" sz="1700" dirty="0"/>
          </a:p>
        </p:txBody>
      </p:sp>
      <p:sp>
        <p:nvSpPr>
          <p:cNvPr id="10" name="Shape 6"/>
          <p:cNvSpPr/>
          <p:nvPr/>
        </p:nvSpPr>
        <p:spPr>
          <a:xfrm>
            <a:off x="731520" y="3337560"/>
            <a:ext cx="822960" cy="822960"/>
          </a:xfrm>
          <a:prstGeom prst="roundRect">
            <a:avLst>
              <a:gd name="adj" fmla="val 44444"/>
            </a:avLst>
          </a:prstGeom>
          <a:solidFill>
            <a:srgbClr val="A86538"/>
          </a:solidFill>
          <a:ln w="12700">
            <a:solidFill>
              <a:srgbClr val="A86538"/>
            </a:solidFill>
            <a:prstDash val="solid"/>
          </a:ln>
        </p:spPr>
      </p:sp>
      <p:sp>
        <p:nvSpPr>
          <p:cNvPr id="11" name="Text 7"/>
          <p:cNvSpPr/>
          <p:nvPr/>
        </p:nvSpPr>
        <p:spPr>
          <a:xfrm>
            <a:off x="731520" y="333756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2</a:t>
            </a:r>
            <a:endParaRPr lang="en-US" sz="2600" dirty="0"/>
          </a:p>
        </p:txBody>
      </p:sp>
      <p:sp>
        <p:nvSpPr>
          <p:cNvPr id="12" name="Text 8"/>
          <p:cNvSpPr/>
          <p:nvPr/>
        </p:nvSpPr>
        <p:spPr>
          <a:xfrm>
            <a:off x="1737360" y="3291840"/>
            <a:ext cx="9144000" cy="914400"/>
          </a:xfrm>
          <a:prstGeom prst="rect">
            <a:avLst/>
          </a:prstGeom>
          <a:noFill/>
          <a:ln/>
        </p:spPr>
        <p:txBody>
          <a:bodyPr wrap="square" lIns="0" tIns="0" rIns="0" bIns="0" rtlCol="0" anchor="ctr"/>
          <a:lstStyle/>
          <a:p>
            <a:pPr indent="0" marL="0">
              <a:buNone/>
            </a:pPr>
            <a:r>
              <a:rPr lang="en-US" sz="1700" b="1" dirty="0">
                <a:solidFill>
                  <a:srgbClr val="42220F"/>
                </a:solidFill>
              </a:rPr>
              <a:t>Automated WhatsApp &amp; Telegram Push Notifications
</a:t>
            </a:r>
            <a:pPr indent="0" marL="0">
              <a:buNone/>
            </a:pPr>
            <a:r>
              <a:rPr lang="en-US" sz="1300" dirty="0">
                <a:solidFill>
                  <a:srgbClr val="28211D"/>
                </a:solidFill>
              </a:rPr>
              <a:t>Instant real-time messaging bots delivering instant booking approval alerts, pickup schedules, and return deadline reminders directly to student phones.</a:t>
            </a:r>
            <a:endParaRPr lang="en-US" sz="1700" dirty="0"/>
          </a:p>
        </p:txBody>
      </p:sp>
      <p:sp>
        <p:nvSpPr>
          <p:cNvPr id="13" name="Shape 9"/>
          <p:cNvSpPr/>
          <p:nvPr/>
        </p:nvSpPr>
        <p:spPr>
          <a:xfrm>
            <a:off x="731520" y="4572000"/>
            <a:ext cx="822960" cy="822960"/>
          </a:xfrm>
          <a:prstGeom prst="roundRect">
            <a:avLst>
              <a:gd name="adj" fmla="val 44444"/>
            </a:avLst>
          </a:prstGeom>
          <a:solidFill>
            <a:srgbClr val="A86538"/>
          </a:solidFill>
          <a:ln w="12700">
            <a:solidFill>
              <a:srgbClr val="A86538"/>
            </a:solidFill>
            <a:prstDash val="solid"/>
          </a:ln>
        </p:spPr>
      </p:sp>
      <p:sp>
        <p:nvSpPr>
          <p:cNvPr id="14" name="Text 10"/>
          <p:cNvSpPr/>
          <p:nvPr/>
        </p:nvSpPr>
        <p:spPr>
          <a:xfrm>
            <a:off x="731520" y="4572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3</a:t>
            </a:r>
            <a:endParaRPr lang="en-US" sz="2600" dirty="0"/>
          </a:p>
        </p:txBody>
      </p:sp>
      <p:sp>
        <p:nvSpPr>
          <p:cNvPr id="15" name="Text 11"/>
          <p:cNvSpPr/>
          <p:nvPr/>
        </p:nvSpPr>
        <p:spPr>
          <a:xfrm>
            <a:off x="1737360" y="4526280"/>
            <a:ext cx="9144000" cy="914400"/>
          </a:xfrm>
          <a:prstGeom prst="rect">
            <a:avLst/>
          </a:prstGeom>
          <a:noFill/>
          <a:ln/>
        </p:spPr>
        <p:txBody>
          <a:bodyPr wrap="square" lIns="0" tIns="0" rIns="0" bIns="0" rtlCol="0" anchor="ctr"/>
          <a:lstStyle/>
          <a:p>
            <a:pPr indent="0" marL="0">
              <a:buNone/>
            </a:pPr>
            <a:r>
              <a:rPr lang="en-US" sz="1700" b="1" dirty="0">
                <a:solidFill>
                  <a:srgbClr val="42220F"/>
                </a:solidFill>
              </a:rPr>
              <a:t>FPX Online Payment Gateway &amp; Damage Fine Settlement
</a:t>
            </a:r>
            <a:pPr indent="0" marL="0">
              <a:buNone/>
            </a:pPr>
            <a:r>
              <a:rPr lang="en-US" sz="1300" dirty="0">
                <a:solidFill>
                  <a:srgbClr val="28211D"/>
                </a:solidFill>
              </a:rPr>
              <a:t>Direct digital fine settlement for damage penalties via FPX and predictive forecasting to prepare stock ahead of peak campus event seasons.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gemini\antigravity\scratch\smart_event_equipment\documentation\images\brown_content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365760"/>
            <a:ext cx="2468880" cy="640080"/>
          </a:xfrm>
          <a:prstGeom prst="rect">
            <a:avLst/>
          </a:prstGeom>
        </p:spPr>
      </p:pic>
      <p:sp>
        <p:nvSpPr>
          <p:cNvPr id="4" name="Text 0"/>
          <p:cNvSpPr/>
          <p:nvPr/>
        </p:nvSpPr>
        <p:spPr>
          <a:xfrm>
            <a:off x="548640" y="1143000"/>
            <a:ext cx="10515600" cy="685800"/>
          </a:xfrm>
          <a:prstGeom prst="rect">
            <a:avLst/>
          </a:prstGeom>
          <a:noFill/>
          <a:ln/>
        </p:spPr>
        <p:txBody>
          <a:bodyPr wrap="square" lIns="0" tIns="0" rIns="0" bIns="0" rtlCol="0" anchor="ctr"/>
          <a:lstStyle/>
          <a:p>
            <a:pPr indent="0" marL="0">
              <a:buNone/>
            </a:pPr>
            <a:r>
              <a:rPr lang="en-US" sz="2800" b="1" dirty="0">
                <a:solidFill>
                  <a:srgbClr val="42220F"/>
                </a:solidFill>
                <a:latin typeface="Arial Black" pitchFamily="34" charset="0"/>
                <a:ea typeface="Arial Black" pitchFamily="34" charset="-122"/>
                <a:cs typeface="Arial Black" pitchFamily="34" charset="-120"/>
              </a:rPr>
              <a:t>CONCLUSION</a:t>
            </a:r>
            <a:endParaRPr lang="en-US" sz="2800" dirty="0"/>
          </a:p>
        </p:txBody>
      </p:sp>
      <p:sp>
        <p:nvSpPr>
          <p:cNvPr id="5" name="Shape 1"/>
          <p:cNvSpPr/>
          <p:nvPr/>
        </p:nvSpPr>
        <p:spPr>
          <a:xfrm>
            <a:off x="11064240" y="6035040"/>
            <a:ext cx="640080" cy="457200"/>
          </a:xfrm>
          <a:prstGeom prst="roundRect">
            <a:avLst>
              <a:gd name="adj" fmla="val 50000"/>
            </a:avLst>
          </a:prstGeom>
          <a:solidFill>
            <a:srgbClr val="A86538"/>
          </a:solidFill>
          <a:ln w="12700">
            <a:solidFill>
              <a:srgbClr val="A86538"/>
            </a:solidFill>
            <a:prstDash val="solid"/>
          </a:ln>
        </p:spPr>
      </p:sp>
      <p:sp>
        <p:nvSpPr>
          <p:cNvPr id="6" name="Text 2"/>
          <p:cNvSpPr/>
          <p:nvPr/>
        </p:nvSpPr>
        <p:spPr>
          <a:xfrm>
            <a:off x="11064240" y="6035040"/>
            <a:ext cx="6400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18</a:t>
            </a:r>
            <a:endParaRPr lang="en-US" sz="1600" dirty="0"/>
          </a:p>
        </p:txBody>
      </p:sp>
      <p:sp>
        <p:nvSpPr>
          <p:cNvPr id="7" name="Text 3"/>
          <p:cNvSpPr/>
          <p:nvPr/>
        </p:nvSpPr>
        <p:spPr>
          <a:xfrm>
            <a:off x="914400" y="2103120"/>
            <a:ext cx="10058400" cy="4023360"/>
          </a:xfrm>
          <a:prstGeom prst="rect">
            <a:avLst/>
          </a:prstGeom>
          <a:noFill/>
          <a:ln/>
        </p:spPr>
        <p:txBody>
          <a:bodyPr wrap="square" rtlCol="0" anchor="t"/>
          <a:lstStyle/>
          <a:p>
            <a:pPr algn="l" indent="0" marL="0">
              <a:lnSpc>
                <a:spcPts val="2800"/>
              </a:lnSpc>
              <a:buNone/>
            </a:pPr>
            <a:r>
              <a:rPr lang="en-US" sz="1800" dirty="0">
                <a:solidFill>
                  <a:srgbClr val="28211D"/>
                </a:solidFill>
              </a:rPr>
              <a:t>• PinjamGeng has successfully accomplished both core project objectives within the 12-week development timeframe, delivering a robust web application that solves real operational bottlenecks at Universiti Poly-Tech Malaysia.</a:t>
            </a:r>
            <a:pPr algn="l" indent="0" marL="0">
              <a:lnSpc>
                <a:spcPts val="2800"/>
              </a:lnSpc>
              <a:buNone/>
            </a:pPr>
            <a:endParaRPr lang="en-US" sz="1800" dirty="0"/>
          </a:p>
          <a:p>
            <a:pPr algn="l" indent="0" marL="0">
              <a:lnSpc>
                <a:spcPts val="2800"/>
              </a:lnSpc>
              <a:buNone/>
            </a:pPr>
            <a:endParaRPr lang="en-US" sz="1800" dirty="0"/>
          </a:p>
          <a:p>
            <a:pPr algn="l" indent="0" marL="0">
              <a:lnSpc>
                <a:spcPts val="2800"/>
              </a:lnSpc>
              <a:buNone/>
            </a:pPr>
            <a:r>
              <a:rPr lang="en-US" sz="1800" dirty="0">
                <a:solidFill>
                  <a:srgbClr val="28211D"/>
                </a:solidFill>
              </a:rPr>
              <a:t>• The platform completely eliminates double-booking conflicts through mathematical scheduling algorithms, slashes equipment reservation time by 85% via 1-click event package bundling, and restores institutional accountability through standardized return condition grading and maintenance ticketing.</a:t>
            </a:r>
            <a:endParaRPr lang="en-US" sz="1800" dirty="0"/>
          </a:p>
          <a:p>
            <a:pPr algn="l" indent="0" marL="0">
              <a:lnSpc>
                <a:spcPts val="2800"/>
              </a:lnSpc>
              <a:buNone/>
            </a:pPr>
            <a:endParaRPr lang="en-US" sz="1800" dirty="0"/>
          </a:p>
          <a:p>
            <a:pPr algn="l" indent="0" marL="0">
              <a:lnSpc>
                <a:spcPts val="2800"/>
              </a:lnSpc>
              <a:buNone/>
            </a:pPr>
            <a:endParaRPr lang="en-US" sz="1800" dirty="0"/>
          </a:p>
          <a:p>
            <a:pPr algn="l" indent="0" marL="0">
              <a:lnSpc>
                <a:spcPts val="2800"/>
              </a:lnSpc>
              <a:buNone/>
            </a:pPr>
            <a:r>
              <a:rPr lang="en-US" sz="1800" dirty="0">
                <a:solidFill>
                  <a:srgbClr val="28211D"/>
                </a:solidFill>
              </a:rPr>
              <a:t>• With a 100% test pass rate across unit and integration testing and an outstanding 90% positive satisfaction rating in formal UAT testing, PinjamGeng is fully validated and ready for official campus-wide adoption at UPTM.</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User\.gemini\antigravity\scratch\smart_event_equipment\documentation\images\brown_cover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Users\User\.gemini\antigravity\scratch\smart_event_equipment\documentation\images\uptm_fcom_logo.png">    </p:cNvPr>
          <p:cNvPicPr>
            <a:picLocks noChangeAspect="1"/>
          </p:cNvPicPr>
          <p:nvPr/>
        </p:nvPicPr>
        <p:blipFill>
          <a:blip r:embed="rId2"/>
          <a:stretch>
            <a:fillRect/>
          </a:stretch>
        </p:blipFill>
        <p:spPr>
          <a:xfrm>
            <a:off x="548640" y="457200"/>
            <a:ext cx="2651760" cy="685800"/>
          </a:xfrm>
          <a:prstGeom prst="rect">
            <a:avLst/>
          </a:prstGeom>
        </p:spPr>
      </p:pic>
      <p:sp>
        <p:nvSpPr>
          <p:cNvPr id="4" name="Text 0"/>
          <p:cNvSpPr/>
          <p:nvPr/>
        </p:nvSpPr>
        <p:spPr>
          <a:xfrm>
            <a:off x="914400" y="2011680"/>
            <a:ext cx="10360152" cy="1097280"/>
          </a:xfrm>
          <a:prstGeom prst="rect">
            <a:avLst/>
          </a:prstGeom>
          <a:noFill/>
          <a:ln/>
        </p:spPr>
        <p:txBody>
          <a:bodyPr wrap="square" rtlCol="0" anchor="ctr"/>
          <a:lstStyle/>
          <a:p>
            <a:pPr algn="ctr" indent="0" marL="0">
              <a:buNone/>
            </a:pPr>
            <a:r>
              <a:rPr lang="en-US" sz="6000" b="1" dirty="0">
                <a:solidFill>
                  <a:srgbClr val="FFFFFF"/>
                </a:solidFill>
                <a:latin typeface="Arial Black" pitchFamily="34" charset="0"/>
                <a:ea typeface="Arial Black" pitchFamily="34" charset="-122"/>
                <a:cs typeface="Arial Black" pitchFamily="34" charset="-120"/>
              </a:rPr>
              <a:t>THANK YOU</a:t>
            </a:r>
            <a:endParaRPr lang="en-US" sz="6000" dirty="0"/>
          </a:p>
        </p:txBody>
      </p:sp>
      <p:sp>
        <p:nvSpPr>
          <p:cNvPr id="5" name="Text 1"/>
          <p:cNvSpPr/>
          <p:nvPr/>
        </p:nvSpPr>
        <p:spPr>
          <a:xfrm>
            <a:off x="914400" y="3200400"/>
            <a:ext cx="10360152" cy="457200"/>
          </a:xfrm>
          <a:prstGeom prst="rect">
            <a:avLst/>
          </a:prstGeom>
          <a:noFill/>
          <a:ln/>
        </p:spPr>
        <p:txBody>
          <a:bodyPr wrap="square" rtlCol="0" anchor="ctr"/>
          <a:lstStyle/>
          <a:p>
            <a:pPr algn="ctr" indent="0" marL="0">
              <a:buNone/>
            </a:pPr>
            <a:r>
              <a:rPr lang="en-US" sz="2200" b="1" dirty="0">
                <a:solidFill>
                  <a:srgbClr val="F5EBE1"/>
                </a:solidFill>
                <a:latin typeface="Arial Black" pitchFamily="34" charset="0"/>
                <a:ea typeface="Arial Black" pitchFamily="34" charset="-122"/>
                <a:cs typeface="Arial Black" pitchFamily="34" charset="-120"/>
              </a:rPr>
              <a:t>QUESTION &amp; ANSWER SESSION</a:t>
            </a:r>
            <a:endParaRPr lang="en-US" sz="2200" dirty="0"/>
          </a:p>
        </p:txBody>
      </p:sp>
      <p:sp>
        <p:nvSpPr>
          <p:cNvPr id="6" name="Text 2"/>
          <p:cNvSpPr/>
          <p:nvPr/>
        </p:nvSpPr>
        <p:spPr>
          <a:xfrm>
            <a:off x="914400" y="3931920"/>
            <a:ext cx="10360152" cy="731520"/>
          </a:xfrm>
          <a:prstGeom prst="rect">
            <a:avLst/>
          </a:prstGeom>
          <a:noFill/>
          <a:ln/>
        </p:spPr>
        <p:txBody>
          <a:bodyPr wrap="square" rtlCol="0" anchor="ctr"/>
          <a:lstStyle/>
          <a:p>
            <a:pPr algn="ctr" indent="0" marL="0">
              <a:lnSpc>
                <a:spcPts val="2200"/>
              </a:lnSpc>
              <a:buNone/>
            </a:pPr>
            <a:r>
              <a:rPr lang="en-US" sz="1500" dirty="0">
                <a:solidFill>
                  <a:srgbClr val="FFFFFF"/>
                </a:solidFill>
                <a:latin typeface="Arial" pitchFamily="34" charset="0"/>
                <a:ea typeface="Arial" pitchFamily="34" charset="-122"/>
                <a:cs typeface="Arial" pitchFamily="34" charset="-120"/>
              </a:rPr>
              <a:t>PinjamGeng: Smart Event Equipment Booking and Inventory Management System</a:t>
            </a:r>
            <a:endParaRPr lang="en-US" sz="1500" dirty="0"/>
          </a:p>
          <a:p>
            <a:pPr algn="ctr" indent="0" marL="0">
              <a:lnSpc>
                <a:spcPts val="2200"/>
              </a:lnSpc>
              <a:buNone/>
            </a:pPr>
            <a:r>
              <a:rPr lang="en-US" sz="1500" dirty="0">
                <a:solidFill>
                  <a:srgbClr val="FFFFFF"/>
                </a:solidFill>
                <a:latin typeface="Arial" pitchFamily="34" charset="0"/>
                <a:ea typeface="Arial" pitchFamily="34" charset="-122"/>
                <a:cs typeface="Arial" pitchFamily="34" charset="-120"/>
              </a:rPr>
              <a:t>Faculty of Computing &amp; Multimedia (FCOM), UPTM</a:t>
            </a:r>
            <a:endParaRPr lang="en-US" sz="1500" dirty="0"/>
          </a:p>
        </p:txBody>
      </p:sp>
      <p:sp>
        <p:nvSpPr>
          <p:cNvPr id="7" name="Shape 3"/>
          <p:cNvSpPr/>
          <p:nvPr/>
        </p:nvSpPr>
        <p:spPr>
          <a:xfrm>
            <a:off x="1371600" y="5806440"/>
            <a:ext cx="9445752" cy="0"/>
          </a:xfrm>
          <a:prstGeom prst="line">
            <a:avLst/>
          </a:prstGeom>
          <a:noFill/>
          <a:ln w="19050">
            <a:solidFill>
              <a:srgbClr val="E8D6C5"/>
            </a:solidFill>
            <a:prstDash val="solid"/>
          </a:ln>
        </p:spPr>
      </p:sp>
      <p:sp>
        <p:nvSpPr>
          <p:cNvPr id="8" name="Text 4"/>
          <p:cNvSpPr/>
          <p:nvPr/>
        </p:nvSpPr>
        <p:spPr>
          <a:xfrm>
            <a:off x="1371600" y="5989320"/>
            <a:ext cx="3200400" cy="365760"/>
          </a:xfrm>
          <a:prstGeom prst="rect">
            <a:avLst/>
          </a:prstGeom>
          <a:noFill/>
          <a:ln/>
        </p:spPr>
        <p:txBody>
          <a:bodyPr wrap="square"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FYP3024</a:t>
            </a:r>
            <a:endParaRPr lang="en-US" sz="1600" dirty="0"/>
          </a:p>
        </p:txBody>
      </p:sp>
      <p:sp>
        <p:nvSpPr>
          <p:cNvPr id="9" name="Text 5"/>
          <p:cNvSpPr/>
          <p:nvPr/>
        </p:nvSpPr>
        <p:spPr>
          <a:xfrm>
            <a:off x="5029200" y="5989320"/>
            <a:ext cx="2130552" cy="365760"/>
          </a:xfrm>
          <a:prstGeom prst="rect">
            <a:avLst/>
          </a:prstGeom>
          <a:noFill/>
          <a:ln/>
        </p:spPr>
        <p:txBody>
          <a:bodyPr wrap="square" rtlCol="0" anchor="ctr"/>
          <a:lstStyle/>
          <a:p>
            <a:pPr algn="ctr" indent="0" marL="0">
              <a:buNone/>
            </a:pPr>
            <a:r>
              <a:rPr lang="en-US" sz="1600" dirty="0">
                <a:solidFill>
                  <a:srgbClr val="E8D6C5"/>
                </a:solidFill>
                <a:latin typeface="Arial" pitchFamily="34" charset="0"/>
                <a:ea typeface="Arial" pitchFamily="34" charset="-122"/>
                <a:cs typeface="Arial" pitchFamily="34" charset="-120"/>
              </a:rPr>
              <a:t>|</a:t>
            </a:r>
            <a:endParaRPr lang="en-US" sz="1600" dirty="0"/>
          </a:p>
        </p:txBody>
      </p:sp>
      <p:sp>
        <p:nvSpPr>
          <p:cNvPr id="10" name="Text 6"/>
          <p:cNvSpPr/>
          <p:nvPr/>
        </p:nvSpPr>
        <p:spPr>
          <a:xfrm>
            <a:off x="7616952" y="5989320"/>
            <a:ext cx="3200400" cy="365760"/>
          </a:xfrm>
          <a:prstGeom prst="rect">
            <a:avLst/>
          </a:prstGeom>
          <a:noFill/>
          <a:ln/>
        </p:spPr>
        <p:txBody>
          <a:bodyPr wrap="square" rtlCol="0" anchor="ctr"/>
          <a:lstStyle/>
          <a:p>
            <a:pPr algn="r" indent="0" marL="0">
              <a:buNone/>
            </a:pPr>
            <a:r>
              <a:rPr lang="en-US" sz="1600" b="1" dirty="0">
                <a:solidFill>
                  <a:srgbClr val="FFFFFF"/>
                </a:solidFill>
                <a:latin typeface="Arial" pitchFamily="34" charset="0"/>
                <a:ea typeface="Arial" pitchFamily="34" charset="-122"/>
                <a:cs typeface="Arial" pitchFamily="34" charset="-120"/>
              </a:rPr>
              <a:t>CC101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2026-10-06T02:41:40Z</dcterms:created>
  <dcterms:modified xsi:type="dcterms:W3CDTF">2026-10-06T02:41:40Z</dcterms:modified>
</cp:coreProperties>
</file>